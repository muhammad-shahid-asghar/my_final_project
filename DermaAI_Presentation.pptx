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AUC-ROC (%)</c:v>
                </c:pt>
              </c:strCache>
            </c:strRef>
          </c:tx>
          <c:spPr>
            <a:solidFill>
              <a:srgbClr val="1A56B0"/>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A56B0"/>
              </a:solidFill>
              <a:effectLst/>
            </c:spPr>
          </c:dPt>
          <c:dPt>
            <c:idx val="1"/>
            <c:invertIfNegative val="0"/>
            <c:bubble3D val="0"/>
            <c:spPr>
              <a:solidFill>
                <a:srgbClr val="0D8A6E"/>
              </a:solidFill>
              <a:effectLst/>
            </c:spPr>
          </c:dPt>
          <c:dPt>
            <c:idx val="2"/>
            <c:invertIfNegative val="0"/>
            <c:bubble3D val="0"/>
            <c:spPr>
              <a:solidFill>
                <a:srgbClr val="D97706"/>
              </a:solidFill>
              <a:effectLst/>
            </c:spPr>
          </c:dPt>
          <c:dPt>
            <c:idx val="3"/>
            <c:invertIfNegative val="0"/>
            <c:bubble3D val="0"/>
            <c:spPr>
              <a:solidFill>
                <a:srgbClr val="E85D26"/>
              </a:solidFill>
              <a:effectLst/>
            </c:spPr>
          </c:dPt>
          <c:dPt>
            <c:idx val="4"/>
            <c:invertIfNegative val="0"/>
            <c:bubble3D val="0"/>
            <c:spPr>
              <a:solidFill>
                <a:srgbClr val="334155"/>
              </a:solidFill>
              <a:effectLst/>
            </c:spPr>
          </c:dPt>
          <c:cat>
            <c:multiLvlStrRef>
              <c:f>Sheet1!$A$2:$A$6</c:f>
              <c:multiLvlStrCache>
                <c:ptCount val="5"/>
                <c:lvl>
                  <c:pt idx="0">
                    <c:v>EfficientNet-B0</c:v>
                  </c:pt>
                  <c:pt idx="1">
                    <c:v>EfficientNet-B4</c:v>
                  </c:pt>
                  <c:pt idx="2">
                    <c:v>ResNet-50</c:v>
                  </c:pt>
                  <c:pt idx="3">
                    <c:v>MobileNetV3-L
(Best)</c:v>
                  </c:pt>
                  <c:pt idx="4">
                    <c:v>Ensemble</c:v>
                  </c:pt>
                </c:lvl>
              </c:multiLvlStrCache>
            </c:multiLvlStrRef>
          </c:cat>
          <c:val>
            <c:numRef>
              <c:f>Sheet1!$B$2:$B$6</c:f>
              <c:numCache>
                <c:formatCode>General</c:formatCode>
                <c:ptCount val="5"/>
                <c:pt idx="0">
                  <c:v>97.05</c:v>
                </c:pt>
                <c:pt idx="1">
                  <c:v>95.65</c:v>
                </c:pt>
                <c:pt idx="2">
                  <c:v>97</c:v>
                </c:pt>
                <c:pt idx="3">
                  <c:v>97.57</c:v>
                </c:pt>
                <c:pt idx="4">
                  <c:v>97.6</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99"/>
          <c:min val="94"/>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0D1B3E"/>
          </a:solidFill>
          <a:ln w="12700">
            <a:solidFill>
              <a:srgbClr val="0D1B3E"/>
            </a:solidFill>
            <a:prstDash val="solid"/>
          </a:ln>
        </p:spPr>
      </p:sp>
      <p:sp>
        <p:nvSpPr>
          <p:cNvPr id="3" name="Shape 1"/>
          <p:cNvSpPr/>
          <p:nvPr/>
        </p:nvSpPr>
        <p:spPr>
          <a:xfrm>
            <a:off x="0" y="4663440"/>
            <a:ext cx="3840480" cy="480060"/>
          </a:xfrm>
          <a:prstGeom prst="rect">
            <a:avLst/>
          </a:prstGeom>
          <a:solidFill>
            <a:srgbClr val="1A56B0"/>
          </a:solidFill>
          <a:ln w="12700">
            <a:solidFill>
              <a:srgbClr val="1A56B0"/>
            </a:solidFill>
            <a:prstDash val="solid"/>
          </a:ln>
        </p:spPr>
      </p:sp>
      <p:sp>
        <p:nvSpPr>
          <p:cNvPr id="4" name="Text 2"/>
          <p:cNvSpPr/>
          <p:nvPr/>
        </p:nvSpPr>
        <p:spPr>
          <a:xfrm>
            <a:off x="182880" y="228600"/>
            <a:ext cx="3474720" cy="731520"/>
          </a:xfrm>
          <a:prstGeom prst="rect">
            <a:avLst/>
          </a:prstGeom>
          <a:noFill/>
          <a:ln/>
        </p:spPr>
        <p:txBody>
          <a:bodyPr wrap="square" rtlCol="0" anchor="ctr"/>
          <a:lstStyle/>
          <a:p>
            <a:pPr algn="ctr" indent="0" marL="0">
              <a:buNone/>
            </a:pPr>
            <a:r>
              <a:rPr lang="en-US" sz="1100" dirty="0">
                <a:solidFill>
                  <a:srgbClr val="B0C4DE"/>
                </a:solidFill>
                <a:latin typeface="Calibri" pitchFamily="34" charset="0"/>
                <a:ea typeface="Calibri" pitchFamily="34" charset="-122"/>
                <a:cs typeface="Calibri" pitchFamily="34" charset="-120"/>
              </a:rPr>
              <a:t>The Islamia University</a:t>
            </a:r>
            <a:endParaRPr lang="en-US" sz="1100" dirty="0"/>
          </a:p>
          <a:p>
            <a:pPr algn="ctr" indent="0" marL="0">
              <a:buNone/>
            </a:pPr>
            <a:r>
              <a:rPr lang="en-US" sz="1100" dirty="0">
                <a:solidFill>
                  <a:srgbClr val="B0C4DE"/>
                </a:solidFill>
                <a:latin typeface="Calibri" pitchFamily="34" charset="0"/>
                <a:ea typeface="Calibri" pitchFamily="34" charset="-122"/>
                <a:cs typeface="Calibri" pitchFamily="34" charset="-120"/>
              </a:rPr>
              <a:t>of Bahawalpur</a:t>
            </a:r>
            <a:endParaRPr lang="en-US" sz="1100" dirty="0"/>
          </a:p>
        </p:txBody>
      </p:sp>
      <p:sp>
        <p:nvSpPr>
          <p:cNvPr id="5" name="Text 3"/>
          <p:cNvSpPr/>
          <p:nvPr/>
        </p:nvSpPr>
        <p:spPr>
          <a:xfrm>
            <a:off x="182880" y="1051560"/>
            <a:ext cx="3474720" cy="68580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DERMA</a:t>
            </a:r>
            <a:endParaRPr lang="en-US" sz="4800" dirty="0"/>
          </a:p>
        </p:txBody>
      </p:sp>
      <p:sp>
        <p:nvSpPr>
          <p:cNvPr id="6" name="Text 4"/>
          <p:cNvSpPr/>
          <p:nvPr/>
        </p:nvSpPr>
        <p:spPr>
          <a:xfrm>
            <a:off x="182880" y="1737360"/>
            <a:ext cx="3474720" cy="685800"/>
          </a:xfrm>
          <a:prstGeom prst="rect">
            <a:avLst/>
          </a:prstGeom>
          <a:noFill/>
          <a:ln/>
        </p:spPr>
        <p:txBody>
          <a:bodyPr wrap="square" lIns="0" tIns="0" rIns="0" bIns="0" rtlCol="0" anchor="ctr"/>
          <a:lstStyle/>
          <a:p>
            <a:pPr algn="ctr" indent="0" marL="0">
              <a:buNone/>
            </a:pPr>
            <a:r>
              <a:rPr lang="en-US" sz="4800" b="1" dirty="0">
                <a:solidFill>
                  <a:srgbClr val="E85D26"/>
                </a:solidFill>
                <a:latin typeface="Calibri" pitchFamily="34" charset="0"/>
                <a:ea typeface="Calibri" pitchFamily="34" charset="-122"/>
                <a:cs typeface="Calibri" pitchFamily="34" charset="-120"/>
              </a:rPr>
              <a:t>AI</a:t>
            </a:r>
            <a:endParaRPr lang="en-US" sz="4800" dirty="0"/>
          </a:p>
        </p:txBody>
      </p:sp>
      <p:sp>
        <p:nvSpPr>
          <p:cNvPr id="7" name="Shape 5"/>
          <p:cNvSpPr/>
          <p:nvPr/>
        </p:nvSpPr>
        <p:spPr>
          <a:xfrm>
            <a:off x="365760" y="2487168"/>
            <a:ext cx="3108960" cy="27432"/>
          </a:xfrm>
          <a:prstGeom prst="rect">
            <a:avLst/>
          </a:prstGeom>
          <a:solidFill>
            <a:srgbClr val="1A56B0"/>
          </a:solidFill>
          <a:ln w="12700">
            <a:solidFill>
              <a:srgbClr val="1A56B0"/>
            </a:solidFill>
            <a:prstDash val="solid"/>
          </a:ln>
        </p:spPr>
      </p:sp>
      <p:sp>
        <p:nvSpPr>
          <p:cNvPr id="8" name="Text 6"/>
          <p:cNvSpPr/>
          <p:nvPr/>
        </p:nvSpPr>
        <p:spPr>
          <a:xfrm>
            <a:off x="182880" y="2578608"/>
            <a:ext cx="3474720" cy="320040"/>
          </a:xfrm>
          <a:prstGeom prst="rect">
            <a:avLst/>
          </a:prstGeom>
          <a:noFill/>
          <a:ln/>
        </p:spPr>
        <p:txBody>
          <a:bodyPr wrap="square" rtlCol="0" anchor="ctr"/>
          <a:lstStyle/>
          <a:p>
            <a:pPr algn="ctr" indent="0" marL="0">
              <a:buNone/>
            </a:pPr>
            <a:r>
              <a:rPr lang="en-US" sz="1000" dirty="0">
                <a:solidFill>
                  <a:srgbClr val="B0C4DE"/>
                </a:solidFill>
                <a:latin typeface="Calibri" pitchFamily="34" charset="0"/>
                <a:ea typeface="Calibri" pitchFamily="34" charset="-122"/>
                <a:cs typeface="Calibri" pitchFamily="34" charset="-120"/>
              </a:rPr>
              <a:t>Department of Data Science</a:t>
            </a:r>
            <a:endParaRPr lang="en-US" sz="1000" dirty="0"/>
          </a:p>
        </p:txBody>
      </p:sp>
      <p:sp>
        <p:nvSpPr>
          <p:cNvPr id="9" name="Text 7"/>
          <p:cNvSpPr/>
          <p:nvPr/>
        </p:nvSpPr>
        <p:spPr>
          <a:xfrm>
            <a:off x="182880" y="2926080"/>
            <a:ext cx="3474720" cy="256032"/>
          </a:xfrm>
          <a:prstGeom prst="rect">
            <a:avLst/>
          </a:prstGeom>
          <a:noFill/>
          <a:ln/>
        </p:spPr>
        <p:txBody>
          <a:bodyPr wrap="square" rtlCol="0" anchor="ctr"/>
          <a:lstStyle/>
          <a:p>
            <a:pPr algn="ctr" indent="0" marL="0">
              <a:buNone/>
            </a:pPr>
            <a:r>
              <a:rPr lang="en-US" sz="900" dirty="0">
                <a:solidFill>
                  <a:srgbClr val="7A9EC5"/>
                </a:solidFill>
                <a:latin typeface="Calibri" pitchFamily="34" charset="0"/>
                <a:ea typeface="Calibri" pitchFamily="34" charset="-122"/>
                <a:cs typeface="Calibri" pitchFamily="34" charset="-120"/>
              </a:rPr>
              <a:t>BS Data Science — FYP 2026</a:t>
            </a:r>
            <a:endParaRPr lang="en-US" sz="900" dirty="0"/>
          </a:p>
        </p:txBody>
      </p:sp>
      <p:sp>
        <p:nvSpPr>
          <p:cNvPr id="10" name="Shape 8"/>
          <p:cNvSpPr/>
          <p:nvPr/>
        </p:nvSpPr>
        <p:spPr>
          <a:xfrm>
            <a:off x="274320" y="3337560"/>
            <a:ext cx="3291840" cy="914400"/>
          </a:xfrm>
          <a:prstGeom prst="roundRect">
            <a:avLst>
              <a:gd name="adj" fmla="val 7000"/>
            </a:avLst>
          </a:prstGeom>
          <a:solidFill>
            <a:srgbClr val="162A50"/>
          </a:solidFill>
          <a:ln w="12700">
            <a:solidFill>
              <a:srgbClr val="1A56B0"/>
            </a:solidFill>
            <a:prstDash val="solid"/>
          </a:ln>
        </p:spPr>
      </p:sp>
      <p:sp>
        <p:nvSpPr>
          <p:cNvPr id="11" name="Text 9"/>
          <p:cNvSpPr/>
          <p:nvPr/>
        </p:nvSpPr>
        <p:spPr>
          <a:xfrm>
            <a:off x="274320" y="3401568"/>
            <a:ext cx="3291840" cy="256032"/>
          </a:xfrm>
          <a:prstGeom prst="rect">
            <a:avLst/>
          </a:prstGeom>
          <a:noFill/>
          <a:ln/>
        </p:spPr>
        <p:txBody>
          <a:bodyPr wrap="square" rtlCol="0" anchor="ctr"/>
          <a:lstStyle/>
          <a:p>
            <a:pPr algn="ctr" indent="0" marL="0">
              <a:buNone/>
            </a:pPr>
            <a:r>
              <a:rPr lang="en-US" sz="900" dirty="0">
                <a:solidFill>
                  <a:srgbClr val="7A9EC5"/>
                </a:solidFill>
                <a:latin typeface="Calibri" pitchFamily="34" charset="0"/>
                <a:ea typeface="Calibri" pitchFamily="34" charset="-122"/>
                <a:cs typeface="Calibri" pitchFamily="34" charset="-120"/>
              </a:rPr>
              <a:t>Presented By</a:t>
            </a:r>
            <a:endParaRPr lang="en-US" sz="900" dirty="0"/>
          </a:p>
        </p:txBody>
      </p:sp>
      <p:sp>
        <p:nvSpPr>
          <p:cNvPr id="12" name="Text 10"/>
          <p:cNvSpPr/>
          <p:nvPr/>
        </p:nvSpPr>
        <p:spPr>
          <a:xfrm>
            <a:off x="274320" y="3639312"/>
            <a:ext cx="32918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Muhammad Shahid Asghar</a:t>
            </a:r>
            <a:endParaRPr lang="en-US" sz="1100" dirty="0"/>
          </a:p>
        </p:txBody>
      </p:sp>
      <p:sp>
        <p:nvSpPr>
          <p:cNvPr id="13" name="Text 11"/>
          <p:cNvSpPr/>
          <p:nvPr/>
        </p:nvSpPr>
        <p:spPr>
          <a:xfrm>
            <a:off x="274320" y="3931920"/>
            <a:ext cx="3291840" cy="256032"/>
          </a:xfrm>
          <a:prstGeom prst="rect">
            <a:avLst/>
          </a:prstGeom>
          <a:noFill/>
          <a:ln/>
        </p:spPr>
        <p:txBody>
          <a:bodyPr wrap="square" rtlCol="0" anchor="ctr"/>
          <a:lstStyle/>
          <a:p>
            <a:pPr algn="ctr" indent="0" marL="0">
              <a:buNone/>
            </a:pPr>
            <a:r>
              <a:rPr lang="en-US" sz="850" dirty="0">
                <a:solidFill>
                  <a:srgbClr val="7A9EC5"/>
                </a:solidFill>
                <a:latin typeface="Calibri" pitchFamily="34" charset="0"/>
                <a:ea typeface="Calibri" pitchFamily="34" charset="-122"/>
                <a:cs typeface="Calibri" pitchFamily="34" charset="-120"/>
              </a:rPr>
              <a:t>F22BDATS1M02033  |  Supervisor: Dr. Akmal Khan</a:t>
            </a:r>
            <a:endParaRPr lang="en-US" sz="850" dirty="0"/>
          </a:p>
        </p:txBody>
      </p:sp>
      <p:sp>
        <p:nvSpPr>
          <p:cNvPr id="14" name="Text 12"/>
          <p:cNvSpPr/>
          <p:nvPr/>
        </p:nvSpPr>
        <p:spPr>
          <a:xfrm>
            <a:off x="4114800" y="457200"/>
            <a:ext cx="4754880" cy="914400"/>
          </a:xfrm>
          <a:prstGeom prst="rect">
            <a:avLst/>
          </a:prstGeom>
          <a:noFill/>
          <a:ln/>
        </p:spPr>
        <p:txBody>
          <a:bodyPr wrap="square" rtlCol="0" anchor="ctr"/>
          <a:lstStyle/>
          <a:p>
            <a:pPr algn="l" indent="0" marL="0">
              <a:buNone/>
            </a:pPr>
            <a:r>
              <a:rPr lang="en-US" sz="2000" b="1" dirty="0">
                <a:solidFill>
                  <a:srgbClr val="0D1B3E"/>
                </a:solidFill>
                <a:latin typeface="Calibri" pitchFamily="34" charset="0"/>
                <a:ea typeface="Calibri" pitchFamily="34" charset="-122"/>
                <a:cs typeface="Calibri" pitchFamily="34" charset="-120"/>
              </a:rPr>
              <a:t>AI-POWERED CLINICAL</a:t>
            </a:r>
            <a:endParaRPr lang="en-US" sz="2000" dirty="0"/>
          </a:p>
          <a:p>
            <a:pPr algn="l" indent="0" marL="0">
              <a:buNone/>
            </a:pPr>
            <a:r>
              <a:rPr lang="en-US" sz="2000" b="1" dirty="0">
                <a:solidFill>
                  <a:srgbClr val="0D1B3E"/>
                </a:solidFill>
                <a:latin typeface="Calibri" pitchFamily="34" charset="0"/>
                <a:ea typeface="Calibri" pitchFamily="34" charset="-122"/>
                <a:cs typeface="Calibri" pitchFamily="34" charset="-120"/>
              </a:rPr>
              <a:t>DECISION SUPPORT SYSTEM</a:t>
            </a:r>
            <a:endParaRPr lang="en-US" sz="2000" dirty="0"/>
          </a:p>
        </p:txBody>
      </p:sp>
      <p:sp>
        <p:nvSpPr>
          <p:cNvPr id="15" name="Text 13"/>
          <p:cNvSpPr/>
          <p:nvPr/>
        </p:nvSpPr>
        <p:spPr>
          <a:xfrm>
            <a:off x="4114800" y="1371600"/>
            <a:ext cx="4754880" cy="365760"/>
          </a:xfrm>
          <a:prstGeom prst="rect">
            <a:avLst/>
          </a:prstGeom>
          <a:noFill/>
          <a:ln/>
        </p:spPr>
        <p:txBody>
          <a:bodyPr wrap="square" rtlCol="0" anchor="ctr"/>
          <a:lstStyle/>
          <a:p>
            <a:pPr algn="l" indent="0" marL="0">
              <a:buNone/>
            </a:pPr>
            <a:r>
              <a:rPr lang="en-US" sz="1400" dirty="0">
                <a:solidFill>
                  <a:srgbClr val="1A56B0"/>
                </a:solidFill>
                <a:latin typeface="Calibri" pitchFamily="34" charset="0"/>
                <a:ea typeface="Calibri" pitchFamily="34" charset="-122"/>
                <a:cs typeface="Calibri" pitchFamily="34" charset="-120"/>
              </a:rPr>
              <a:t>For Multi-Class Skin Disease Detection</a:t>
            </a:r>
            <a:endParaRPr lang="en-US" sz="1400" dirty="0"/>
          </a:p>
        </p:txBody>
      </p:sp>
      <p:sp>
        <p:nvSpPr>
          <p:cNvPr id="16" name="Shape 14"/>
          <p:cNvSpPr/>
          <p:nvPr/>
        </p:nvSpPr>
        <p:spPr>
          <a:xfrm>
            <a:off x="4114800" y="1828800"/>
            <a:ext cx="4754880" cy="27432"/>
          </a:xfrm>
          <a:prstGeom prst="rect">
            <a:avLst/>
          </a:prstGeom>
          <a:solidFill>
            <a:srgbClr val="D6E4F7"/>
          </a:solidFill>
          <a:ln w="12700">
            <a:solidFill>
              <a:srgbClr val="D6E4F7"/>
            </a:solidFill>
            <a:prstDash val="solid"/>
          </a:ln>
        </p:spPr>
      </p:sp>
      <p:sp>
        <p:nvSpPr>
          <p:cNvPr id="17" name="Shape 15"/>
          <p:cNvSpPr/>
          <p:nvPr/>
        </p:nvSpPr>
        <p:spPr>
          <a:xfrm>
            <a:off x="4114800" y="1993392"/>
            <a:ext cx="4754880" cy="530352"/>
          </a:xfrm>
          <a:prstGeom prst="roundRect">
            <a:avLst>
              <a:gd name="adj" fmla="val 10345"/>
            </a:avLst>
          </a:prstGeom>
          <a:solidFill>
            <a:srgbClr val="F1F5F9"/>
          </a:solidFill>
          <a:ln w="12700">
            <a:solidFill>
              <a:srgbClr val="D6E4F7"/>
            </a:solidFill>
            <a:prstDash val="solid"/>
          </a:ln>
        </p:spPr>
      </p:sp>
      <p:pic>
        <p:nvPicPr>
          <p:cNvPr id="18" name="Image 0" descr="preencoded.png">    </p:cNvPr>
          <p:cNvPicPr>
            <a:picLocks noChangeAspect="1"/>
          </p:cNvPicPr>
          <p:nvPr/>
        </p:nvPicPr>
        <p:blipFill>
          <a:blip r:embed="rId1"/>
          <a:stretch>
            <a:fillRect/>
          </a:stretch>
        </p:blipFill>
        <p:spPr>
          <a:xfrm>
            <a:off x="4251960" y="2084832"/>
            <a:ext cx="320040" cy="320040"/>
          </a:xfrm>
          <a:prstGeom prst="rect">
            <a:avLst/>
          </a:prstGeom>
        </p:spPr>
      </p:pic>
      <p:sp>
        <p:nvSpPr>
          <p:cNvPr id="19" name="Text 16"/>
          <p:cNvSpPr/>
          <p:nvPr/>
        </p:nvSpPr>
        <p:spPr>
          <a:xfrm>
            <a:off x="4663440" y="2084832"/>
            <a:ext cx="4114800" cy="329184"/>
          </a:xfrm>
          <a:prstGeom prst="rect">
            <a:avLst/>
          </a:prstGeom>
          <a:noFill/>
          <a:ln/>
        </p:spPr>
        <p:txBody>
          <a:bodyPr wrap="square" lIns="0" tIns="0" rIns="0" bIns="0" rtlCol="0" anchor="ctr"/>
          <a:lstStyle/>
          <a:p>
            <a:pPr algn="l" indent="0" marL="0">
              <a:buNone/>
            </a:pPr>
            <a:r>
              <a:rPr lang="en-US" sz="1050" dirty="0">
                <a:solidFill>
                  <a:srgbClr val="334155"/>
                </a:solidFill>
                <a:latin typeface="Calibri" pitchFamily="34" charset="0"/>
                <a:ea typeface="Calibri" pitchFamily="34" charset="-122"/>
                <a:cs typeface="Calibri" pitchFamily="34" charset="-120"/>
              </a:rPr>
              <a:t>Transfer Learning with 4 Deep Learning Models</a:t>
            </a:r>
            <a:endParaRPr lang="en-US" sz="1050" dirty="0"/>
          </a:p>
        </p:txBody>
      </p:sp>
      <p:sp>
        <p:nvSpPr>
          <p:cNvPr id="20" name="Shape 17"/>
          <p:cNvSpPr/>
          <p:nvPr/>
        </p:nvSpPr>
        <p:spPr>
          <a:xfrm>
            <a:off x="4114800" y="2633472"/>
            <a:ext cx="4754880" cy="530352"/>
          </a:xfrm>
          <a:prstGeom prst="roundRect">
            <a:avLst>
              <a:gd name="adj" fmla="val 10345"/>
            </a:avLst>
          </a:prstGeom>
          <a:solidFill>
            <a:srgbClr val="F1F5F9"/>
          </a:solidFill>
          <a:ln w="12700">
            <a:solidFill>
              <a:srgbClr val="D6E4F7"/>
            </a:solidFill>
            <a:prstDash val="solid"/>
          </a:ln>
        </p:spPr>
      </p:sp>
      <p:pic>
        <p:nvPicPr>
          <p:cNvPr id="21" name="Image 1" descr="preencoded.png">    </p:cNvPr>
          <p:cNvPicPr>
            <a:picLocks noChangeAspect="1"/>
          </p:cNvPicPr>
          <p:nvPr/>
        </p:nvPicPr>
        <p:blipFill>
          <a:blip r:embed="rId2"/>
          <a:stretch>
            <a:fillRect/>
          </a:stretch>
        </p:blipFill>
        <p:spPr>
          <a:xfrm>
            <a:off x="4251960" y="2724912"/>
            <a:ext cx="320040" cy="320040"/>
          </a:xfrm>
          <a:prstGeom prst="rect">
            <a:avLst/>
          </a:prstGeom>
        </p:spPr>
      </p:pic>
      <p:sp>
        <p:nvSpPr>
          <p:cNvPr id="22" name="Text 18"/>
          <p:cNvSpPr/>
          <p:nvPr/>
        </p:nvSpPr>
        <p:spPr>
          <a:xfrm>
            <a:off x="4663440" y="2724912"/>
            <a:ext cx="4114800" cy="329184"/>
          </a:xfrm>
          <a:prstGeom prst="rect">
            <a:avLst/>
          </a:prstGeom>
          <a:noFill/>
          <a:ln/>
        </p:spPr>
        <p:txBody>
          <a:bodyPr wrap="square" lIns="0" tIns="0" rIns="0" bIns="0" rtlCol="0" anchor="ctr"/>
          <a:lstStyle/>
          <a:p>
            <a:pPr algn="l" indent="0" marL="0">
              <a:buNone/>
            </a:pPr>
            <a:r>
              <a:rPr lang="en-US" sz="1050" dirty="0">
                <a:solidFill>
                  <a:srgbClr val="334155"/>
                </a:solidFill>
                <a:latin typeface="Calibri" pitchFamily="34" charset="0"/>
                <a:ea typeface="Calibri" pitchFamily="34" charset="-122"/>
                <a:cs typeface="Calibri" pitchFamily="34" charset="-120"/>
              </a:rPr>
              <a:t>25,312 ISIC Dermoscopic Images · 11 Disease Classes</a:t>
            </a:r>
            <a:endParaRPr lang="en-US" sz="1050" dirty="0"/>
          </a:p>
        </p:txBody>
      </p:sp>
      <p:sp>
        <p:nvSpPr>
          <p:cNvPr id="23" name="Shape 19"/>
          <p:cNvSpPr/>
          <p:nvPr/>
        </p:nvSpPr>
        <p:spPr>
          <a:xfrm>
            <a:off x="4114800" y="3273552"/>
            <a:ext cx="4754880" cy="530352"/>
          </a:xfrm>
          <a:prstGeom prst="roundRect">
            <a:avLst>
              <a:gd name="adj" fmla="val 10345"/>
            </a:avLst>
          </a:prstGeom>
          <a:solidFill>
            <a:srgbClr val="F1F5F9"/>
          </a:solidFill>
          <a:ln w="12700">
            <a:solidFill>
              <a:srgbClr val="D6E4F7"/>
            </a:solidFill>
            <a:prstDash val="solid"/>
          </a:ln>
        </p:spPr>
      </p:sp>
      <p:pic>
        <p:nvPicPr>
          <p:cNvPr id="24" name="Image 2" descr="preencoded.png">    </p:cNvPr>
          <p:cNvPicPr>
            <a:picLocks noChangeAspect="1"/>
          </p:cNvPicPr>
          <p:nvPr/>
        </p:nvPicPr>
        <p:blipFill>
          <a:blip r:embed="rId3"/>
          <a:stretch>
            <a:fillRect/>
          </a:stretch>
        </p:blipFill>
        <p:spPr>
          <a:xfrm>
            <a:off x="4251960" y="3364992"/>
            <a:ext cx="320040" cy="320040"/>
          </a:xfrm>
          <a:prstGeom prst="rect">
            <a:avLst/>
          </a:prstGeom>
        </p:spPr>
      </p:pic>
      <p:sp>
        <p:nvSpPr>
          <p:cNvPr id="25" name="Text 20"/>
          <p:cNvSpPr/>
          <p:nvPr/>
        </p:nvSpPr>
        <p:spPr>
          <a:xfrm>
            <a:off x="4663440" y="3364992"/>
            <a:ext cx="4114800" cy="329184"/>
          </a:xfrm>
          <a:prstGeom prst="rect">
            <a:avLst/>
          </a:prstGeom>
          <a:noFill/>
          <a:ln/>
        </p:spPr>
        <p:txBody>
          <a:bodyPr wrap="square" lIns="0" tIns="0" rIns="0" bIns="0" rtlCol="0" anchor="ctr"/>
          <a:lstStyle/>
          <a:p>
            <a:pPr algn="l" indent="0" marL="0">
              <a:buNone/>
            </a:pPr>
            <a:r>
              <a:rPr lang="en-US" sz="1050" dirty="0">
                <a:solidFill>
                  <a:srgbClr val="334155"/>
                </a:solidFill>
                <a:latin typeface="Calibri" pitchFamily="34" charset="0"/>
                <a:ea typeface="Calibri" pitchFamily="34" charset="-122"/>
                <a:cs typeface="Calibri" pitchFamily="34" charset="-120"/>
              </a:rPr>
              <a:t>97.57% Best AUC-ROC · 84.35% Best Accuracy</a:t>
            </a:r>
            <a:endParaRPr lang="en-US" sz="1050" dirty="0"/>
          </a:p>
        </p:txBody>
      </p:sp>
      <p:sp>
        <p:nvSpPr>
          <p:cNvPr id="26" name="Shape 21"/>
          <p:cNvSpPr/>
          <p:nvPr/>
        </p:nvSpPr>
        <p:spPr>
          <a:xfrm>
            <a:off x="4114800" y="3913632"/>
            <a:ext cx="4754880" cy="530352"/>
          </a:xfrm>
          <a:prstGeom prst="roundRect">
            <a:avLst>
              <a:gd name="adj" fmla="val 10345"/>
            </a:avLst>
          </a:prstGeom>
          <a:solidFill>
            <a:srgbClr val="F1F5F9"/>
          </a:solidFill>
          <a:ln w="12700">
            <a:solidFill>
              <a:srgbClr val="D6E4F7"/>
            </a:solidFill>
            <a:prstDash val="solid"/>
          </a:ln>
        </p:spPr>
      </p:sp>
      <p:pic>
        <p:nvPicPr>
          <p:cNvPr id="27" name="Image 3" descr="preencoded.png">    </p:cNvPr>
          <p:cNvPicPr>
            <a:picLocks noChangeAspect="1"/>
          </p:cNvPicPr>
          <p:nvPr/>
        </p:nvPicPr>
        <p:blipFill>
          <a:blip r:embed="rId4"/>
          <a:stretch>
            <a:fillRect/>
          </a:stretch>
        </p:blipFill>
        <p:spPr>
          <a:xfrm>
            <a:off x="4251960" y="4005072"/>
            <a:ext cx="320040" cy="320040"/>
          </a:xfrm>
          <a:prstGeom prst="rect">
            <a:avLst/>
          </a:prstGeom>
        </p:spPr>
      </p:pic>
      <p:sp>
        <p:nvSpPr>
          <p:cNvPr id="28" name="Text 22"/>
          <p:cNvSpPr/>
          <p:nvPr/>
        </p:nvSpPr>
        <p:spPr>
          <a:xfrm>
            <a:off x="4663440" y="4005072"/>
            <a:ext cx="4114800" cy="329184"/>
          </a:xfrm>
          <a:prstGeom prst="rect">
            <a:avLst/>
          </a:prstGeom>
          <a:noFill/>
          <a:ln/>
        </p:spPr>
        <p:txBody>
          <a:bodyPr wrap="square" lIns="0" tIns="0" rIns="0" bIns="0" rtlCol="0" anchor="ctr"/>
          <a:lstStyle/>
          <a:p>
            <a:pPr algn="l" indent="0" marL="0">
              <a:buNone/>
            </a:pPr>
            <a:r>
              <a:rPr lang="en-US" sz="1050" dirty="0">
                <a:solidFill>
                  <a:srgbClr val="334155"/>
                </a:solidFill>
                <a:latin typeface="Calibri" pitchFamily="34" charset="0"/>
                <a:ea typeface="Calibri" pitchFamily="34" charset="-122"/>
                <a:cs typeface="Calibri" pitchFamily="34" charset="-120"/>
              </a:rPr>
              <a:t>FastAPI Backend + Web Application + AI Chat Assistant</a:t>
            </a:r>
            <a:endParaRPr lang="en-US" sz="1050" dirty="0"/>
          </a:p>
        </p:txBody>
      </p:sp>
      <p:sp>
        <p:nvSpPr>
          <p:cNvPr id="29" name="Text 23"/>
          <p:cNvSpPr/>
          <p:nvPr/>
        </p:nvSpPr>
        <p:spPr>
          <a:xfrm>
            <a:off x="4114800" y="4617720"/>
            <a:ext cx="4754880" cy="347472"/>
          </a:xfrm>
          <a:prstGeom prst="rect">
            <a:avLst/>
          </a:prstGeom>
          <a:noFill/>
          <a:ln/>
        </p:spPr>
        <p:txBody>
          <a:bodyPr wrap="square" rtlCol="0" anchor="ctr"/>
          <a:lstStyle/>
          <a:p>
            <a:pPr algn="l" indent="0" marL="0">
              <a:buNone/>
            </a:pPr>
            <a:r>
              <a:rPr lang="en-US" sz="900" i="1" dirty="0">
                <a:solidFill>
                  <a:srgbClr val="64748B"/>
                </a:solidFill>
                <a:latin typeface="Calibri" pitchFamily="34" charset="0"/>
                <a:ea typeface="Calibri" pitchFamily="34" charset="-122"/>
                <a:cs typeface="Calibri" pitchFamily="34" charset="-120"/>
              </a:rPr>
              <a:t>Using Transfer Learning, Ensemble Learning &amp; Real-Time Web Integration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3E"/>
          </a:solidFill>
          <a:ln w="12700">
            <a:solidFill>
              <a:srgbClr val="0D1B3E"/>
            </a:solidFill>
            <a:prstDash val="solid"/>
          </a:ln>
        </p:spPr>
      </p:sp>
      <p:sp>
        <p:nvSpPr>
          <p:cNvPr id="3" name="Text 1"/>
          <p:cNvSpPr/>
          <p:nvPr/>
        </p:nvSpPr>
        <p:spPr>
          <a:xfrm>
            <a:off x="274320" y="45720"/>
            <a:ext cx="8595360"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Problem Statement &amp; Objectives</a:t>
            </a:r>
            <a:endParaRPr lang="en-US" sz="2200" dirty="0"/>
          </a:p>
        </p:txBody>
      </p:sp>
      <p:sp>
        <p:nvSpPr>
          <p:cNvPr id="4" name="Text 2"/>
          <p:cNvSpPr/>
          <p:nvPr/>
        </p:nvSpPr>
        <p:spPr>
          <a:xfrm>
            <a:off x="274320" y="548640"/>
            <a:ext cx="8595360" cy="274320"/>
          </a:xfrm>
          <a:prstGeom prst="rect">
            <a:avLst/>
          </a:prstGeom>
          <a:noFill/>
          <a:ln/>
        </p:spPr>
        <p:txBody>
          <a:bodyPr wrap="square" lIns="0" tIns="0" rIns="0" bIns="0" rtlCol="0" anchor="ctr"/>
          <a:lstStyle/>
          <a:p>
            <a:pPr algn="l" indent="0" marL="0">
              <a:buNone/>
            </a:pPr>
            <a:r>
              <a:rPr lang="en-US" sz="1100" dirty="0">
                <a:solidFill>
                  <a:srgbClr val="B0C4DE"/>
                </a:solidFill>
                <a:latin typeface="Calibri" pitchFamily="34" charset="0"/>
                <a:ea typeface="Calibri" pitchFamily="34" charset="-122"/>
                <a:cs typeface="Calibri" pitchFamily="34" charset="-120"/>
              </a:rPr>
              <a:t>The Clinical Need for AI-Assisted Dermatology</a:t>
            </a:r>
            <a:endParaRPr lang="en-US" sz="1100" dirty="0"/>
          </a:p>
        </p:txBody>
      </p:sp>
      <p:sp>
        <p:nvSpPr>
          <p:cNvPr id="5" name="Shape 3"/>
          <p:cNvSpPr/>
          <p:nvPr/>
        </p:nvSpPr>
        <p:spPr>
          <a:xfrm>
            <a:off x="0" y="868680"/>
            <a:ext cx="9144000" cy="36576"/>
          </a:xfrm>
          <a:prstGeom prst="rect">
            <a:avLst/>
          </a:prstGeom>
          <a:solidFill>
            <a:srgbClr val="1A56B0"/>
          </a:solidFill>
          <a:ln w="12700">
            <a:solidFill>
              <a:srgbClr val="1A56B0"/>
            </a:solidFill>
            <a:prstDash val="solid"/>
          </a:ln>
        </p:spPr>
      </p:sp>
      <p:sp>
        <p:nvSpPr>
          <p:cNvPr id="6" name="Shape 4"/>
          <p:cNvSpPr/>
          <p:nvPr/>
        </p:nvSpPr>
        <p:spPr>
          <a:xfrm>
            <a:off x="228600" y="1005840"/>
            <a:ext cx="4206240" cy="3749040"/>
          </a:xfrm>
          <a:prstGeom prst="roundRect">
            <a:avLst>
              <a:gd name="adj" fmla="val 2439"/>
            </a:avLst>
          </a:prstGeom>
          <a:solidFill>
            <a:srgbClr val="FFF5F0"/>
          </a:solidFill>
          <a:ln w="19050">
            <a:solidFill>
              <a:srgbClr val="FFCCAA"/>
            </a:solidFill>
            <a:prstDash val="solid"/>
          </a:ln>
        </p:spPr>
      </p:sp>
      <p:sp>
        <p:nvSpPr>
          <p:cNvPr id="7" name="Text 5"/>
          <p:cNvSpPr/>
          <p:nvPr/>
        </p:nvSpPr>
        <p:spPr>
          <a:xfrm>
            <a:off x="365760" y="1078992"/>
            <a:ext cx="3931920" cy="347472"/>
          </a:xfrm>
          <a:prstGeom prst="rect">
            <a:avLst/>
          </a:prstGeom>
          <a:noFill/>
          <a:ln/>
        </p:spPr>
        <p:txBody>
          <a:bodyPr wrap="square" lIns="0" tIns="0" rIns="0" bIns="0" rtlCol="0" anchor="ctr"/>
          <a:lstStyle/>
          <a:p>
            <a:pPr algn="l" indent="0" marL="0">
              <a:buNone/>
            </a:pPr>
            <a:r>
              <a:rPr lang="en-US" sz="1200" b="1" dirty="0">
                <a:solidFill>
                  <a:srgbClr val="E85D26"/>
                </a:solidFill>
                <a:latin typeface="Calibri" pitchFamily="34" charset="0"/>
                <a:ea typeface="Calibri" pitchFamily="34" charset="-122"/>
                <a:cs typeface="Calibri" pitchFamily="34" charset="-120"/>
              </a:rPr>
              <a:t>⚠  PROBLEM STATEMENT</a:t>
            </a:r>
            <a:endParaRPr lang="en-US" sz="1200" dirty="0"/>
          </a:p>
        </p:txBody>
      </p:sp>
      <p:pic>
        <p:nvPicPr>
          <p:cNvPr id="8" name="Image 0" descr="preencoded.png">    </p:cNvPr>
          <p:cNvPicPr>
            <a:picLocks noChangeAspect="1"/>
          </p:cNvPicPr>
          <p:nvPr/>
        </p:nvPicPr>
        <p:blipFill>
          <a:blip r:embed="rId1"/>
          <a:stretch>
            <a:fillRect/>
          </a:stretch>
        </p:blipFill>
        <p:spPr>
          <a:xfrm>
            <a:off x="384048" y="1536192"/>
            <a:ext cx="228600" cy="228600"/>
          </a:xfrm>
          <a:prstGeom prst="rect">
            <a:avLst/>
          </a:prstGeom>
        </p:spPr>
      </p:pic>
      <p:sp>
        <p:nvSpPr>
          <p:cNvPr id="9" name="Text 6"/>
          <p:cNvSpPr/>
          <p:nvPr/>
        </p:nvSpPr>
        <p:spPr>
          <a:xfrm>
            <a:off x="685800" y="1508760"/>
            <a:ext cx="3611880" cy="320040"/>
          </a:xfrm>
          <a:prstGeom prst="rect">
            <a:avLst/>
          </a:prstGeom>
          <a:noFill/>
          <a:ln/>
        </p:spPr>
        <p:txBody>
          <a:bodyPr wrap="square" lIns="0" tIns="0" rIns="0" bIns="0" rtlCol="0" anchor="ctr"/>
          <a:lstStyle/>
          <a:p>
            <a:pPr algn="l" indent="0" marL="0">
              <a:buNone/>
            </a:pPr>
            <a:r>
              <a:rPr lang="en-US" sz="1000" dirty="0">
                <a:solidFill>
                  <a:srgbClr val="334155"/>
                </a:solidFill>
                <a:latin typeface="Calibri" pitchFamily="34" charset="0"/>
                <a:ea typeface="Calibri" pitchFamily="34" charset="-122"/>
                <a:cs typeface="Calibri" pitchFamily="34" charset="-120"/>
              </a:rPr>
              <a:t>Skin diseases affect 900M+ people worldwide</a:t>
            </a:r>
            <a:endParaRPr lang="en-US" sz="1000" dirty="0"/>
          </a:p>
        </p:txBody>
      </p:sp>
      <p:pic>
        <p:nvPicPr>
          <p:cNvPr id="10" name="Image 1" descr="preencoded.png">    </p:cNvPr>
          <p:cNvPicPr>
            <a:picLocks noChangeAspect="1"/>
          </p:cNvPicPr>
          <p:nvPr/>
        </p:nvPicPr>
        <p:blipFill>
          <a:blip r:embed="rId2"/>
          <a:stretch>
            <a:fillRect/>
          </a:stretch>
        </p:blipFill>
        <p:spPr>
          <a:xfrm>
            <a:off x="384048" y="2048256"/>
            <a:ext cx="228600" cy="228600"/>
          </a:xfrm>
          <a:prstGeom prst="rect">
            <a:avLst/>
          </a:prstGeom>
        </p:spPr>
      </p:pic>
      <p:sp>
        <p:nvSpPr>
          <p:cNvPr id="11" name="Text 7"/>
          <p:cNvSpPr/>
          <p:nvPr/>
        </p:nvSpPr>
        <p:spPr>
          <a:xfrm>
            <a:off x="685800" y="2020824"/>
            <a:ext cx="3611880" cy="320040"/>
          </a:xfrm>
          <a:prstGeom prst="rect">
            <a:avLst/>
          </a:prstGeom>
          <a:noFill/>
          <a:ln/>
        </p:spPr>
        <p:txBody>
          <a:bodyPr wrap="square" lIns="0" tIns="0" rIns="0" bIns="0" rtlCol="0" anchor="ctr"/>
          <a:lstStyle/>
          <a:p>
            <a:pPr algn="l" indent="0" marL="0">
              <a:buNone/>
            </a:pPr>
            <a:r>
              <a:rPr lang="en-US" sz="1000" dirty="0">
                <a:solidFill>
                  <a:srgbClr val="334155"/>
                </a:solidFill>
                <a:latin typeface="Calibri" pitchFamily="34" charset="0"/>
                <a:ea typeface="Calibri" pitchFamily="34" charset="-122"/>
                <a:cs typeface="Calibri" pitchFamily="34" charset="-120"/>
              </a:rPr>
              <a:t>Pakistan has &lt;500 dermatologists for 220M people</a:t>
            </a:r>
            <a:endParaRPr lang="en-US" sz="1000" dirty="0"/>
          </a:p>
        </p:txBody>
      </p:sp>
      <p:pic>
        <p:nvPicPr>
          <p:cNvPr id="12" name="Image 2" descr="preencoded.png">    </p:cNvPr>
          <p:cNvPicPr>
            <a:picLocks noChangeAspect="1"/>
          </p:cNvPicPr>
          <p:nvPr/>
        </p:nvPicPr>
        <p:blipFill>
          <a:blip r:embed="rId3"/>
          <a:stretch>
            <a:fillRect/>
          </a:stretch>
        </p:blipFill>
        <p:spPr>
          <a:xfrm>
            <a:off x="384048" y="2560320"/>
            <a:ext cx="228600" cy="228600"/>
          </a:xfrm>
          <a:prstGeom prst="rect">
            <a:avLst/>
          </a:prstGeom>
        </p:spPr>
      </p:pic>
      <p:sp>
        <p:nvSpPr>
          <p:cNvPr id="13" name="Text 8"/>
          <p:cNvSpPr/>
          <p:nvPr/>
        </p:nvSpPr>
        <p:spPr>
          <a:xfrm>
            <a:off x="685800" y="2532888"/>
            <a:ext cx="3611880" cy="320040"/>
          </a:xfrm>
          <a:prstGeom prst="rect">
            <a:avLst/>
          </a:prstGeom>
          <a:noFill/>
          <a:ln/>
        </p:spPr>
        <p:txBody>
          <a:bodyPr wrap="square" lIns="0" tIns="0" rIns="0" bIns="0" rtlCol="0" anchor="ctr"/>
          <a:lstStyle/>
          <a:p>
            <a:pPr algn="l" indent="0" marL="0">
              <a:buNone/>
            </a:pPr>
            <a:r>
              <a:rPr lang="en-US" sz="1000" dirty="0">
                <a:solidFill>
                  <a:srgbClr val="334155"/>
                </a:solidFill>
                <a:latin typeface="Calibri" pitchFamily="34" charset="0"/>
                <a:ea typeface="Calibri" pitchFamily="34" charset="-122"/>
                <a:cs typeface="Calibri" pitchFamily="34" charset="-120"/>
              </a:rPr>
              <a:t>Rural populations face months-long wait times</a:t>
            </a:r>
            <a:endParaRPr lang="en-US" sz="1000" dirty="0"/>
          </a:p>
        </p:txBody>
      </p:sp>
      <p:pic>
        <p:nvPicPr>
          <p:cNvPr id="14" name="Image 3" descr="preencoded.png">    </p:cNvPr>
          <p:cNvPicPr>
            <a:picLocks noChangeAspect="1"/>
          </p:cNvPicPr>
          <p:nvPr/>
        </p:nvPicPr>
        <p:blipFill>
          <a:blip r:embed="rId4"/>
          <a:stretch>
            <a:fillRect/>
          </a:stretch>
        </p:blipFill>
        <p:spPr>
          <a:xfrm>
            <a:off x="384048" y="3072384"/>
            <a:ext cx="228600" cy="228600"/>
          </a:xfrm>
          <a:prstGeom prst="rect">
            <a:avLst/>
          </a:prstGeom>
        </p:spPr>
      </p:pic>
      <p:sp>
        <p:nvSpPr>
          <p:cNvPr id="15" name="Text 9"/>
          <p:cNvSpPr/>
          <p:nvPr/>
        </p:nvSpPr>
        <p:spPr>
          <a:xfrm>
            <a:off x="685800" y="3044952"/>
            <a:ext cx="3611880" cy="320040"/>
          </a:xfrm>
          <a:prstGeom prst="rect">
            <a:avLst/>
          </a:prstGeom>
          <a:noFill/>
          <a:ln/>
        </p:spPr>
        <p:txBody>
          <a:bodyPr wrap="square" lIns="0" tIns="0" rIns="0" bIns="0" rtlCol="0" anchor="ctr"/>
          <a:lstStyle/>
          <a:p>
            <a:pPr algn="l" indent="0" marL="0">
              <a:buNone/>
            </a:pPr>
            <a:r>
              <a:rPr lang="en-US" sz="1000" dirty="0">
                <a:solidFill>
                  <a:srgbClr val="334155"/>
                </a:solidFill>
                <a:latin typeface="Calibri" pitchFamily="34" charset="0"/>
                <a:ea typeface="Calibri" pitchFamily="34" charset="-122"/>
                <a:cs typeface="Calibri" pitchFamily="34" charset="-120"/>
              </a:rPr>
              <a:t>Delayed diagnosis leads to severe complications</a:t>
            </a:r>
            <a:endParaRPr lang="en-US" sz="1000" dirty="0"/>
          </a:p>
        </p:txBody>
      </p:sp>
      <p:pic>
        <p:nvPicPr>
          <p:cNvPr id="16" name="Image 4" descr="preencoded.png">    </p:cNvPr>
          <p:cNvPicPr>
            <a:picLocks noChangeAspect="1"/>
          </p:cNvPicPr>
          <p:nvPr/>
        </p:nvPicPr>
        <p:blipFill>
          <a:blip r:embed="rId5"/>
          <a:stretch>
            <a:fillRect/>
          </a:stretch>
        </p:blipFill>
        <p:spPr>
          <a:xfrm>
            <a:off x="384048" y="3584448"/>
            <a:ext cx="228600" cy="228600"/>
          </a:xfrm>
          <a:prstGeom prst="rect">
            <a:avLst/>
          </a:prstGeom>
        </p:spPr>
      </p:pic>
      <p:sp>
        <p:nvSpPr>
          <p:cNvPr id="17" name="Text 10"/>
          <p:cNvSpPr/>
          <p:nvPr/>
        </p:nvSpPr>
        <p:spPr>
          <a:xfrm>
            <a:off x="685800" y="3557016"/>
            <a:ext cx="3611880" cy="320040"/>
          </a:xfrm>
          <a:prstGeom prst="rect">
            <a:avLst/>
          </a:prstGeom>
          <a:noFill/>
          <a:ln/>
        </p:spPr>
        <p:txBody>
          <a:bodyPr wrap="square" lIns="0" tIns="0" rIns="0" bIns="0" rtlCol="0" anchor="ctr"/>
          <a:lstStyle/>
          <a:p>
            <a:pPr algn="l" indent="0" marL="0">
              <a:buNone/>
            </a:pPr>
            <a:r>
              <a:rPr lang="en-US" sz="1000" dirty="0">
                <a:solidFill>
                  <a:srgbClr val="334155"/>
                </a:solidFill>
                <a:latin typeface="Calibri" pitchFamily="34" charset="0"/>
                <a:ea typeface="Calibri" pitchFamily="34" charset="-122"/>
                <a:cs typeface="Calibri" pitchFamily="34" charset="-120"/>
              </a:rPr>
              <a:t>Melanoma 5-year survival: 98% (Stage I) vs 23% (late)</a:t>
            </a:r>
            <a:endParaRPr lang="en-US" sz="1000" dirty="0"/>
          </a:p>
        </p:txBody>
      </p:sp>
      <p:pic>
        <p:nvPicPr>
          <p:cNvPr id="18" name="Image 5" descr="preencoded.png">    </p:cNvPr>
          <p:cNvPicPr>
            <a:picLocks noChangeAspect="1"/>
          </p:cNvPicPr>
          <p:nvPr/>
        </p:nvPicPr>
        <p:blipFill>
          <a:blip r:embed="rId6"/>
          <a:stretch>
            <a:fillRect/>
          </a:stretch>
        </p:blipFill>
        <p:spPr>
          <a:xfrm>
            <a:off x="384048" y="4096512"/>
            <a:ext cx="228600" cy="228600"/>
          </a:xfrm>
          <a:prstGeom prst="rect">
            <a:avLst/>
          </a:prstGeom>
        </p:spPr>
      </p:pic>
      <p:sp>
        <p:nvSpPr>
          <p:cNvPr id="19" name="Text 11"/>
          <p:cNvSpPr/>
          <p:nvPr/>
        </p:nvSpPr>
        <p:spPr>
          <a:xfrm>
            <a:off x="685800" y="4069080"/>
            <a:ext cx="3611880" cy="320040"/>
          </a:xfrm>
          <a:prstGeom prst="rect">
            <a:avLst/>
          </a:prstGeom>
          <a:noFill/>
          <a:ln/>
        </p:spPr>
        <p:txBody>
          <a:bodyPr wrap="square" lIns="0" tIns="0" rIns="0" bIns="0" rtlCol="0" anchor="ctr"/>
          <a:lstStyle/>
          <a:p>
            <a:pPr algn="l" indent="0" marL="0">
              <a:buNone/>
            </a:pPr>
            <a:r>
              <a:rPr lang="en-US" sz="1000" dirty="0">
                <a:solidFill>
                  <a:srgbClr val="334155"/>
                </a:solidFill>
                <a:latin typeface="Calibri" pitchFamily="34" charset="0"/>
                <a:ea typeface="Calibri" pitchFamily="34" charset="-122"/>
                <a:cs typeface="Calibri" pitchFamily="34" charset="-120"/>
              </a:rPr>
              <a:t>Fast, affordable AI screening is urgently needed</a:t>
            </a:r>
            <a:endParaRPr lang="en-US" sz="1000" dirty="0"/>
          </a:p>
        </p:txBody>
      </p:sp>
      <p:sp>
        <p:nvSpPr>
          <p:cNvPr id="20" name="Shape 12"/>
          <p:cNvSpPr/>
          <p:nvPr/>
        </p:nvSpPr>
        <p:spPr>
          <a:xfrm>
            <a:off x="4709160" y="1005840"/>
            <a:ext cx="4206240" cy="3749040"/>
          </a:xfrm>
          <a:prstGeom prst="roundRect">
            <a:avLst>
              <a:gd name="adj" fmla="val 2439"/>
            </a:avLst>
          </a:prstGeom>
          <a:solidFill>
            <a:srgbClr val="F0F6FF"/>
          </a:solidFill>
          <a:ln w="19050">
            <a:solidFill>
              <a:srgbClr val="D6E4F7"/>
            </a:solidFill>
            <a:prstDash val="solid"/>
          </a:ln>
        </p:spPr>
      </p:sp>
      <p:sp>
        <p:nvSpPr>
          <p:cNvPr id="21" name="Text 13"/>
          <p:cNvSpPr/>
          <p:nvPr/>
        </p:nvSpPr>
        <p:spPr>
          <a:xfrm>
            <a:off x="4846320" y="1078992"/>
            <a:ext cx="3931920" cy="347472"/>
          </a:xfrm>
          <a:prstGeom prst="rect">
            <a:avLst/>
          </a:prstGeom>
          <a:noFill/>
          <a:ln/>
        </p:spPr>
        <p:txBody>
          <a:bodyPr wrap="square" lIns="0" tIns="0" rIns="0" bIns="0" rtlCol="0" anchor="ctr"/>
          <a:lstStyle/>
          <a:p>
            <a:pPr algn="l" indent="0" marL="0">
              <a:buNone/>
            </a:pPr>
            <a:r>
              <a:rPr lang="en-US" sz="1200" b="1" dirty="0">
                <a:solidFill>
                  <a:srgbClr val="1A56B0"/>
                </a:solidFill>
                <a:latin typeface="Calibri" pitchFamily="34" charset="0"/>
                <a:ea typeface="Calibri" pitchFamily="34" charset="-122"/>
                <a:cs typeface="Calibri" pitchFamily="34" charset="-120"/>
              </a:rPr>
              <a:t>🎯  PROJECT OBJECTIVES</a:t>
            </a:r>
            <a:endParaRPr lang="en-US" sz="1200" dirty="0"/>
          </a:p>
        </p:txBody>
      </p:sp>
      <p:pic>
        <p:nvPicPr>
          <p:cNvPr id="22" name="Image 6" descr="preencoded.png">    </p:cNvPr>
          <p:cNvPicPr>
            <a:picLocks noChangeAspect="1"/>
          </p:cNvPicPr>
          <p:nvPr/>
        </p:nvPicPr>
        <p:blipFill>
          <a:blip r:embed="rId7"/>
          <a:stretch>
            <a:fillRect/>
          </a:stretch>
        </p:blipFill>
        <p:spPr>
          <a:xfrm>
            <a:off x="4828032" y="1536192"/>
            <a:ext cx="228600" cy="228600"/>
          </a:xfrm>
          <a:prstGeom prst="rect">
            <a:avLst/>
          </a:prstGeom>
        </p:spPr>
      </p:pic>
      <p:sp>
        <p:nvSpPr>
          <p:cNvPr id="23" name="Text 14"/>
          <p:cNvSpPr/>
          <p:nvPr/>
        </p:nvSpPr>
        <p:spPr>
          <a:xfrm>
            <a:off x="5138928" y="1508760"/>
            <a:ext cx="3657600" cy="320040"/>
          </a:xfrm>
          <a:prstGeom prst="rect">
            <a:avLst/>
          </a:prstGeom>
          <a:noFill/>
          <a:ln/>
        </p:spPr>
        <p:txBody>
          <a:bodyPr wrap="square" lIns="0" tIns="0" rIns="0" bIns="0" rtlCol="0" anchor="ctr"/>
          <a:lstStyle/>
          <a:p>
            <a:pPr algn="l" indent="0" marL="0">
              <a:buNone/>
            </a:pPr>
            <a:r>
              <a:rPr lang="en-US" sz="1000" dirty="0">
                <a:solidFill>
                  <a:srgbClr val="334155"/>
                </a:solidFill>
                <a:latin typeface="Calibri" pitchFamily="34" charset="0"/>
                <a:ea typeface="Calibri" pitchFamily="34" charset="-122"/>
                <a:cs typeface="Calibri" pitchFamily="34" charset="-120"/>
              </a:rPr>
              <a:t>Detect multiple skin diseases automatically using AI</a:t>
            </a:r>
            <a:endParaRPr lang="en-US" sz="1000" dirty="0"/>
          </a:p>
        </p:txBody>
      </p:sp>
      <p:pic>
        <p:nvPicPr>
          <p:cNvPr id="24" name="Image 7" descr="preencoded.png">    </p:cNvPr>
          <p:cNvPicPr>
            <a:picLocks noChangeAspect="1"/>
          </p:cNvPicPr>
          <p:nvPr/>
        </p:nvPicPr>
        <p:blipFill>
          <a:blip r:embed="rId8"/>
          <a:stretch>
            <a:fillRect/>
          </a:stretch>
        </p:blipFill>
        <p:spPr>
          <a:xfrm>
            <a:off x="4828032" y="2048256"/>
            <a:ext cx="228600" cy="228600"/>
          </a:xfrm>
          <a:prstGeom prst="rect">
            <a:avLst/>
          </a:prstGeom>
        </p:spPr>
      </p:pic>
      <p:sp>
        <p:nvSpPr>
          <p:cNvPr id="25" name="Text 15"/>
          <p:cNvSpPr/>
          <p:nvPr/>
        </p:nvSpPr>
        <p:spPr>
          <a:xfrm>
            <a:off x="5138928" y="2020824"/>
            <a:ext cx="3657600" cy="320040"/>
          </a:xfrm>
          <a:prstGeom prst="rect">
            <a:avLst/>
          </a:prstGeom>
          <a:noFill/>
          <a:ln/>
        </p:spPr>
        <p:txBody>
          <a:bodyPr wrap="square" lIns="0" tIns="0" rIns="0" bIns="0" rtlCol="0" anchor="ctr"/>
          <a:lstStyle/>
          <a:p>
            <a:pPr algn="l" indent="0" marL="0">
              <a:buNone/>
            </a:pPr>
            <a:r>
              <a:rPr lang="en-US" sz="1000" dirty="0">
                <a:solidFill>
                  <a:srgbClr val="334155"/>
                </a:solidFill>
                <a:latin typeface="Calibri" pitchFamily="34" charset="0"/>
                <a:ea typeface="Calibri" pitchFamily="34" charset="-122"/>
                <a:cs typeface="Calibri" pitchFamily="34" charset="-120"/>
              </a:rPr>
              <a:t>Train &amp; compare 4 deep learning models (EfficientNet, ResNet, MobileNet)</a:t>
            </a:r>
            <a:endParaRPr lang="en-US" sz="1000" dirty="0"/>
          </a:p>
        </p:txBody>
      </p:sp>
      <p:pic>
        <p:nvPicPr>
          <p:cNvPr id="26" name="Image 8" descr="preencoded.png">    </p:cNvPr>
          <p:cNvPicPr>
            <a:picLocks noChangeAspect="1"/>
          </p:cNvPicPr>
          <p:nvPr/>
        </p:nvPicPr>
        <p:blipFill>
          <a:blip r:embed="rId9"/>
          <a:stretch>
            <a:fillRect/>
          </a:stretch>
        </p:blipFill>
        <p:spPr>
          <a:xfrm>
            <a:off x="4828032" y="2560320"/>
            <a:ext cx="228600" cy="228600"/>
          </a:xfrm>
          <a:prstGeom prst="rect">
            <a:avLst/>
          </a:prstGeom>
        </p:spPr>
      </p:pic>
      <p:sp>
        <p:nvSpPr>
          <p:cNvPr id="27" name="Text 16"/>
          <p:cNvSpPr/>
          <p:nvPr/>
        </p:nvSpPr>
        <p:spPr>
          <a:xfrm>
            <a:off x="5138928" y="2532888"/>
            <a:ext cx="3657600" cy="320040"/>
          </a:xfrm>
          <a:prstGeom prst="rect">
            <a:avLst/>
          </a:prstGeom>
          <a:noFill/>
          <a:ln/>
        </p:spPr>
        <p:txBody>
          <a:bodyPr wrap="square" lIns="0" tIns="0" rIns="0" bIns="0" rtlCol="0" anchor="ctr"/>
          <a:lstStyle/>
          <a:p>
            <a:pPr algn="l" indent="0" marL="0">
              <a:buNone/>
            </a:pPr>
            <a:r>
              <a:rPr lang="en-US" sz="1000" dirty="0">
                <a:solidFill>
                  <a:srgbClr val="334155"/>
                </a:solidFill>
                <a:latin typeface="Calibri" pitchFamily="34" charset="0"/>
                <a:ea typeface="Calibri" pitchFamily="34" charset="-122"/>
                <a:cs typeface="Calibri" pitchFamily="34" charset="-120"/>
              </a:rPr>
              <a:t>Handle class imbalance with WRS, CutMix &amp; label smoothing</a:t>
            </a:r>
            <a:endParaRPr lang="en-US" sz="1000" dirty="0"/>
          </a:p>
        </p:txBody>
      </p:sp>
      <p:pic>
        <p:nvPicPr>
          <p:cNvPr id="28" name="Image 9" descr="preencoded.png">    </p:cNvPr>
          <p:cNvPicPr>
            <a:picLocks noChangeAspect="1"/>
          </p:cNvPicPr>
          <p:nvPr/>
        </p:nvPicPr>
        <p:blipFill>
          <a:blip r:embed="rId10"/>
          <a:stretch>
            <a:fillRect/>
          </a:stretch>
        </p:blipFill>
        <p:spPr>
          <a:xfrm>
            <a:off x="4828032" y="3072384"/>
            <a:ext cx="228600" cy="228600"/>
          </a:xfrm>
          <a:prstGeom prst="rect">
            <a:avLst/>
          </a:prstGeom>
        </p:spPr>
      </p:pic>
      <p:sp>
        <p:nvSpPr>
          <p:cNvPr id="29" name="Text 17"/>
          <p:cNvSpPr/>
          <p:nvPr/>
        </p:nvSpPr>
        <p:spPr>
          <a:xfrm>
            <a:off x="5138928" y="3044952"/>
            <a:ext cx="3657600" cy="320040"/>
          </a:xfrm>
          <a:prstGeom prst="rect">
            <a:avLst/>
          </a:prstGeom>
          <a:noFill/>
          <a:ln/>
        </p:spPr>
        <p:txBody>
          <a:bodyPr wrap="square" lIns="0" tIns="0" rIns="0" bIns="0" rtlCol="0" anchor="ctr"/>
          <a:lstStyle/>
          <a:p>
            <a:pPr algn="l" indent="0" marL="0">
              <a:buNone/>
            </a:pPr>
            <a:r>
              <a:rPr lang="en-US" sz="1000" dirty="0">
                <a:solidFill>
                  <a:srgbClr val="334155"/>
                </a:solidFill>
                <a:latin typeface="Calibri" pitchFamily="34" charset="0"/>
                <a:ea typeface="Calibri" pitchFamily="34" charset="-122"/>
                <a:cs typeface="Calibri" pitchFamily="34" charset="-120"/>
              </a:rPr>
              <a:t>Build intelligent web-based diagnosis platform with login</a:t>
            </a:r>
            <a:endParaRPr lang="en-US" sz="1000" dirty="0"/>
          </a:p>
        </p:txBody>
      </p:sp>
      <p:pic>
        <p:nvPicPr>
          <p:cNvPr id="30" name="Image 10" descr="preencoded.png">    </p:cNvPr>
          <p:cNvPicPr>
            <a:picLocks noChangeAspect="1"/>
          </p:cNvPicPr>
          <p:nvPr/>
        </p:nvPicPr>
        <p:blipFill>
          <a:blip r:embed="rId11"/>
          <a:stretch>
            <a:fillRect/>
          </a:stretch>
        </p:blipFill>
        <p:spPr>
          <a:xfrm>
            <a:off x="4828032" y="3584448"/>
            <a:ext cx="228600" cy="228600"/>
          </a:xfrm>
          <a:prstGeom prst="rect">
            <a:avLst/>
          </a:prstGeom>
        </p:spPr>
      </p:pic>
      <p:sp>
        <p:nvSpPr>
          <p:cNvPr id="31" name="Text 18"/>
          <p:cNvSpPr/>
          <p:nvPr/>
        </p:nvSpPr>
        <p:spPr>
          <a:xfrm>
            <a:off x="5138928" y="3557016"/>
            <a:ext cx="3657600" cy="320040"/>
          </a:xfrm>
          <a:prstGeom prst="rect">
            <a:avLst/>
          </a:prstGeom>
          <a:noFill/>
          <a:ln/>
        </p:spPr>
        <p:txBody>
          <a:bodyPr wrap="square" lIns="0" tIns="0" rIns="0" bIns="0" rtlCol="0" anchor="ctr"/>
          <a:lstStyle/>
          <a:p>
            <a:pPr algn="l" indent="0" marL="0">
              <a:buNone/>
            </a:pPr>
            <a:r>
              <a:rPr lang="en-US" sz="1000" dirty="0">
                <a:solidFill>
                  <a:srgbClr val="334155"/>
                </a:solidFill>
                <a:latin typeface="Calibri" pitchFamily="34" charset="0"/>
                <a:ea typeface="Calibri" pitchFamily="34" charset="-122"/>
                <a:cs typeface="Calibri" pitchFamily="34" charset="-120"/>
              </a:rPr>
              <a:t>Generate Top-3 predictions with confidence scores</a:t>
            </a:r>
            <a:endParaRPr lang="en-US" sz="1000" dirty="0"/>
          </a:p>
        </p:txBody>
      </p:sp>
      <p:pic>
        <p:nvPicPr>
          <p:cNvPr id="32" name="Image 11" descr="preencoded.png">    </p:cNvPr>
          <p:cNvPicPr>
            <a:picLocks noChangeAspect="1"/>
          </p:cNvPicPr>
          <p:nvPr/>
        </p:nvPicPr>
        <p:blipFill>
          <a:blip r:embed="rId12"/>
          <a:stretch>
            <a:fillRect/>
          </a:stretch>
        </p:blipFill>
        <p:spPr>
          <a:xfrm>
            <a:off x="4828032" y="4096512"/>
            <a:ext cx="228600" cy="228600"/>
          </a:xfrm>
          <a:prstGeom prst="rect">
            <a:avLst/>
          </a:prstGeom>
        </p:spPr>
      </p:pic>
      <p:sp>
        <p:nvSpPr>
          <p:cNvPr id="33" name="Text 19"/>
          <p:cNvSpPr/>
          <p:nvPr/>
        </p:nvSpPr>
        <p:spPr>
          <a:xfrm>
            <a:off x="5138928" y="4069080"/>
            <a:ext cx="3657600" cy="320040"/>
          </a:xfrm>
          <a:prstGeom prst="rect">
            <a:avLst/>
          </a:prstGeom>
          <a:noFill/>
          <a:ln/>
        </p:spPr>
        <p:txBody>
          <a:bodyPr wrap="square" lIns="0" tIns="0" rIns="0" bIns="0" rtlCol="0" anchor="ctr"/>
          <a:lstStyle/>
          <a:p>
            <a:pPr algn="l" indent="0" marL="0">
              <a:buNone/>
            </a:pPr>
            <a:r>
              <a:rPr lang="en-US" sz="1000" dirty="0">
                <a:solidFill>
                  <a:srgbClr val="334155"/>
                </a:solidFill>
                <a:latin typeface="Calibri" pitchFamily="34" charset="0"/>
                <a:ea typeface="Calibri" pitchFamily="34" charset="-122"/>
                <a:cs typeface="Calibri" pitchFamily="34" charset="-120"/>
              </a:rPr>
              <a:t>Integrate AI Dermatology Chat Assistant (Urdu &amp; English)</a:t>
            </a:r>
            <a:endParaRPr lang="en-US" sz="1000" dirty="0"/>
          </a:p>
        </p:txBody>
      </p:sp>
      <p:pic>
        <p:nvPicPr>
          <p:cNvPr id="34" name="Image 12" descr="preencoded.png">    </p:cNvPr>
          <p:cNvPicPr>
            <a:picLocks noChangeAspect="1"/>
          </p:cNvPicPr>
          <p:nvPr/>
        </p:nvPicPr>
        <p:blipFill>
          <a:blip r:embed="rId13"/>
          <a:stretch>
            <a:fillRect/>
          </a:stretch>
        </p:blipFill>
        <p:spPr>
          <a:xfrm>
            <a:off x="4224528" y="2286000"/>
            <a:ext cx="640080" cy="640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3E"/>
          </a:solidFill>
          <a:ln w="12700">
            <a:solidFill>
              <a:srgbClr val="0D1B3E"/>
            </a:solidFill>
            <a:prstDash val="solid"/>
          </a:ln>
        </p:spPr>
      </p:sp>
      <p:sp>
        <p:nvSpPr>
          <p:cNvPr id="3" name="Text 1"/>
          <p:cNvSpPr/>
          <p:nvPr/>
        </p:nvSpPr>
        <p:spPr>
          <a:xfrm>
            <a:off x="274320" y="45720"/>
            <a:ext cx="8595360"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Dataset &amp; Preprocessing</a:t>
            </a:r>
            <a:endParaRPr lang="en-US" sz="2200" dirty="0"/>
          </a:p>
        </p:txBody>
      </p:sp>
      <p:sp>
        <p:nvSpPr>
          <p:cNvPr id="4" name="Text 2"/>
          <p:cNvSpPr/>
          <p:nvPr/>
        </p:nvSpPr>
        <p:spPr>
          <a:xfrm>
            <a:off x="274320" y="548640"/>
            <a:ext cx="8595360" cy="274320"/>
          </a:xfrm>
          <a:prstGeom prst="rect">
            <a:avLst/>
          </a:prstGeom>
          <a:noFill/>
          <a:ln/>
        </p:spPr>
        <p:txBody>
          <a:bodyPr wrap="square" lIns="0" tIns="0" rIns="0" bIns="0" rtlCol="0" anchor="ctr"/>
          <a:lstStyle/>
          <a:p>
            <a:pPr algn="l" indent="0" marL="0">
              <a:buNone/>
            </a:pPr>
            <a:r>
              <a:rPr lang="en-US" sz="1100" dirty="0">
                <a:solidFill>
                  <a:srgbClr val="B0C4DE"/>
                </a:solidFill>
                <a:latin typeface="Calibri" pitchFamily="34" charset="0"/>
                <a:ea typeface="Calibri" pitchFamily="34" charset="-122"/>
                <a:cs typeface="Calibri" pitchFamily="34" charset="-120"/>
              </a:rPr>
              <a:t>ISIC Archive — 25,312 Dermoscopic Images · 11 Disease Classes</a:t>
            </a:r>
            <a:endParaRPr lang="en-US" sz="1100" dirty="0"/>
          </a:p>
        </p:txBody>
      </p:sp>
      <p:sp>
        <p:nvSpPr>
          <p:cNvPr id="5" name="Shape 3"/>
          <p:cNvSpPr/>
          <p:nvPr/>
        </p:nvSpPr>
        <p:spPr>
          <a:xfrm>
            <a:off x="0" y="868680"/>
            <a:ext cx="9144000" cy="36576"/>
          </a:xfrm>
          <a:prstGeom prst="rect">
            <a:avLst/>
          </a:prstGeom>
          <a:solidFill>
            <a:srgbClr val="1A56B0"/>
          </a:solidFill>
          <a:ln w="12700">
            <a:solidFill>
              <a:srgbClr val="1A56B0"/>
            </a:solidFill>
            <a:prstDash val="solid"/>
          </a:ln>
        </p:spPr>
      </p:sp>
      <p:sp>
        <p:nvSpPr>
          <p:cNvPr id="6" name="Shape 4"/>
          <p:cNvSpPr/>
          <p:nvPr/>
        </p:nvSpPr>
        <p:spPr>
          <a:xfrm>
            <a:off x="274320" y="987552"/>
            <a:ext cx="1965960" cy="804672"/>
          </a:xfrm>
          <a:prstGeom prst="roundRect">
            <a:avLst>
              <a:gd name="adj" fmla="val 9091"/>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sp>
        <p:nvSpPr>
          <p:cNvPr id="7" name="Text 5"/>
          <p:cNvSpPr/>
          <p:nvPr/>
        </p:nvSpPr>
        <p:spPr>
          <a:xfrm>
            <a:off x="274320" y="1060704"/>
            <a:ext cx="1965960" cy="442570"/>
          </a:xfrm>
          <a:prstGeom prst="rect">
            <a:avLst/>
          </a:prstGeom>
          <a:noFill/>
          <a:ln/>
        </p:spPr>
        <p:txBody>
          <a:bodyPr wrap="square" lIns="0" tIns="0" rIns="0" bIns="0" rtlCol="0" anchor="b"/>
          <a:lstStyle/>
          <a:p>
            <a:pPr algn="ctr" indent="0" marL="0">
              <a:buNone/>
            </a:pPr>
            <a:r>
              <a:rPr lang="en-US" sz="2200" b="1" dirty="0">
                <a:solidFill>
                  <a:srgbClr val="1A56B0"/>
                </a:solidFill>
                <a:latin typeface="Calibri" pitchFamily="34" charset="0"/>
                <a:ea typeface="Calibri" pitchFamily="34" charset="-122"/>
                <a:cs typeface="Calibri" pitchFamily="34" charset="-120"/>
              </a:rPr>
              <a:t>25,312</a:t>
            </a:r>
            <a:endParaRPr lang="en-US" sz="2200" dirty="0"/>
          </a:p>
        </p:txBody>
      </p:sp>
      <p:sp>
        <p:nvSpPr>
          <p:cNvPr id="8" name="Text 6"/>
          <p:cNvSpPr/>
          <p:nvPr/>
        </p:nvSpPr>
        <p:spPr>
          <a:xfrm>
            <a:off x="274320" y="1454262"/>
            <a:ext cx="1965960" cy="305775"/>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Total Images</a:t>
            </a:r>
            <a:endParaRPr lang="en-US" sz="900" dirty="0"/>
          </a:p>
        </p:txBody>
      </p:sp>
      <p:sp>
        <p:nvSpPr>
          <p:cNvPr id="9" name="Shape 7"/>
          <p:cNvSpPr/>
          <p:nvPr/>
        </p:nvSpPr>
        <p:spPr>
          <a:xfrm>
            <a:off x="2423160" y="987552"/>
            <a:ext cx="1965960" cy="804672"/>
          </a:xfrm>
          <a:prstGeom prst="roundRect">
            <a:avLst>
              <a:gd name="adj" fmla="val 9091"/>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sp>
        <p:nvSpPr>
          <p:cNvPr id="10" name="Text 8"/>
          <p:cNvSpPr/>
          <p:nvPr/>
        </p:nvSpPr>
        <p:spPr>
          <a:xfrm>
            <a:off x="2423160" y="1060704"/>
            <a:ext cx="1965960" cy="442570"/>
          </a:xfrm>
          <a:prstGeom prst="rect">
            <a:avLst/>
          </a:prstGeom>
          <a:noFill/>
          <a:ln/>
        </p:spPr>
        <p:txBody>
          <a:bodyPr wrap="square" lIns="0" tIns="0" rIns="0" bIns="0" rtlCol="0" anchor="b"/>
          <a:lstStyle/>
          <a:p>
            <a:pPr algn="ctr" indent="0" marL="0">
              <a:buNone/>
            </a:pPr>
            <a:r>
              <a:rPr lang="en-US" sz="2200" b="1" dirty="0">
                <a:solidFill>
                  <a:srgbClr val="0D8A6E"/>
                </a:solidFill>
                <a:latin typeface="Calibri" pitchFamily="34" charset="0"/>
                <a:ea typeface="Calibri" pitchFamily="34" charset="-122"/>
                <a:cs typeface="Calibri" pitchFamily="34" charset="-120"/>
              </a:rPr>
              <a:t>11</a:t>
            </a:r>
            <a:endParaRPr lang="en-US" sz="2200" dirty="0"/>
          </a:p>
        </p:txBody>
      </p:sp>
      <p:sp>
        <p:nvSpPr>
          <p:cNvPr id="11" name="Text 9"/>
          <p:cNvSpPr/>
          <p:nvPr/>
        </p:nvSpPr>
        <p:spPr>
          <a:xfrm>
            <a:off x="2423160" y="1454262"/>
            <a:ext cx="1965960" cy="305775"/>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Disease Classes</a:t>
            </a:r>
            <a:endParaRPr lang="en-US" sz="900" dirty="0"/>
          </a:p>
        </p:txBody>
      </p:sp>
      <p:sp>
        <p:nvSpPr>
          <p:cNvPr id="12" name="Shape 10"/>
          <p:cNvSpPr/>
          <p:nvPr/>
        </p:nvSpPr>
        <p:spPr>
          <a:xfrm>
            <a:off x="4572000" y="987552"/>
            <a:ext cx="1965960" cy="804672"/>
          </a:xfrm>
          <a:prstGeom prst="roundRect">
            <a:avLst>
              <a:gd name="adj" fmla="val 9091"/>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sp>
        <p:nvSpPr>
          <p:cNvPr id="13" name="Text 11"/>
          <p:cNvSpPr/>
          <p:nvPr/>
        </p:nvSpPr>
        <p:spPr>
          <a:xfrm>
            <a:off x="4572000" y="1060704"/>
            <a:ext cx="1965960" cy="442570"/>
          </a:xfrm>
          <a:prstGeom prst="rect">
            <a:avLst/>
          </a:prstGeom>
          <a:noFill/>
          <a:ln/>
        </p:spPr>
        <p:txBody>
          <a:bodyPr wrap="square" lIns="0" tIns="0" rIns="0" bIns="0" rtlCol="0" anchor="b"/>
          <a:lstStyle/>
          <a:p>
            <a:pPr algn="ctr" indent="0" marL="0">
              <a:buNone/>
            </a:pPr>
            <a:r>
              <a:rPr lang="en-US" sz="2200" b="1" dirty="0">
                <a:solidFill>
                  <a:srgbClr val="D97706"/>
                </a:solidFill>
                <a:latin typeface="Calibri" pitchFamily="34" charset="0"/>
                <a:ea typeface="Calibri" pitchFamily="34" charset="-122"/>
                <a:cs typeface="Calibri" pitchFamily="34" charset="-120"/>
              </a:rPr>
              <a:t>80/20</a:t>
            </a:r>
            <a:endParaRPr lang="en-US" sz="2200" dirty="0"/>
          </a:p>
        </p:txBody>
      </p:sp>
      <p:sp>
        <p:nvSpPr>
          <p:cNvPr id="14" name="Text 12"/>
          <p:cNvSpPr/>
          <p:nvPr/>
        </p:nvSpPr>
        <p:spPr>
          <a:xfrm>
            <a:off x="4572000" y="1454262"/>
            <a:ext cx="1965960" cy="305775"/>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Train/Val Split</a:t>
            </a:r>
            <a:endParaRPr lang="en-US" sz="900" dirty="0"/>
          </a:p>
        </p:txBody>
      </p:sp>
      <p:sp>
        <p:nvSpPr>
          <p:cNvPr id="15" name="Shape 13"/>
          <p:cNvSpPr/>
          <p:nvPr/>
        </p:nvSpPr>
        <p:spPr>
          <a:xfrm>
            <a:off x="6720840" y="987552"/>
            <a:ext cx="1965960" cy="804672"/>
          </a:xfrm>
          <a:prstGeom prst="roundRect">
            <a:avLst>
              <a:gd name="adj" fmla="val 9091"/>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sp>
        <p:nvSpPr>
          <p:cNvPr id="16" name="Text 14"/>
          <p:cNvSpPr/>
          <p:nvPr/>
        </p:nvSpPr>
        <p:spPr>
          <a:xfrm>
            <a:off x="6720840" y="1060704"/>
            <a:ext cx="1965960" cy="442570"/>
          </a:xfrm>
          <a:prstGeom prst="rect">
            <a:avLst/>
          </a:prstGeom>
          <a:noFill/>
          <a:ln/>
        </p:spPr>
        <p:txBody>
          <a:bodyPr wrap="square" lIns="0" tIns="0" rIns="0" bIns="0" rtlCol="0" anchor="b"/>
          <a:lstStyle/>
          <a:p>
            <a:pPr algn="ctr" indent="0" marL="0">
              <a:buNone/>
            </a:pPr>
            <a:r>
              <a:rPr lang="en-US" sz="2200" b="1" dirty="0">
                <a:solidFill>
                  <a:srgbClr val="E85D26"/>
                </a:solidFill>
                <a:latin typeface="Calibri" pitchFamily="34" charset="0"/>
                <a:ea typeface="Calibri" pitchFamily="34" charset="-122"/>
                <a:cs typeface="Calibri" pitchFamily="34" charset="-120"/>
              </a:rPr>
              <a:t>3 Tech</a:t>
            </a:r>
            <a:endParaRPr lang="en-US" sz="2200" dirty="0"/>
          </a:p>
        </p:txBody>
      </p:sp>
      <p:sp>
        <p:nvSpPr>
          <p:cNvPr id="17" name="Text 15"/>
          <p:cNvSpPr/>
          <p:nvPr/>
        </p:nvSpPr>
        <p:spPr>
          <a:xfrm>
            <a:off x="6720840" y="1454262"/>
            <a:ext cx="1965960" cy="305775"/>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Imbalance Solutions</a:t>
            </a:r>
            <a:endParaRPr lang="en-US" sz="900" dirty="0"/>
          </a:p>
        </p:txBody>
      </p:sp>
      <p:sp>
        <p:nvSpPr>
          <p:cNvPr id="18" name="Text 16"/>
          <p:cNvSpPr/>
          <p:nvPr/>
        </p:nvSpPr>
        <p:spPr>
          <a:xfrm>
            <a:off x="274320" y="1920240"/>
            <a:ext cx="4754880" cy="292608"/>
          </a:xfrm>
          <a:prstGeom prst="rect">
            <a:avLst/>
          </a:prstGeom>
          <a:noFill/>
          <a:ln/>
        </p:spPr>
        <p:txBody>
          <a:bodyPr wrap="square" lIns="0" tIns="0" rIns="0" bIns="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Disease Classes &amp; Sample Distribution</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2267712"/>
          <a:ext cx="4663440" cy="2578608"/>
        </p:xfrm>
        <a:graphic>
          <a:graphicData uri="http://schemas.openxmlformats.org/drawingml/2006/table">
            <a:tbl>
              <a:tblPr/>
              <a:tblGrid>
                <a:gridCol w="2377440"/>
                <a:gridCol w="1005840"/>
                <a:gridCol w="12801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Class</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0D1B3E"/>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Train</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0D1B3E"/>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Priority</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0D1B3E"/>
                    </a:solidFill>
                  </a:tcPr>
                </a:tc>
              </a:tr>
              <a:tr h="237744">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Melanoma</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2,628</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b="1" dirty="0">
                          <a:solidFill>
                            <a:srgbClr val="CC2200"/>
                          </a:solidFill>
                          <a:latin typeface="Calibri" pitchFamily="34" charset="0"/>
                          <a:ea typeface="Calibri" pitchFamily="34" charset="-122"/>
                          <a:cs typeface="Calibri" pitchFamily="34" charset="-120"/>
                        </a:rPr>
                        <a:t>HIGH RISK</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r h="237744">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Basal Cell Carcinoma</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2,580</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b="1" dirty="0">
                          <a:solidFill>
                            <a:srgbClr val="CC2200"/>
                          </a:solidFill>
                          <a:latin typeface="Calibri" pitchFamily="34" charset="0"/>
                          <a:ea typeface="Calibri" pitchFamily="34" charset="-122"/>
                          <a:cs typeface="Calibri" pitchFamily="34" charset="-120"/>
                        </a:rPr>
                        <a:t>HIGH RISK</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r h="237744">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Melanocytic Nevi</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6,864</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r h="237744">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Eczema</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1,284</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Moderate</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r h="237744">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Warts / Molluscum</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1,776</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r h="237744">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Atopic Dermatitis</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972</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Moderate</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r h="237744">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Psoriasis / Lichen</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1,740</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Moderate</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r h="237744">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Tinea / Ringworm</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1,500</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Moderate</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r h="237744">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Seborrheic Keratoses</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1,668</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r h="237744">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Benign Keratosis</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1,824</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00" dirty="0">
                          <a:solidFill>
                            <a:srgbClr val="334155"/>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bl>
          </a:graphicData>
        </a:graphic>
      </p:graphicFrame>
      <p:sp>
        <p:nvSpPr>
          <p:cNvPr id="20" name="Text 17"/>
          <p:cNvSpPr/>
          <p:nvPr/>
        </p:nvSpPr>
        <p:spPr>
          <a:xfrm>
            <a:off x="5212080" y="1920240"/>
            <a:ext cx="3657600" cy="292608"/>
          </a:xfrm>
          <a:prstGeom prst="rect">
            <a:avLst/>
          </a:prstGeom>
          <a:noFill/>
          <a:ln/>
        </p:spPr>
        <p:txBody>
          <a:bodyPr wrap="square" lIns="0" tIns="0" rIns="0" bIns="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Preprocessing Pipeline</a:t>
            </a:r>
            <a:endParaRPr lang="en-US" sz="1100" dirty="0"/>
          </a:p>
        </p:txBody>
      </p:sp>
      <p:sp>
        <p:nvSpPr>
          <p:cNvPr id="21" name="Shape 18"/>
          <p:cNvSpPr/>
          <p:nvPr/>
        </p:nvSpPr>
        <p:spPr>
          <a:xfrm>
            <a:off x="5212080" y="2313432"/>
            <a:ext cx="310896" cy="310896"/>
          </a:xfrm>
          <a:prstGeom prst="OVAL">
            <a:avLst/>
          </a:prstGeom>
          <a:solidFill>
            <a:srgbClr val="1A56B0"/>
          </a:solidFill>
          <a:ln w="12700">
            <a:solidFill>
              <a:srgbClr val="1A56B0"/>
            </a:solidFill>
            <a:prstDash val="solid"/>
          </a:ln>
        </p:spPr>
      </p:sp>
      <p:sp>
        <p:nvSpPr>
          <p:cNvPr id="22" name="Text 19"/>
          <p:cNvSpPr/>
          <p:nvPr/>
        </p:nvSpPr>
        <p:spPr>
          <a:xfrm>
            <a:off x="5212080" y="231343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0"/>
          <p:cNvSpPr/>
          <p:nvPr/>
        </p:nvSpPr>
        <p:spPr>
          <a:xfrm>
            <a:off x="5614416" y="2304288"/>
            <a:ext cx="1280160" cy="182880"/>
          </a:xfrm>
          <a:prstGeom prst="rect">
            <a:avLst/>
          </a:prstGeom>
          <a:noFill/>
          <a:ln/>
        </p:spPr>
        <p:txBody>
          <a:bodyPr wrap="square" lIns="0" tIns="0" rIns="0" bIns="0" rtlCol="0" anchor="ctr"/>
          <a:lstStyle/>
          <a:p>
            <a:pPr indent="0" marL="0">
              <a:buNone/>
            </a:pPr>
            <a:r>
              <a:rPr lang="en-US" sz="1000" b="1" dirty="0">
                <a:solidFill>
                  <a:srgbClr val="0D1B3E"/>
                </a:solidFill>
                <a:latin typeface="Calibri" pitchFamily="34" charset="0"/>
                <a:ea typeface="Calibri" pitchFamily="34" charset="-122"/>
                <a:cs typeface="Calibri" pitchFamily="34" charset="-120"/>
              </a:rPr>
              <a:t>Resize</a:t>
            </a:r>
            <a:endParaRPr lang="en-US" sz="1000" dirty="0"/>
          </a:p>
        </p:txBody>
      </p:sp>
      <p:sp>
        <p:nvSpPr>
          <p:cNvPr id="24" name="Text 21"/>
          <p:cNvSpPr/>
          <p:nvPr/>
        </p:nvSpPr>
        <p:spPr>
          <a:xfrm>
            <a:off x="5614416" y="2468880"/>
            <a:ext cx="32004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224 × 224 pixels</a:t>
            </a:r>
            <a:endParaRPr lang="en-US" sz="900" dirty="0"/>
          </a:p>
        </p:txBody>
      </p:sp>
      <p:sp>
        <p:nvSpPr>
          <p:cNvPr id="25" name="Shape 22"/>
          <p:cNvSpPr/>
          <p:nvPr/>
        </p:nvSpPr>
        <p:spPr>
          <a:xfrm>
            <a:off x="5367528" y="2624328"/>
            <a:ext cx="0" cy="164592"/>
          </a:xfrm>
          <a:prstGeom prst="LINE">
            <a:avLst/>
          </a:prstGeom>
          <a:noFill/>
          <a:ln w="19050">
            <a:solidFill>
              <a:srgbClr val="D6E4F7"/>
            </a:solidFill>
            <a:prstDash val="solid"/>
          </a:ln>
        </p:spPr>
      </p:sp>
      <p:sp>
        <p:nvSpPr>
          <p:cNvPr id="26" name="Shape 23"/>
          <p:cNvSpPr/>
          <p:nvPr/>
        </p:nvSpPr>
        <p:spPr>
          <a:xfrm>
            <a:off x="5212080" y="2743200"/>
            <a:ext cx="310896" cy="310896"/>
          </a:xfrm>
          <a:prstGeom prst="OVAL">
            <a:avLst/>
          </a:prstGeom>
          <a:solidFill>
            <a:srgbClr val="1A56B0"/>
          </a:solidFill>
          <a:ln w="12700">
            <a:solidFill>
              <a:srgbClr val="1A56B0"/>
            </a:solidFill>
            <a:prstDash val="solid"/>
          </a:ln>
        </p:spPr>
      </p:sp>
      <p:sp>
        <p:nvSpPr>
          <p:cNvPr id="27" name="Text 24"/>
          <p:cNvSpPr/>
          <p:nvPr/>
        </p:nvSpPr>
        <p:spPr>
          <a:xfrm>
            <a:off x="5212080" y="274320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8" name="Text 25"/>
          <p:cNvSpPr/>
          <p:nvPr/>
        </p:nvSpPr>
        <p:spPr>
          <a:xfrm>
            <a:off x="5614416" y="2734056"/>
            <a:ext cx="1280160" cy="182880"/>
          </a:xfrm>
          <a:prstGeom prst="rect">
            <a:avLst/>
          </a:prstGeom>
          <a:noFill/>
          <a:ln/>
        </p:spPr>
        <p:txBody>
          <a:bodyPr wrap="square" lIns="0" tIns="0" rIns="0" bIns="0" rtlCol="0" anchor="ctr"/>
          <a:lstStyle/>
          <a:p>
            <a:pPr indent="0" marL="0">
              <a:buNone/>
            </a:pPr>
            <a:r>
              <a:rPr lang="en-US" sz="1000" b="1" dirty="0">
                <a:solidFill>
                  <a:srgbClr val="0D1B3E"/>
                </a:solidFill>
                <a:latin typeface="Calibri" pitchFamily="34" charset="0"/>
                <a:ea typeface="Calibri" pitchFamily="34" charset="-122"/>
                <a:cs typeface="Calibri" pitchFamily="34" charset="-120"/>
              </a:rPr>
              <a:t>Normalize</a:t>
            </a:r>
            <a:endParaRPr lang="en-US" sz="1000" dirty="0"/>
          </a:p>
        </p:txBody>
      </p:sp>
      <p:sp>
        <p:nvSpPr>
          <p:cNvPr id="29" name="Text 26"/>
          <p:cNvSpPr/>
          <p:nvPr/>
        </p:nvSpPr>
        <p:spPr>
          <a:xfrm>
            <a:off x="5614416" y="2898648"/>
            <a:ext cx="32004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ImageNet mean &amp; std</a:t>
            </a:r>
            <a:endParaRPr lang="en-US" sz="900" dirty="0"/>
          </a:p>
        </p:txBody>
      </p:sp>
      <p:sp>
        <p:nvSpPr>
          <p:cNvPr id="30" name="Shape 27"/>
          <p:cNvSpPr/>
          <p:nvPr/>
        </p:nvSpPr>
        <p:spPr>
          <a:xfrm>
            <a:off x="5367528" y="3054096"/>
            <a:ext cx="0" cy="164592"/>
          </a:xfrm>
          <a:prstGeom prst="LINE">
            <a:avLst/>
          </a:prstGeom>
          <a:noFill/>
          <a:ln w="19050">
            <a:solidFill>
              <a:srgbClr val="D6E4F7"/>
            </a:solidFill>
            <a:prstDash val="solid"/>
          </a:ln>
        </p:spPr>
      </p:sp>
      <p:sp>
        <p:nvSpPr>
          <p:cNvPr id="31" name="Shape 28"/>
          <p:cNvSpPr/>
          <p:nvPr/>
        </p:nvSpPr>
        <p:spPr>
          <a:xfrm>
            <a:off x="5212080" y="3172968"/>
            <a:ext cx="310896" cy="310896"/>
          </a:xfrm>
          <a:prstGeom prst="OVAL">
            <a:avLst/>
          </a:prstGeom>
          <a:solidFill>
            <a:srgbClr val="1A56B0"/>
          </a:solidFill>
          <a:ln w="12700">
            <a:solidFill>
              <a:srgbClr val="1A56B0"/>
            </a:solidFill>
            <a:prstDash val="solid"/>
          </a:ln>
        </p:spPr>
      </p:sp>
      <p:sp>
        <p:nvSpPr>
          <p:cNvPr id="32" name="Text 29"/>
          <p:cNvSpPr/>
          <p:nvPr/>
        </p:nvSpPr>
        <p:spPr>
          <a:xfrm>
            <a:off x="5212080" y="317296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3" name="Text 30"/>
          <p:cNvSpPr/>
          <p:nvPr/>
        </p:nvSpPr>
        <p:spPr>
          <a:xfrm>
            <a:off x="5614416" y="3163824"/>
            <a:ext cx="1280160" cy="182880"/>
          </a:xfrm>
          <a:prstGeom prst="rect">
            <a:avLst/>
          </a:prstGeom>
          <a:noFill/>
          <a:ln/>
        </p:spPr>
        <p:txBody>
          <a:bodyPr wrap="square" lIns="0" tIns="0" rIns="0" bIns="0" rtlCol="0" anchor="ctr"/>
          <a:lstStyle/>
          <a:p>
            <a:pPr indent="0" marL="0">
              <a:buNone/>
            </a:pPr>
            <a:r>
              <a:rPr lang="en-US" sz="1000" b="1" dirty="0">
                <a:solidFill>
                  <a:srgbClr val="0D1B3E"/>
                </a:solidFill>
                <a:latin typeface="Calibri" pitchFamily="34" charset="0"/>
                <a:ea typeface="Calibri" pitchFamily="34" charset="-122"/>
                <a:cs typeface="Calibri" pitchFamily="34" charset="-120"/>
              </a:rPr>
              <a:t>Augmentation</a:t>
            </a:r>
            <a:endParaRPr lang="en-US" sz="1000" dirty="0"/>
          </a:p>
        </p:txBody>
      </p:sp>
      <p:sp>
        <p:nvSpPr>
          <p:cNvPr id="34" name="Text 31"/>
          <p:cNvSpPr/>
          <p:nvPr/>
        </p:nvSpPr>
        <p:spPr>
          <a:xfrm>
            <a:off x="5614416" y="3328416"/>
            <a:ext cx="32004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Flip, rotate, color jitter</a:t>
            </a:r>
            <a:endParaRPr lang="en-US" sz="900" dirty="0"/>
          </a:p>
        </p:txBody>
      </p:sp>
      <p:sp>
        <p:nvSpPr>
          <p:cNvPr id="35" name="Shape 32"/>
          <p:cNvSpPr/>
          <p:nvPr/>
        </p:nvSpPr>
        <p:spPr>
          <a:xfrm>
            <a:off x="5367528" y="3483864"/>
            <a:ext cx="0" cy="164592"/>
          </a:xfrm>
          <a:prstGeom prst="LINE">
            <a:avLst/>
          </a:prstGeom>
          <a:noFill/>
          <a:ln w="19050">
            <a:solidFill>
              <a:srgbClr val="D6E4F7"/>
            </a:solidFill>
            <a:prstDash val="solid"/>
          </a:ln>
        </p:spPr>
      </p:sp>
      <p:sp>
        <p:nvSpPr>
          <p:cNvPr id="36" name="Shape 33"/>
          <p:cNvSpPr/>
          <p:nvPr/>
        </p:nvSpPr>
        <p:spPr>
          <a:xfrm>
            <a:off x="5212080" y="3602736"/>
            <a:ext cx="310896" cy="310896"/>
          </a:xfrm>
          <a:prstGeom prst="OVAL">
            <a:avLst/>
          </a:prstGeom>
          <a:solidFill>
            <a:srgbClr val="1A56B0"/>
          </a:solidFill>
          <a:ln w="12700">
            <a:solidFill>
              <a:srgbClr val="1A56B0"/>
            </a:solidFill>
            <a:prstDash val="solid"/>
          </a:ln>
        </p:spPr>
      </p:sp>
      <p:sp>
        <p:nvSpPr>
          <p:cNvPr id="37" name="Text 34"/>
          <p:cNvSpPr/>
          <p:nvPr/>
        </p:nvSpPr>
        <p:spPr>
          <a:xfrm>
            <a:off x="5212080" y="360273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8" name="Text 35"/>
          <p:cNvSpPr/>
          <p:nvPr/>
        </p:nvSpPr>
        <p:spPr>
          <a:xfrm>
            <a:off x="5614416" y="3593592"/>
            <a:ext cx="1280160" cy="182880"/>
          </a:xfrm>
          <a:prstGeom prst="rect">
            <a:avLst/>
          </a:prstGeom>
          <a:noFill/>
          <a:ln/>
        </p:spPr>
        <p:txBody>
          <a:bodyPr wrap="square" lIns="0" tIns="0" rIns="0" bIns="0" rtlCol="0" anchor="ctr"/>
          <a:lstStyle/>
          <a:p>
            <a:pPr indent="0" marL="0">
              <a:buNone/>
            </a:pPr>
            <a:r>
              <a:rPr lang="en-US" sz="1000" b="1" dirty="0">
                <a:solidFill>
                  <a:srgbClr val="0D1B3E"/>
                </a:solidFill>
                <a:latin typeface="Calibri" pitchFamily="34" charset="0"/>
                <a:ea typeface="Calibri" pitchFamily="34" charset="-122"/>
                <a:cs typeface="Calibri" pitchFamily="34" charset="-120"/>
              </a:rPr>
              <a:t>CutMix</a:t>
            </a:r>
            <a:endParaRPr lang="en-US" sz="1000" dirty="0"/>
          </a:p>
        </p:txBody>
      </p:sp>
      <p:sp>
        <p:nvSpPr>
          <p:cNvPr id="39" name="Text 36"/>
          <p:cNvSpPr/>
          <p:nvPr/>
        </p:nvSpPr>
        <p:spPr>
          <a:xfrm>
            <a:off x="5614416" y="3758184"/>
            <a:ext cx="32004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Alpha=1.0, p=0.3</a:t>
            </a:r>
            <a:endParaRPr lang="en-US" sz="900" dirty="0"/>
          </a:p>
        </p:txBody>
      </p:sp>
      <p:sp>
        <p:nvSpPr>
          <p:cNvPr id="40" name="Shape 37"/>
          <p:cNvSpPr/>
          <p:nvPr/>
        </p:nvSpPr>
        <p:spPr>
          <a:xfrm>
            <a:off x="5367528" y="3913632"/>
            <a:ext cx="0" cy="164592"/>
          </a:xfrm>
          <a:prstGeom prst="LINE">
            <a:avLst/>
          </a:prstGeom>
          <a:noFill/>
          <a:ln w="19050">
            <a:solidFill>
              <a:srgbClr val="D6E4F7"/>
            </a:solidFill>
            <a:prstDash val="solid"/>
          </a:ln>
        </p:spPr>
      </p:sp>
      <p:sp>
        <p:nvSpPr>
          <p:cNvPr id="41" name="Shape 38"/>
          <p:cNvSpPr/>
          <p:nvPr/>
        </p:nvSpPr>
        <p:spPr>
          <a:xfrm>
            <a:off x="5212080" y="4032504"/>
            <a:ext cx="310896" cy="310896"/>
          </a:xfrm>
          <a:prstGeom prst="OVAL">
            <a:avLst/>
          </a:prstGeom>
          <a:solidFill>
            <a:srgbClr val="1A56B0"/>
          </a:solidFill>
          <a:ln w="12700">
            <a:solidFill>
              <a:srgbClr val="1A56B0"/>
            </a:solidFill>
            <a:prstDash val="solid"/>
          </a:ln>
        </p:spPr>
      </p:sp>
      <p:sp>
        <p:nvSpPr>
          <p:cNvPr id="42" name="Text 39"/>
          <p:cNvSpPr/>
          <p:nvPr/>
        </p:nvSpPr>
        <p:spPr>
          <a:xfrm>
            <a:off x="5212080" y="403250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3" name="Text 40"/>
          <p:cNvSpPr/>
          <p:nvPr/>
        </p:nvSpPr>
        <p:spPr>
          <a:xfrm>
            <a:off x="5614416" y="4023360"/>
            <a:ext cx="1280160" cy="182880"/>
          </a:xfrm>
          <a:prstGeom prst="rect">
            <a:avLst/>
          </a:prstGeom>
          <a:noFill/>
          <a:ln/>
        </p:spPr>
        <p:txBody>
          <a:bodyPr wrap="square" lIns="0" tIns="0" rIns="0" bIns="0" rtlCol="0" anchor="ctr"/>
          <a:lstStyle/>
          <a:p>
            <a:pPr indent="0" marL="0">
              <a:buNone/>
            </a:pPr>
            <a:r>
              <a:rPr lang="en-US" sz="1000" b="1" dirty="0">
                <a:solidFill>
                  <a:srgbClr val="0D1B3E"/>
                </a:solidFill>
                <a:latin typeface="Calibri" pitchFamily="34" charset="0"/>
                <a:ea typeface="Calibri" pitchFamily="34" charset="-122"/>
                <a:cs typeface="Calibri" pitchFamily="34" charset="-120"/>
              </a:rPr>
              <a:t>WeightedSampler</a:t>
            </a:r>
            <a:endParaRPr lang="en-US" sz="1000" dirty="0"/>
          </a:p>
        </p:txBody>
      </p:sp>
      <p:sp>
        <p:nvSpPr>
          <p:cNvPr id="44" name="Text 41"/>
          <p:cNvSpPr/>
          <p:nvPr/>
        </p:nvSpPr>
        <p:spPr>
          <a:xfrm>
            <a:off x="5614416" y="4187952"/>
            <a:ext cx="32004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Balanced batch mixing</a:t>
            </a:r>
            <a:endParaRPr lang="en-US" sz="900" dirty="0"/>
          </a:p>
        </p:txBody>
      </p:sp>
      <p:sp>
        <p:nvSpPr>
          <p:cNvPr id="45" name="Shape 42"/>
          <p:cNvSpPr/>
          <p:nvPr/>
        </p:nvSpPr>
        <p:spPr>
          <a:xfrm>
            <a:off x="5367528" y="4343400"/>
            <a:ext cx="0" cy="164592"/>
          </a:xfrm>
          <a:prstGeom prst="LINE">
            <a:avLst/>
          </a:prstGeom>
          <a:noFill/>
          <a:ln w="19050">
            <a:solidFill>
              <a:srgbClr val="D6E4F7"/>
            </a:solidFill>
            <a:prstDash val="solid"/>
          </a:ln>
        </p:spPr>
      </p:sp>
      <p:sp>
        <p:nvSpPr>
          <p:cNvPr id="46" name="Shape 43"/>
          <p:cNvSpPr/>
          <p:nvPr/>
        </p:nvSpPr>
        <p:spPr>
          <a:xfrm>
            <a:off x="5212080" y="4462272"/>
            <a:ext cx="310896" cy="310896"/>
          </a:xfrm>
          <a:prstGeom prst="OVAL">
            <a:avLst/>
          </a:prstGeom>
          <a:solidFill>
            <a:srgbClr val="1A56B0"/>
          </a:solidFill>
          <a:ln w="12700">
            <a:solidFill>
              <a:srgbClr val="1A56B0"/>
            </a:solidFill>
            <a:prstDash val="solid"/>
          </a:ln>
        </p:spPr>
      </p:sp>
      <p:sp>
        <p:nvSpPr>
          <p:cNvPr id="47" name="Text 44"/>
          <p:cNvSpPr/>
          <p:nvPr/>
        </p:nvSpPr>
        <p:spPr>
          <a:xfrm>
            <a:off x="5212080" y="446227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8" name="Text 45"/>
          <p:cNvSpPr/>
          <p:nvPr/>
        </p:nvSpPr>
        <p:spPr>
          <a:xfrm>
            <a:off x="5614416" y="4453128"/>
            <a:ext cx="1280160" cy="182880"/>
          </a:xfrm>
          <a:prstGeom prst="rect">
            <a:avLst/>
          </a:prstGeom>
          <a:noFill/>
          <a:ln/>
        </p:spPr>
        <p:txBody>
          <a:bodyPr wrap="square" lIns="0" tIns="0" rIns="0" bIns="0" rtlCol="0" anchor="ctr"/>
          <a:lstStyle/>
          <a:p>
            <a:pPr indent="0" marL="0">
              <a:buNone/>
            </a:pPr>
            <a:r>
              <a:rPr lang="en-US" sz="1000" b="1" dirty="0">
                <a:solidFill>
                  <a:srgbClr val="0D1B3E"/>
                </a:solidFill>
                <a:latin typeface="Calibri" pitchFamily="34" charset="0"/>
                <a:ea typeface="Calibri" pitchFamily="34" charset="-122"/>
                <a:cs typeface="Calibri" pitchFamily="34" charset="-120"/>
              </a:rPr>
              <a:t>Label Smoothing</a:t>
            </a:r>
            <a:endParaRPr lang="en-US" sz="1000" dirty="0"/>
          </a:p>
        </p:txBody>
      </p:sp>
      <p:sp>
        <p:nvSpPr>
          <p:cNvPr id="49" name="Text 46"/>
          <p:cNvSpPr/>
          <p:nvPr/>
        </p:nvSpPr>
        <p:spPr>
          <a:xfrm>
            <a:off x="5614416" y="4617720"/>
            <a:ext cx="32004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Epsilon = 0.1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3E"/>
          </a:solidFill>
          <a:ln w="12700">
            <a:solidFill>
              <a:srgbClr val="0D1B3E"/>
            </a:solidFill>
            <a:prstDash val="solid"/>
          </a:ln>
        </p:spPr>
      </p:sp>
      <p:sp>
        <p:nvSpPr>
          <p:cNvPr id="3" name="Text 1"/>
          <p:cNvSpPr/>
          <p:nvPr/>
        </p:nvSpPr>
        <p:spPr>
          <a:xfrm>
            <a:off x="274320" y="45720"/>
            <a:ext cx="8595360"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System Architecture</a:t>
            </a:r>
            <a:endParaRPr lang="en-US" sz="2200" dirty="0"/>
          </a:p>
        </p:txBody>
      </p:sp>
      <p:sp>
        <p:nvSpPr>
          <p:cNvPr id="4" name="Text 2"/>
          <p:cNvSpPr/>
          <p:nvPr/>
        </p:nvSpPr>
        <p:spPr>
          <a:xfrm>
            <a:off x="274320" y="548640"/>
            <a:ext cx="8595360" cy="274320"/>
          </a:xfrm>
          <a:prstGeom prst="rect">
            <a:avLst/>
          </a:prstGeom>
          <a:noFill/>
          <a:ln/>
        </p:spPr>
        <p:txBody>
          <a:bodyPr wrap="square" lIns="0" tIns="0" rIns="0" bIns="0" rtlCol="0" anchor="ctr"/>
          <a:lstStyle/>
          <a:p>
            <a:pPr algn="l" indent="0" marL="0">
              <a:buNone/>
            </a:pPr>
            <a:r>
              <a:rPr lang="en-US" sz="1100" dirty="0">
                <a:solidFill>
                  <a:srgbClr val="B0C4DE"/>
                </a:solidFill>
                <a:latin typeface="Calibri" pitchFamily="34" charset="0"/>
                <a:ea typeface="Calibri" pitchFamily="34" charset="-122"/>
                <a:cs typeface="Calibri" pitchFamily="34" charset="-120"/>
              </a:rPr>
              <a:t>End-to-End Pipeline: From Raw Skin Image to Clinical Prediction</a:t>
            </a:r>
            <a:endParaRPr lang="en-US" sz="1100" dirty="0"/>
          </a:p>
        </p:txBody>
      </p:sp>
      <p:sp>
        <p:nvSpPr>
          <p:cNvPr id="5" name="Shape 3"/>
          <p:cNvSpPr/>
          <p:nvPr/>
        </p:nvSpPr>
        <p:spPr>
          <a:xfrm>
            <a:off x="0" y="868680"/>
            <a:ext cx="9144000" cy="36576"/>
          </a:xfrm>
          <a:prstGeom prst="rect">
            <a:avLst/>
          </a:prstGeom>
          <a:solidFill>
            <a:srgbClr val="1A56B0"/>
          </a:solidFill>
          <a:ln w="12700">
            <a:solidFill>
              <a:srgbClr val="1A56B0"/>
            </a:solidFill>
            <a:prstDash val="solid"/>
          </a:ln>
        </p:spPr>
      </p:sp>
      <p:sp>
        <p:nvSpPr>
          <p:cNvPr id="6" name="Shape 4"/>
          <p:cNvSpPr/>
          <p:nvPr/>
        </p:nvSpPr>
        <p:spPr>
          <a:xfrm>
            <a:off x="182880" y="987552"/>
            <a:ext cx="1600200" cy="1371600"/>
          </a:xfrm>
          <a:prstGeom prst="roundRect">
            <a:avLst>
              <a:gd name="adj" fmla="val 6667"/>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758952" y="1051560"/>
            <a:ext cx="457200" cy="457200"/>
          </a:xfrm>
          <a:prstGeom prst="rect">
            <a:avLst/>
          </a:prstGeom>
        </p:spPr>
      </p:pic>
      <p:sp>
        <p:nvSpPr>
          <p:cNvPr id="8" name="Shape 5"/>
          <p:cNvSpPr/>
          <p:nvPr/>
        </p:nvSpPr>
        <p:spPr>
          <a:xfrm>
            <a:off x="713232" y="1024128"/>
            <a:ext cx="548640" cy="548640"/>
          </a:xfrm>
          <a:prstGeom prst="OVAL">
            <a:avLst/>
          </a:prstGeom>
          <a:solidFill>
            <a:srgbClr val="1A56B0">
              <a:alpha val="20000"/>
            </a:srgbClr>
          </a:solidFill>
          <a:ln w="12700">
            <a:solidFill>
              <a:srgbClr val="1A56B0"/>
            </a:solidFill>
            <a:prstDash val="solid"/>
          </a:ln>
        </p:spPr>
      </p:sp>
      <p:sp>
        <p:nvSpPr>
          <p:cNvPr id="9" name="Text 6"/>
          <p:cNvSpPr/>
          <p:nvPr/>
        </p:nvSpPr>
        <p:spPr>
          <a:xfrm>
            <a:off x="228600" y="1536192"/>
            <a:ext cx="1508760" cy="685800"/>
          </a:xfrm>
          <a:prstGeom prst="rect">
            <a:avLst/>
          </a:prstGeom>
          <a:noFill/>
          <a:ln/>
        </p:spPr>
        <p:txBody>
          <a:bodyPr wrap="square" lIns="0" tIns="0" rIns="0" bIns="0" rtlCol="0" anchor="t"/>
          <a:lstStyle/>
          <a:p>
            <a:pPr algn="ctr" indent="0" marL="0">
              <a:buNone/>
            </a:pPr>
            <a:r>
              <a:rPr lang="en-US" sz="1000" b="1" dirty="0">
                <a:solidFill>
                  <a:srgbClr val="0D1B3E"/>
                </a:solidFill>
                <a:latin typeface="Calibri" pitchFamily="34" charset="0"/>
                <a:ea typeface="Calibri" pitchFamily="34" charset="-122"/>
                <a:cs typeface="Calibri" pitchFamily="34" charset="-120"/>
              </a:rPr>
              <a:t>Raw Skin</a:t>
            </a:r>
            <a:endParaRPr lang="en-US" sz="1000" dirty="0"/>
          </a:p>
          <a:p>
            <a:pPr algn="ctr" indent="0" marL="0">
              <a:buNone/>
            </a:pPr>
            <a:r>
              <a:rPr lang="en-US" sz="1000" b="1" dirty="0">
                <a:solidFill>
                  <a:srgbClr val="0D1B3E"/>
                </a:solidFill>
                <a:latin typeface="Calibri" pitchFamily="34" charset="0"/>
                <a:ea typeface="Calibri" pitchFamily="34" charset="-122"/>
                <a:cs typeface="Calibri" pitchFamily="34" charset="-120"/>
              </a:rPr>
              <a:t>Image</a:t>
            </a:r>
            <a:endParaRPr lang="en-US" sz="1000" dirty="0"/>
          </a:p>
        </p:txBody>
      </p:sp>
      <p:sp>
        <p:nvSpPr>
          <p:cNvPr id="10" name="Shape 7"/>
          <p:cNvSpPr/>
          <p:nvPr/>
        </p:nvSpPr>
        <p:spPr>
          <a:xfrm>
            <a:off x="1783080" y="1673352"/>
            <a:ext cx="320040" cy="0"/>
          </a:xfrm>
          <a:prstGeom prst="LINE">
            <a:avLst/>
          </a:prstGeom>
          <a:noFill/>
          <a:ln w="25400">
            <a:solidFill>
              <a:srgbClr val="1A56B0"/>
            </a:solidFill>
            <a:prstDash val="solid"/>
          </a:ln>
        </p:spPr>
      </p:sp>
      <p:sp>
        <p:nvSpPr>
          <p:cNvPr id="11" name="Text 8"/>
          <p:cNvSpPr/>
          <p:nvPr/>
        </p:nvSpPr>
        <p:spPr>
          <a:xfrm>
            <a:off x="2011680" y="1572768"/>
            <a:ext cx="182880" cy="201168"/>
          </a:xfrm>
          <a:prstGeom prst="rect">
            <a:avLst/>
          </a:prstGeom>
          <a:noFill/>
          <a:ln/>
        </p:spPr>
        <p:txBody>
          <a:bodyPr wrap="square" lIns="0" tIns="0" rIns="0" bIns="0" rtlCol="0" anchor="ctr"/>
          <a:lstStyle/>
          <a:p>
            <a:pPr algn="ctr" indent="0" marL="0">
              <a:buNone/>
            </a:pPr>
            <a:r>
              <a:rPr lang="en-US" sz="1000" dirty="0">
                <a:solidFill>
                  <a:srgbClr val="1A56B0"/>
                </a:solidFill>
                <a:latin typeface="Calibri" pitchFamily="34" charset="0"/>
                <a:ea typeface="Calibri" pitchFamily="34" charset="-122"/>
                <a:cs typeface="Calibri" pitchFamily="34" charset="-120"/>
              </a:rPr>
              <a:t>▶</a:t>
            </a:r>
            <a:endParaRPr lang="en-US" sz="1000" dirty="0"/>
          </a:p>
        </p:txBody>
      </p:sp>
      <p:sp>
        <p:nvSpPr>
          <p:cNvPr id="12" name="Shape 9"/>
          <p:cNvSpPr/>
          <p:nvPr/>
        </p:nvSpPr>
        <p:spPr>
          <a:xfrm>
            <a:off x="1920240" y="987552"/>
            <a:ext cx="1600200" cy="1371600"/>
          </a:xfrm>
          <a:prstGeom prst="roundRect">
            <a:avLst>
              <a:gd name="adj" fmla="val 6667"/>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pic>
        <p:nvPicPr>
          <p:cNvPr id="13" name="Image 1" descr="preencoded.png">    </p:cNvPr>
          <p:cNvPicPr>
            <a:picLocks noChangeAspect="1"/>
          </p:cNvPicPr>
          <p:nvPr/>
        </p:nvPicPr>
        <p:blipFill>
          <a:blip r:embed="rId2"/>
          <a:stretch>
            <a:fillRect/>
          </a:stretch>
        </p:blipFill>
        <p:spPr>
          <a:xfrm>
            <a:off x="2496312" y="1051560"/>
            <a:ext cx="457200" cy="457200"/>
          </a:xfrm>
          <a:prstGeom prst="rect">
            <a:avLst/>
          </a:prstGeom>
        </p:spPr>
      </p:pic>
      <p:sp>
        <p:nvSpPr>
          <p:cNvPr id="14" name="Shape 10"/>
          <p:cNvSpPr/>
          <p:nvPr/>
        </p:nvSpPr>
        <p:spPr>
          <a:xfrm>
            <a:off x="2450592" y="1024128"/>
            <a:ext cx="548640" cy="548640"/>
          </a:xfrm>
          <a:prstGeom prst="OVAL">
            <a:avLst/>
          </a:prstGeom>
          <a:solidFill>
            <a:srgbClr val="0D8A6E">
              <a:alpha val="20000"/>
            </a:srgbClr>
          </a:solidFill>
          <a:ln w="12700">
            <a:solidFill>
              <a:srgbClr val="0D8A6E"/>
            </a:solidFill>
            <a:prstDash val="solid"/>
          </a:ln>
        </p:spPr>
      </p:sp>
      <p:sp>
        <p:nvSpPr>
          <p:cNvPr id="15" name="Text 11"/>
          <p:cNvSpPr/>
          <p:nvPr/>
        </p:nvSpPr>
        <p:spPr>
          <a:xfrm>
            <a:off x="1965960" y="1536192"/>
            <a:ext cx="1508760" cy="685800"/>
          </a:xfrm>
          <a:prstGeom prst="rect">
            <a:avLst/>
          </a:prstGeom>
          <a:noFill/>
          <a:ln/>
        </p:spPr>
        <p:txBody>
          <a:bodyPr wrap="square" lIns="0" tIns="0" rIns="0" bIns="0" rtlCol="0" anchor="t"/>
          <a:lstStyle/>
          <a:p>
            <a:pPr algn="ctr" indent="0" marL="0">
              <a:buNone/>
            </a:pPr>
            <a:r>
              <a:rPr lang="en-US" sz="1000" b="1" dirty="0">
                <a:solidFill>
                  <a:srgbClr val="0D1B3E"/>
                </a:solidFill>
                <a:latin typeface="Calibri" pitchFamily="34" charset="0"/>
                <a:ea typeface="Calibri" pitchFamily="34" charset="-122"/>
                <a:cs typeface="Calibri" pitchFamily="34" charset="-120"/>
              </a:rPr>
              <a:t>Image</a:t>
            </a:r>
            <a:endParaRPr lang="en-US" sz="1000" dirty="0"/>
          </a:p>
          <a:p>
            <a:pPr algn="ctr" indent="0" marL="0">
              <a:buNone/>
            </a:pPr>
            <a:r>
              <a:rPr lang="en-US" sz="1000" b="1" dirty="0">
                <a:solidFill>
                  <a:srgbClr val="0D1B3E"/>
                </a:solidFill>
                <a:latin typeface="Calibri" pitchFamily="34" charset="0"/>
                <a:ea typeface="Calibri" pitchFamily="34" charset="-122"/>
                <a:cs typeface="Calibri" pitchFamily="34" charset="-120"/>
              </a:rPr>
              <a:t>Preprocessing</a:t>
            </a:r>
            <a:endParaRPr lang="en-US" sz="1000" dirty="0"/>
          </a:p>
        </p:txBody>
      </p:sp>
      <p:sp>
        <p:nvSpPr>
          <p:cNvPr id="16" name="Shape 12"/>
          <p:cNvSpPr/>
          <p:nvPr/>
        </p:nvSpPr>
        <p:spPr>
          <a:xfrm>
            <a:off x="3520440" y="1673352"/>
            <a:ext cx="320040" cy="0"/>
          </a:xfrm>
          <a:prstGeom prst="LINE">
            <a:avLst/>
          </a:prstGeom>
          <a:noFill/>
          <a:ln w="25400">
            <a:solidFill>
              <a:srgbClr val="1A56B0"/>
            </a:solidFill>
            <a:prstDash val="solid"/>
          </a:ln>
        </p:spPr>
      </p:sp>
      <p:sp>
        <p:nvSpPr>
          <p:cNvPr id="17" name="Text 13"/>
          <p:cNvSpPr/>
          <p:nvPr/>
        </p:nvSpPr>
        <p:spPr>
          <a:xfrm>
            <a:off x="3749040" y="1572768"/>
            <a:ext cx="182880" cy="201168"/>
          </a:xfrm>
          <a:prstGeom prst="rect">
            <a:avLst/>
          </a:prstGeom>
          <a:noFill/>
          <a:ln/>
        </p:spPr>
        <p:txBody>
          <a:bodyPr wrap="square" lIns="0" tIns="0" rIns="0" bIns="0" rtlCol="0" anchor="ctr"/>
          <a:lstStyle/>
          <a:p>
            <a:pPr algn="ctr" indent="0" marL="0">
              <a:buNone/>
            </a:pPr>
            <a:r>
              <a:rPr lang="en-US" sz="1000" dirty="0">
                <a:solidFill>
                  <a:srgbClr val="1A56B0"/>
                </a:solidFill>
                <a:latin typeface="Calibri" pitchFamily="34" charset="0"/>
                <a:ea typeface="Calibri" pitchFamily="34" charset="-122"/>
                <a:cs typeface="Calibri" pitchFamily="34" charset="-120"/>
              </a:rPr>
              <a:t>▶</a:t>
            </a:r>
            <a:endParaRPr lang="en-US" sz="1000" dirty="0"/>
          </a:p>
        </p:txBody>
      </p:sp>
      <p:sp>
        <p:nvSpPr>
          <p:cNvPr id="18" name="Shape 14"/>
          <p:cNvSpPr/>
          <p:nvPr/>
        </p:nvSpPr>
        <p:spPr>
          <a:xfrm>
            <a:off x="3657600" y="987552"/>
            <a:ext cx="1600200" cy="1371600"/>
          </a:xfrm>
          <a:prstGeom prst="roundRect">
            <a:avLst>
              <a:gd name="adj" fmla="val 6667"/>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pic>
        <p:nvPicPr>
          <p:cNvPr id="19" name="Image 2" descr="preencoded.png">    </p:cNvPr>
          <p:cNvPicPr>
            <a:picLocks noChangeAspect="1"/>
          </p:cNvPicPr>
          <p:nvPr/>
        </p:nvPicPr>
        <p:blipFill>
          <a:blip r:embed="rId3"/>
          <a:stretch>
            <a:fillRect/>
          </a:stretch>
        </p:blipFill>
        <p:spPr>
          <a:xfrm>
            <a:off x="4233672" y="1051560"/>
            <a:ext cx="457200" cy="457200"/>
          </a:xfrm>
          <a:prstGeom prst="rect">
            <a:avLst/>
          </a:prstGeom>
        </p:spPr>
      </p:pic>
      <p:sp>
        <p:nvSpPr>
          <p:cNvPr id="20" name="Shape 15"/>
          <p:cNvSpPr/>
          <p:nvPr/>
        </p:nvSpPr>
        <p:spPr>
          <a:xfrm>
            <a:off x="4187952" y="1024128"/>
            <a:ext cx="548640" cy="548640"/>
          </a:xfrm>
          <a:prstGeom prst="OVAL">
            <a:avLst/>
          </a:prstGeom>
          <a:solidFill>
            <a:srgbClr val="D97706">
              <a:alpha val="20000"/>
            </a:srgbClr>
          </a:solidFill>
          <a:ln w="12700">
            <a:solidFill>
              <a:srgbClr val="D97706"/>
            </a:solidFill>
            <a:prstDash val="solid"/>
          </a:ln>
        </p:spPr>
      </p:sp>
      <p:sp>
        <p:nvSpPr>
          <p:cNvPr id="21" name="Text 16"/>
          <p:cNvSpPr/>
          <p:nvPr/>
        </p:nvSpPr>
        <p:spPr>
          <a:xfrm>
            <a:off x="3703320" y="1536192"/>
            <a:ext cx="1508760" cy="685800"/>
          </a:xfrm>
          <a:prstGeom prst="rect">
            <a:avLst/>
          </a:prstGeom>
          <a:noFill/>
          <a:ln/>
        </p:spPr>
        <p:txBody>
          <a:bodyPr wrap="square" lIns="0" tIns="0" rIns="0" bIns="0" rtlCol="0" anchor="t"/>
          <a:lstStyle/>
          <a:p>
            <a:pPr algn="ctr" indent="0" marL="0">
              <a:buNone/>
            </a:pPr>
            <a:r>
              <a:rPr lang="en-US" sz="1000" b="1" dirty="0">
                <a:solidFill>
                  <a:srgbClr val="0D1B3E"/>
                </a:solidFill>
                <a:latin typeface="Calibri" pitchFamily="34" charset="0"/>
                <a:ea typeface="Calibri" pitchFamily="34" charset="-122"/>
                <a:cs typeface="Calibri" pitchFamily="34" charset="-120"/>
              </a:rPr>
              <a:t>Data</a:t>
            </a:r>
            <a:endParaRPr lang="en-US" sz="1000" dirty="0"/>
          </a:p>
          <a:p>
            <a:pPr algn="ctr" indent="0" marL="0">
              <a:buNone/>
            </a:pPr>
            <a:r>
              <a:rPr lang="en-US" sz="1000" b="1" dirty="0">
                <a:solidFill>
                  <a:srgbClr val="0D1B3E"/>
                </a:solidFill>
                <a:latin typeface="Calibri" pitchFamily="34" charset="0"/>
                <a:ea typeface="Calibri" pitchFamily="34" charset="-122"/>
                <a:cs typeface="Calibri" pitchFamily="34" charset="-120"/>
              </a:rPr>
              <a:t>Augmentation</a:t>
            </a:r>
            <a:endParaRPr lang="en-US" sz="1000" dirty="0"/>
          </a:p>
        </p:txBody>
      </p:sp>
      <p:sp>
        <p:nvSpPr>
          <p:cNvPr id="22" name="Shape 17"/>
          <p:cNvSpPr/>
          <p:nvPr/>
        </p:nvSpPr>
        <p:spPr>
          <a:xfrm>
            <a:off x="5257800" y="1673352"/>
            <a:ext cx="320040" cy="0"/>
          </a:xfrm>
          <a:prstGeom prst="LINE">
            <a:avLst/>
          </a:prstGeom>
          <a:noFill/>
          <a:ln w="25400">
            <a:solidFill>
              <a:srgbClr val="1A56B0"/>
            </a:solidFill>
            <a:prstDash val="solid"/>
          </a:ln>
        </p:spPr>
      </p:sp>
      <p:sp>
        <p:nvSpPr>
          <p:cNvPr id="23" name="Text 18"/>
          <p:cNvSpPr/>
          <p:nvPr/>
        </p:nvSpPr>
        <p:spPr>
          <a:xfrm>
            <a:off x="5486400" y="1572768"/>
            <a:ext cx="182880" cy="201168"/>
          </a:xfrm>
          <a:prstGeom prst="rect">
            <a:avLst/>
          </a:prstGeom>
          <a:noFill/>
          <a:ln/>
        </p:spPr>
        <p:txBody>
          <a:bodyPr wrap="square" lIns="0" tIns="0" rIns="0" bIns="0" rtlCol="0" anchor="ctr"/>
          <a:lstStyle/>
          <a:p>
            <a:pPr algn="ctr" indent="0" marL="0">
              <a:buNone/>
            </a:pPr>
            <a:r>
              <a:rPr lang="en-US" sz="1000" dirty="0">
                <a:solidFill>
                  <a:srgbClr val="1A56B0"/>
                </a:solidFill>
                <a:latin typeface="Calibri" pitchFamily="34" charset="0"/>
                <a:ea typeface="Calibri" pitchFamily="34" charset="-122"/>
                <a:cs typeface="Calibri" pitchFamily="34" charset="-120"/>
              </a:rPr>
              <a:t>▶</a:t>
            </a:r>
            <a:endParaRPr lang="en-US" sz="1000" dirty="0"/>
          </a:p>
        </p:txBody>
      </p:sp>
      <p:sp>
        <p:nvSpPr>
          <p:cNvPr id="24" name="Shape 19"/>
          <p:cNvSpPr/>
          <p:nvPr/>
        </p:nvSpPr>
        <p:spPr>
          <a:xfrm>
            <a:off x="5394960" y="987552"/>
            <a:ext cx="1600200" cy="1371600"/>
          </a:xfrm>
          <a:prstGeom prst="roundRect">
            <a:avLst>
              <a:gd name="adj" fmla="val 6667"/>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pic>
        <p:nvPicPr>
          <p:cNvPr id="25" name="Image 3" descr="preencoded.png">    </p:cNvPr>
          <p:cNvPicPr>
            <a:picLocks noChangeAspect="1"/>
          </p:cNvPicPr>
          <p:nvPr/>
        </p:nvPicPr>
        <p:blipFill>
          <a:blip r:embed="rId4"/>
          <a:stretch>
            <a:fillRect/>
          </a:stretch>
        </p:blipFill>
        <p:spPr>
          <a:xfrm>
            <a:off x="5971032" y="1051560"/>
            <a:ext cx="457200" cy="457200"/>
          </a:xfrm>
          <a:prstGeom prst="rect">
            <a:avLst/>
          </a:prstGeom>
        </p:spPr>
      </p:pic>
      <p:sp>
        <p:nvSpPr>
          <p:cNvPr id="26" name="Shape 20"/>
          <p:cNvSpPr/>
          <p:nvPr/>
        </p:nvSpPr>
        <p:spPr>
          <a:xfrm>
            <a:off x="5925312" y="1024128"/>
            <a:ext cx="548640" cy="548640"/>
          </a:xfrm>
          <a:prstGeom prst="OVAL">
            <a:avLst/>
          </a:prstGeom>
          <a:solidFill>
            <a:srgbClr val="1A56B0">
              <a:alpha val="20000"/>
            </a:srgbClr>
          </a:solidFill>
          <a:ln w="12700">
            <a:solidFill>
              <a:srgbClr val="1A56B0"/>
            </a:solidFill>
            <a:prstDash val="solid"/>
          </a:ln>
        </p:spPr>
      </p:sp>
      <p:sp>
        <p:nvSpPr>
          <p:cNvPr id="27" name="Text 21"/>
          <p:cNvSpPr/>
          <p:nvPr/>
        </p:nvSpPr>
        <p:spPr>
          <a:xfrm>
            <a:off x="5440680" y="1536192"/>
            <a:ext cx="1508760" cy="685800"/>
          </a:xfrm>
          <a:prstGeom prst="rect">
            <a:avLst/>
          </a:prstGeom>
          <a:noFill/>
          <a:ln/>
        </p:spPr>
        <p:txBody>
          <a:bodyPr wrap="square" lIns="0" tIns="0" rIns="0" bIns="0" rtlCol="0" anchor="t"/>
          <a:lstStyle/>
          <a:p>
            <a:pPr algn="ctr" indent="0" marL="0">
              <a:buNone/>
            </a:pPr>
            <a:r>
              <a:rPr lang="en-US" sz="1000" b="1" dirty="0">
                <a:solidFill>
                  <a:srgbClr val="0D1B3E"/>
                </a:solidFill>
                <a:latin typeface="Calibri" pitchFamily="34" charset="0"/>
                <a:ea typeface="Calibri" pitchFamily="34" charset="-122"/>
                <a:cs typeface="Calibri" pitchFamily="34" charset="-120"/>
              </a:rPr>
              <a:t>Transfer</a:t>
            </a:r>
            <a:endParaRPr lang="en-US" sz="1000" dirty="0"/>
          </a:p>
          <a:p>
            <a:pPr algn="ctr" indent="0" marL="0">
              <a:buNone/>
            </a:pPr>
            <a:r>
              <a:rPr lang="en-US" sz="1000" b="1" dirty="0">
                <a:solidFill>
                  <a:srgbClr val="0D1B3E"/>
                </a:solidFill>
                <a:latin typeface="Calibri" pitchFamily="34" charset="0"/>
                <a:ea typeface="Calibri" pitchFamily="34" charset="-122"/>
                <a:cs typeface="Calibri" pitchFamily="34" charset="-120"/>
              </a:rPr>
              <a:t>Learning</a:t>
            </a:r>
            <a:endParaRPr lang="en-US" sz="1000" dirty="0"/>
          </a:p>
        </p:txBody>
      </p:sp>
      <p:sp>
        <p:nvSpPr>
          <p:cNvPr id="28" name="Shape 22"/>
          <p:cNvSpPr/>
          <p:nvPr/>
        </p:nvSpPr>
        <p:spPr>
          <a:xfrm>
            <a:off x="6995160" y="1673352"/>
            <a:ext cx="320040" cy="0"/>
          </a:xfrm>
          <a:prstGeom prst="LINE">
            <a:avLst/>
          </a:prstGeom>
          <a:noFill/>
          <a:ln w="25400">
            <a:solidFill>
              <a:srgbClr val="1A56B0"/>
            </a:solidFill>
            <a:prstDash val="solid"/>
          </a:ln>
        </p:spPr>
      </p:sp>
      <p:sp>
        <p:nvSpPr>
          <p:cNvPr id="29" name="Text 23"/>
          <p:cNvSpPr/>
          <p:nvPr/>
        </p:nvSpPr>
        <p:spPr>
          <a:xfrm>
            <a:off x="7223760" y="1572768"/>
            <a:ext cx="182880" cy="201168"/>
          </a:xfrm>
          <a:prstGeom prst="rect">
            <a:avLst/>
          </a:prstGeom>
          <a:noFill/>
          <a:ln/>
        </p:spPr>
        <p:txBody>
          <a:bodyPr wrap="square" lIns="0" tIns="0" rIns="0" bIns="0" rtlCol="0" anchor="ctr"/>
          <a:lstStyle/>
          <a:p>
            <a:pPr algn="ctr" indent="0" marL="0">
              <a:buNone/>
            </a:pPr>
            <a:r>
              <a:rPr lang="en-US" sz="1000" dirty="0">
                <a:solidFill>
                  <a:srgbClr val="1A56B0"/>
                </a:solidFill>
                <a:latin typeface="Calibri" pitchFamily="34" charset="0"/>
                <a:ea typeface="Calibri" pitchFamily="34" charset="-122"/>
                <a:cs typeface="Calibri" pitchFamily="34" charset="-120"/>
              </a:rPr>
              <a:t>▶</a:t>
            </a:r>
            <a:endParaRPr lang="en-US" sz="1000" dirty="0"/>
          </a:p>
        </p:txBody>
      </p:sp>
      <p:sp>
        <p:nvSpPr>
          <p:cNvPr id="30" name="Shape 24"/>
          <p:cNvSpPr/>
          <p:nvPr/>
        </p:nvSpPr>
        <p:spPr>
          <a:xfrm>
            <a:off x="7132320" y="987552"/>
            <a:ext cx="1600200" cy="1371600"/>
          </a:xfrm>
          <a:prstGeom prst="roundRect">
            <a:avLst>
              <a:gd name="adj" fmla="val 6667"/>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pic>
        <p:nvPicPr>
          <p:cNvPr id="31" name="Image 4" descr="preencoded.png">    </p:cNvPr>
          <p:cNvPicPr>
            <a:picLocks noChangeAspect="1"/>
          </p:cNvPicPr>
          <p:nvPr/>
        </p:nvPicPr>
        <p:blipFill>
          <a:blip r:embed="rId5"/>
          <a:stretch>
            <a:fillRect/>
          </a:stretch>
        </p:blipFill>
        <p:spPr>
          <a:xfrm>
            <a:off x="7708392" y="1051560"/>
            <a:ext cx="457200" cy="457200"/>
          </a:xfrm>
          <a:prstGeom prst="rect">
            <a:avLst/>
          </a:prstGeom>
        </p:spPr>
      </p:pic>
      <p:sp>
        <p:nvSpPr>
          <p:cNvPr id="32" name="Shape 25"/>
          <p:cNvSpPr/>
          <p:nvPr/>
        </p:nvSpPr>
        <p:spPr>
          <a:xfrm>
            <a:off x="7662672" y="1024128"/>
            <a:ext cx="548640" cy="548640"/>
          </a:xfrm>
          <a:prstGeom prst="OVAL">
            <a:avLst/>
          </a:prstGeom>
          <a:solidFill>
            <a:srgbClr val="E85D26">
              <a:alpha val="20000"/>
            </a:srgbClr>
          </a:solidFill>
          <a:ln w="12700">
            <a:solidFill>
              <a:srgbClr val="E85D26"/>
            </a:solidFill>
            <a:prstDash val="solid"/>
          </a:ln>
        </p:spPr>
      </p:sp>
      <p:sp>
        <p:nvSpPr>
          <p:cNvPr id="33" name="Text 26"/>
          <p:cNvSpPr/>
          <p:nvPr/>
        </p:nvSpPr>
        <p:spPr>
          <a:xfrm>
            <a:off x="7178040" y="1536192"/>
            <a:ext cx="1508760" cy="685800"/>
          </a:xfrm>
          <a:prstGeom prst="rect">
            <a:avLst/>
          </a:prstGeom>
          <a:noFill/>
          <a:ln/>
        </p:spPr>
        <p:txBody>
          <a:bodyPr wrap="square" lIns="0" tIns="0" rIns="0" bIns="0" rtlCol="0" anchor="t"/>
          <a:lstStyle/>
          <a:p>
            <a:pPr algn="ctr" indent="0" marL="0">
              <a:buNone/>
            </a:pPr>
            <a:r>
              <a:rPr lang="en-US" sz="1000" b="1" dirty="0">
                <a:solidFill>
                  <a:srgbClr val="0D1B3E"/>
                </a:solidFill>
                <a:latin typeface="Calibri" pitchFamily="34" charset="0"/>
                <a:ea typeface="Calibri" pitchFamily="34" charset="-122"/>
                <a:cs typeface="Calibri" pitchFamily="34" charset="-120"/>
              </a:rPr>
              <a:t>Model</a:t>
            </a:r>
            <a:endParaRPr lang="en-US" sz="1000" dirty="0"/>
          </a:p>
          <a:p>
            <a:pPr algn="ctr" indent="0" marL="0">
              <a:buNone/>
            </a:pPr>
            <a:r>
              <a:rPr lang="en-US" sz="1000" b="1" dirty="0">
                <a:solidFill>
                  <a:srgbClr val="0D1B3E"/>
                </a:solidFill>
                <a:latin typeface="Calibri" pitchFamily="34" charset="0"/>
                <a:ea typeface="Calibri" pitchFamily="34" charset="-122"/>
                <a:cs typeface="Calibri" pitchFamily="34" charset="-120"/>
              </a:rPr>
              <a:t>Training</a:t>
            </a:r>
            <a:endParaRPr lang="en-US" sz="1000" dirty="0"/>
          </a:p>
        </p:txBody>
      </p:sp>
      <p:sp>
        <p:nvSpPr>
          <p:cNvPr id="34" name="Shape 27"/>
          <p:cNvSpPr/>
          <p:nvPr/>
        </p:nvSpPr>
        <p:spPr>
          <a:xfrm>
            <a:off x="182880" y="2578608"/>
            <a:ext cx="1600200" cy="1371600"/>
          </a:xfrm>
          <a:prstGeom prst="roundRect">
            <a:avLst>
              <a:gd name="adj" fmla="val 6667"/>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pic>
        <p:nvPicPr>
          <p:cNvPr id="35" name="Image 5" descr="preencoded.png">    </p:cNvPr>
          <p:cNvPicPr>
            <a:picLocks noChangeAspect="1"/>
          </p:cNvPicPr>
          <p:nvPr/>
        </p:nvPicPr>
        <p:blipFill>
          <a:blip r:embed="rId6"/>
          <a:stretch>
            <a:fillRect/>
          </a:stretch>
        </p:blipFill>
        <p:spPr>
          <a:xfrm>
            <a:off x="758952" y="2651760"/>
            <a:ext cx="457200" cy="457200"/>
          </a:xfrm>
          <a:prstGeom prst="rect">
            <a:avLst/>
          </a:prstGeom>
        </p:spPr>
      </p:pic>
      <p:sp>
        <p:nvSpPr>
          <p:cNvPr id="36" name="Shape 28"/>
          <p:cNvSpPr/>
          <p:nvPr/>
        </p:nvSpPr>
        <p:spPr>
          <a:xfrm>
            <a:off x="713232" y="2624328"/>
            <a:ext cx="548640" cy="548640"/>
          </a:xfrm>
          <a:prstGeom prst="OVAL">
            <a:avLst/>
          </a:prstGeom>
          <a:solidFill>
            <a:srgbClr val="0D1B3E">
              <a:alpha val="20000"/>
            </a:srgbClr>
          </a:solidFill>
          <a:ln w="12700">
            <a:solidFill>
              <a:srgbClr val="0D1B3E"/>
            </a:solidFill>
            <a:prstDash val="solid"/>
          </a:ln>
        </p:spPr>
      </p:sp>
      <p:sp>
        <p:nvSpPr>
          <p:cNvPr id="37" name="Text 29"/>
          <p:cNvSpPr/>
          <p:nvPr/>
        </p:nvSpPr>
        <p:spPr>
          <a:xfrm>
            <a:off x="228600" y="3127248"/>
            <a:ext cx="1508760" cy="685800"/>
          </a:xfrm>
          <a:prstGeom prst="rect">
            <a:avLst/>
          </a:prstGeom>
          <a:noFill/>
          <a:ln/>
        </p:spPr>
        <p:txBody>
          <a:bodyPr wrap="square" lIns="0" tIns="0" rIns="0" bIns="0" rtlCol="0" anchor="t"/>
          <a:lstStyle/>
          <a:p>
            <a:pPr algn="ctr" indent="0" marL="0">
              <a:buNone/>
            </a:pPr>
            <a:r>
              <a:rPr lang="en-US" sz="1000" b="1" dirty="0">
                <a:solidFill>
                  <a:srgbClr val="0D1B3E"/>
                </a:solidFill>
                <a:latin typeface="Calibri" pitchFamily="34" charset="0"/>
                <a:ea typeface="Calibri" pitchFamily="34" charset="-122"/>
                <a:cs typeface="Calibri" pitchFamily="34" charset="-120"/>
              </a:rPr>
              <a:t>Multi-Model</a:t>
            </a:r>
            <a:endParaRPr lang="en-US" sz="1000" dirty="0"/>
          </a:p>
          <a:p>
            <a:pPr algn="ctr" indent="0" marL="0">
              <a:buNone/>
            </a:pPr>
            <a:r>
              <a:rPr lang="en-US" sz="1000" b="1" dirty="0">
                <a:solidFill>
                  <a:srgbClr val="0D1B3E"/>
                </a:solidFill>
                <a:latin typeface="Calibri" pitchFamily="34" charset="0"/>
                <a:ea typeface="Calibri" pitchFamily="34" charset="-122"/>
                <a:cs typeface="Calibri" pitchFamily="34" charset="-120"/>
              </a:rPr>
              <a:t>Ensemble</a:t>
            </a:r>
            <a:endParaRPr lang="en-US" sz="1000" dirty="0"/>
          </a:p>
        </p:txBody>
      </p:sp>
      <p:sp>
        <p:nvSpPr>
          <p:cNvPr id="38" name="Shape 30"/>
          <p:cNvSpPr/>
          <p:nvPr/>
        </p:nvSpPr>
        <p:spPr>
          <a:xfrm>
            <a:off x="1783080" y="3264408"/>
            <a:ext cx="320040" cy="0"/>
          </a:xfrm>
          <a:prstGeom prst="LINE">
            <a:avLst/>
          </a:prstGeom>
          <a:noFill/>
          <a:ln w="25400">
            <a:solidFill>
              <a:srgbClr val="1A56B0"/>
            </a:solidFill>
            <a:prstDash val="solid"/>
          </a:ln>
        </p:spPr>
      </p:sp>
      <p:sp>
        <p:nvSpPr>
          <p:cNvPr id="39" name="Text 31"/>
          <p:cNvSpPr/>
          <p:nvPr/>
        </p:nvSpPr>
        <p:spPr>
          <a:xfrm>
            <a:off x="2011680" y="3163824"/>
            <a:ext cx="182880" cy="201168"/>
          </a:xfrm>
          <a:prstGeom prst="rect">
            <a:avLst/>
          </a:prstGeom>
          <a:noFill/>
          <a:ln/>
        </p:spPr>
        <p:txBody>
          <a:bodyPr wrap="square" lIns="0" tIns="0" rIns="0" bIns="0" rtlCol="0" anchor="ctr"/>
          <a:lstStyle/>
          <a:p>
            <a:pPr algn="ctr" indent="0" marL="0">
              <a:buNone/>
            </a:pPr>
            <a:r>
              <a:rPr lang="en-US" sz="1000" dirty="0">
                <a:solidFill>
                  <a:srgbClr val="1A56B0"/>
                </a:solidFill>
                <a:latin typeface="Calibri" pitchFamily="34" charset="0"/>
                <a:ea typeface="Calibri" pitchFamily="34" charset="-122"/>
                <a:cs typeface="Calibri" pitchFamily="34" charset="-120"/>
              </a:rPr>
              <a:t>▶</a:t>
            </a:r>
            <a:endParaRPr lang="en-US" sz="1000" dirty="0"/>
          </a:p>
        </p:txBody>
      </p:sp>
      <p:sp>
        <p:nvSpPr>
          <p:cNvPr id="40" name="Shape 32"/>
          <p:cNvSpPr/>
          <p:nvPr/>
        </p:nvSpPr>
        <p:spPr>
          <a:xfrm>
            <a:off x="1920240" y="2578608"/>
            <a:ext cx="1600200" cy="1371600"/>
          </a:xfrm>
          <a:prstGeom prst="roundRect">
            <a:avLst>
              <a:gd name="adj" fmla="val 6667"/>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pic>
        <p:nvPicPr>
          <p:cNvPr id="41" name="Image 6" descr="preencoded.png">    </p:cNvPr>
          <p:cNvPicPr>
            <a:picLocks noChangeAspect="1"/>
          </p:cNvPicPr>
          <p:nvPr/>
        </p:nvPicPr>
        <p:blipFill>
          <a:blip r:embed="rId7"/>
          <a:stretch>
            <a:fillRect/>
          </a:stretch>
        </p:blipFill>
        <p:spPr>
          <a:xfrm>
            <a:off x="2496312" y="2651760"/>
            <a:ext cx="457200" cy="457200"/>
          </a:xfrm>
          <a:prstGeom prst="rect">
            <a:avLst/>
          </a:prstGeom>
        </p:spPr>
      </p:pic>
      <p:sp>
        <p:nvSpPr>
          <p:cNvPr id="42" name="Shape 33"/>
          <p:cNvSpPr/>
          <p:nvPr/>
        </p:nvSpPr>
        <p:spPr>
          <a:xfrm>
            <a:off x="2450592" y="2624328"/>
            <a:ext cx="548640" cy="548640"/>
          </a:xfrm>
          <a:prstGeom prst="OVAL">
            <a:avLst/>
          </a:prstGeom>
          <a:solidFill>
            <a:srgbClr val="1A56B0">
              <a:alpha val="20000"/>
            </a:srgbClr>
          </a:solidFill>
          <a:ln w="12700">
            <a:solidFill>
              <a:srgbClr val="1A56B0"/>
            </a:solidFill>
            <a:prstDash val="solid"/>
          </a:ln>
        </p:spPr>
      </p:sp>
      <p:sp>
        <p:nvSpPr>
          <p:cNvPr id="43" name="Text 34"/>
          <p:cNvSpPr/>
          <p:nvPr/>
        </p:nvSpPr>
        <p:spPr>
          <a:xfrm>
            <a:off x="1965960" y="3127248"/>
            <a:ext cx="1508760" cy="685800"/>
          </a:xfrm>
          <a:prstGeom prst="rect">
            <a:avLst/>
          </a:prstGeom>
          <a:noFill/>
          <a:ln/>
        </p:spPr>
        <p:txBody>
          <a:bodyPr wrap="square" lIns="0" tIns="0" rIns="0" bIns="0" rtlCol="0" anchor="t"/>
          <a:lstStyle/>
          <a:p>
            <a:pPr algn="ctr" indent="0" marL="0">
              <a:buNone/>
            </a:pPr>
            <a:r>
              <a:rPr lang="en-US" sz="1000" b="1" dirty="0">
                <a:solidFill>
                  <a:srgbClr val="0D1B3E"/>
                </a:solidFill>
                <a:latin typeface="Calibri" pitchFamily="34" charset="0"/>
                <a:ea typeface="Calibri" pitchFamily="34" charset="-122"/>
                <a:cs typeface="Calibri" pitchFamily="34" charset="-120"/>
              </a:rPr>
              <a:t>FastAPI</a:t>
            </a:r>
            <a:endParaRPr lang="en-US" sz="1000" dirty="0"/>
          </a:p>
          <a:p>
            <a:pPr algn="ctr" indent="0" marL="0">
              <a:buNone/>
            </a:pPr>
            <a:r>
              <a:rPr lang="en-US" sz="1000" b="1" dirty="0">
                <a:solidFill>
                  <a:srgbClr val="0D1B3E"/>
                </a:solidFill>
                <a:latin typeface="Calibri" pitchFamily="34" charset="0"/>
                <a:ea typeface="Calibri" pitchFamily="34" charset="-122"/>
                <a:cs typeface="Calibri" pitchFamily="34" charset="-120"/>
              </a:rPr>
              <a:t>Backend</a:t>
            </a:r>
            <a:endParaRPr lang="en-US" sz="1000" dirty="0"/>
          </a:p>
        </p:txBody>
      </p:sp>
      <p:sp>
        <p:nvSpPr>
          <p:cNvPr id="44" name="Shape 35"/>
          <p:cNvSpPr/>
          <p:nvPr/>
        </p:nvSpPr>
        <p:spPr>
          <a:xfrm>
            <a:off x="3520440" y="3264408"/>
            <a:ext cx="320040" cy="0"/>
          </a:xfrm>
          <a:prstGeom prst="LINE">
            <a:avLst/>
          </a:prstGeom>
          <a:noFill/>
          <a:ln w="25400">
            <a:solidFill>
              <a:srgbClr val="1A56B0"/>
            </a:solidFill>
            <a:prstDash val="solid"/>
          </a:ln>
        </p:spPr>
      </p:sp>
      <p:sp>
        <p:nvSpPr>
          <p:cNvPr id="45" name="Text 36"/>
          <p:cNvSpPr/>
          <p:nvPr/>
        </p:nvSpPr>
        <p:spPr>
          <a:xfrm>
            <a:off x="3749040" y="3163824"/>
            <a:ext cx="182880" cy="201168"/>
          </a:xfrm>
          <a:prstGeom prst="rect">
            <a:avLst/>
          </a:prstGeom>
          <a:noFill/>
          <a:ln/>
        </p:spPr>
        <p:txBody>
          <a:bodyPr wrap="square" lIns="0" tIns="0" rIns="0" bIns="0" rtlCol="0" anchor="ctr"/>
          <a:lstStyle/>
          <a:p>
            <a:pPr algn="ctr" indent="0" marL="0">
              <a:buNone/>
            </a:pPr>
            <a:r>
              <a:rPr lang="en-US" sz="1000" dirty="0">
                <a:solidFill>
                  <a:srgbClr val="1A56B0"/>
                </a:solidFill>
                <a:latin typeface="Calibri" pitchFamily="34" charset="0"/>
                <a:ea typeface="Calibri" pitchFamily="34" charset="-122"/>
                <a:cs typeface="Calibri" pitchFamily="34" charset="-120"/>
              </a:rPr>
              <a:t>▶</a:t>
            </a:r>
            <a:endParaRPr lang="en-US" sz="1000" dirty="0"/>
          </a:p>
        </p:txBody>
      </p:sp>
      <p:sp>
        <p:nvSpPr>
          <p:cNvPr id="46" name="Shape 37"/>
          <p:cNvSpPr/>
          <p:nvPr/>
        </p:nvSpPr>
        <p:spPr>
          <a:xfrm>
            <a:off x="3657600" y="2578608"/>
            <a:ext cx="1600200" cy="1371600"/>
          </a:xfrm>
          <a:prstGeom prst="roundRect">
            <a:avLst>
              <a:gd name="adj" fmla="val 6667"/>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pic>
        <p:nvPicPr>
          <p:cNvPr id="47" name="Image 7" descr="preencoded.png">    </p:cNvPr>
          <p:cNvPicPr>
            <a:picLocks noChangeAspect="1"/>
          </p:cNvPicPr>
          <p:nvPr/>
        </p:nvPicPr>
        <p:blipFill>
          <a:blip r:embed="rId8"/>
          <a:stretch>
            <a:fillRect/>
          </a:stretch>
        </p:blipFill>
        <p:spPr>
          <a:xfrm>
            <a:off x="4233672" y="2651760"/>
            <a:ext cx="457200" cy="457200"/>
          </a:xfrm>
          <a:prstGeom prst="rect">
            <a:avLst/>
          </a:prstGeom>
        </p:spPr>
      </p:pic>
      <p:sp>
        <p:nvSpPr>
          <p:cNvPr id="48" name="Shape 38"/>
          <p:cNvSpPr/>
          <p:nvPr/>
        </p:nvSpPr>
        <p:spPr>
          <a:xfrm>
            <a:off x="4187952" y="2624328"/>
            <a:ext cx="548640" cy="548640"/>
          </a:xfrm>
          <a:prstGeom prst="OVAL">
            <a:avLst/>
          </a:prstGeom>
          <a:solidFill>
            <a:srgbClr val="0D8A6E">
              <a:alpha val="20000"/>
            </a:srgbClr>
          </a:solidFill>
          <a:ln w="12700">
            <a:solidFill>
              <a:srgbClr val="0D8A6E"/>
            </a:solidFill>
            <a:prstDash val="solid"/>
          </a:ln>
        </p:spPr>
      </p:sp>
      <p:sp>
        <p:nvSpPr>
          <p:cNvPr id="49" name="Text 39"/>
          <p:cNvSpPr/>
          <p:nvPr/>
        </p:nvSpPr>
        <p:spPr>
          <a:xfrm>
            <a:off x="3703320" y="3127248"/>
            <a:ext cx="1508760" cy="685800"/>
          </a:xfrm>
          <a:prstGeom prst="rect">
            <a:avLst/>
          </a:prstGeom>
          <a:noFill/>
          <a:ln/>
        </p:spPr>
        <p:txBody>
          <a:bodyPr wrap="square" lIns="0" tIns="0" rIns="0" bIns="0" rtlCol="0" anchor="t"/>
          <a:lstStyle/>
          <a:p>
            <a:pPr algn="ctr" indent="0" marL="0">
              <a:buNone/>
            </a:pPr>
            <a:r>
              <a:rPr lang="en-US" sz="1000" b="1" dirty="0">
                <a:solidFill>
                  <a:srgbClr val="0D1B3E"/>
                </a:solidFill>
                <a:latin typeface="Calibri" pitchFamily="34" charset="0"/>
                <a:ea typeface="Calibri" pitchFamily="34" charset="-122"/>
                <a:cs typeface="Calibri" pitchFamily="34" charset="-120"/>
              </a:rPr>
              <a:t>Web</a:t>
            </a:r>
            <a:endParaRPr lang="en-US" sz="1000" dirty="0"/>
          </a:p>
          <a:p>
            <a:pPr algn="ctr" indent="0" marL="0">
              <a:buNone/>
            </a:pPr>
            <a:r>
              <a:rPr lang="en-US" sz="1000" b="1" dirty="0">
                <a:solidFill>
                  <a:srgbClr val="0D1B3E"/>
                </a:solidFill>
                <a:latin typeface="Calibri" pitchFamily="34" charset="0"/>
                <a:ea typeface="Calibri" pitchFamily="34" charset="-122"/>
                <a:cs typeface="Calibri" pitchFamily="34" charset="-120"/>
              </a:rPr>
              <a:t>Application</a:t>
            </a:r>
            <a:endParaRPr lang="en-US" sz="1000" dirty="0"/>
          </a:p>
        </p:txBody>
      </p:sp>
      <p:sp>
        <p:nvSpPr>
          <p:cNvPr id="50" name="Shape 40"/>
          <p:cNvSpPr/>
          <p:nvPr/>
        </p:nvSpPr>
        <p:spPr>
          <a:xfrm>
            <a:off x="5257800" y="3264408"/>
            <a:ext cx="320040" cy="0"/>
          </a:xfrm>
          <a:prstGeom prst="LINE">
            <a:avLst/>
          </a:prstGeom>
          <a:noFill/>
          <a:ln w="25400">
            <a:solidFill>
              <a:srgbClr val="1A56B0"/>
            </a:solidFill>
            <a:prstDash val="solid"/>
          </a:ln>
        </p:spPr>
      </p:sp>
      <p:sp>
        <p:nvSpPr>
          <p:cNvPr id="51" name="Text 41"/>
          <p:cNvSpPr/>
          <p:nvPr/>
        </p:nvSpPr>
        <p:spPr>
          <a:xfrm>
            <a:off x="5486400" y="3163824"/>
            <a:ext cx="182880" cy="201168"/>
          </a:xfrm>
          <a:prstGeom prst="rect">
            <a:avLst/>
          </a:prstGeom>
          <a:noFill/>
          <a:ln/>
        </p:spPr>
        <p:txBody>
          <a:bodyPr wrap="square" lIns="0" tIns="0" rIns="0" bIns="0" rtlCol="0" anchor="ctr"/>
          <a:lstStyle/>
          <a:p>
            <a:pPr algn="ctr" indent="0" marL="0">
              <a:buNone/>
            </a:pPr>
            <a:r>
              <a:rPr lang="en-US" sz="1000" dirty="0">
                <a:solidFill>
                  <a:srgbClr val="1A56B0"/>
                </a:solidFill>
                <a:latin typeface="Calibri" pitchFamily="34" charset="0"/>
                <a:ea typeface="Calibri" pitchFamily="34" charset="-122"/>
                <a:cs typeface="Calibri" pitchFamily="34" charset="-120"/>
              </a:rPr>
              <a:t>▶</a:t>
            </a:r>
            <a:endParaRPr lang="en-US" sz="1000" dirty="0"/>
          </a:p>
        </p:txBody>
      </p:sp>
      <p:sp>
        <p:nvSpPr>
          <p:cNvPr id="52" name="Shape 42"/>
          <p:cNvSpPr/>
          <p:nvPr/>
        </p:nvSpPr>
        <p:spPr>
          <a:xfrm>
            <a:off x="5394960" y="2578608"/>
            <a:ext cx="1600200" cy="1371600"/>
          </a:xfrm>
          <a:prstGeom prst="roundRect">
            <a:avLst>
              <a:gd name="adj" fmla="val 6667"/>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pic>
        <p:nvPicPr>
          <p:cNvPr id="53" name="Image 8" descr="preencoded.png">    </p:cNvPr>
          <p:cNvPicPr>
            <a:picLocks noChangeAspect="1"/>
          </p:cNvPicPr>
          <p:nvPr/>
        </p:nvPicPr>
        <p:blipFill>
          <a:blip r:embed="rId9"/>
          <a:stretch>
            <a:fillRect/>
          </a:stretch>
        </p:blipFill>
        <p:spPr>
          <a:xfrm>
            <a:off x="5971032" y="2651760"/>
            <a:ext cx="457200" cy="457200"/>
          </a:xfrm>
          <a:prstGeom prst="rect">
            <a:avLst/>
          </a:prstGeom>
        </p:spPr>
      </p:pic>
      <p:sp>
        <p:nvSpPr>
          <p:cNvPr id="54" name="Shape 43"/>
          <p:cNvSpPr/>
          <p:nvPr/>
        </p:nvSpPr>
        <p:spPr>
          <a:xfrm>
            <a:off x="5925312" y="2624328"/>
            <a:ext cx="548640" cy="548640"/>
          </a:xfrm>
          <a:prstGeom prst="OVAL">
            <a:avLst/>
          </a:prstGeom>
          <a:solidFill>
            <a:srgbClr val="E85D26">
              <a:alpha val="20000"/>
            </a:srgbClr>
          </a:solidFill>
          <a:ln w="12700">
            <a:solidFill>
              <a:srgbClr val="E85D26"/>
            </a:solidFill>
            <a:prstDash val="solid"/>
          </a:ln>
        </p:spPr>
      </p:sp>
      <p:sp>
        <p:nvSpPr>
          <p:cNvPr id="55" name="Text 44"/>
          <p:cNvSpPr/>
          <p:nvPr/>
        </p:nvSpPr>
        <p:spPr>
          <a:xfrm>
            <a:off x="5440680" y="3127248"/>
            <a:ext cx="1508760" cy="685800"/>
          </a:xfrm>
          <a:prstGeom prst="rect">
            <a:avLst/>
          </a:prstGeom>
          <a:noFill/>
          <a:ln/>
        </p:spPr>
        <p:txBody>
          <a:bodyPr wrap="square" lIns="0" tIns="0" rIns="0" bIns="0" rtlCol="0" anchor="t"/>
          <a:lstStyle/>
          <a:p>
            <a:pPr algn="ctr" indent="0" marL="0">
              <a:buNone/>
            </a:pPr>
            <a:r>
              <a:rPr lang="en-US" sz="1000" b="1" dirty="0">
                <a:solidFill>
                  <a:srgbClr val="0D1B3E"/>
                </a:solidFill>
                <a:latin typeface="Calibri" pitchFamily="34" charset="0"/>
                <a:ea typeface="Calibri" pitchFamily="34" charset="-122"/>
                <a:cs typeface="Calibri" pitchFamily="34" charset="-120"/>
              </a:rPr>
              <a:t>AI Chat</a:t>
            </a:r>
            <a:endParaRPr lang="en-US" sz="1000" dirty="0"/>
          </a:p>
          <a:p>
            <a:pPr algn="ctr" indent="0" marL="0">
              <a:buNone/>
            </a:pPr>
            <a:r>
              <a:rPr lang="en-US" sz="1000" b="1" dirty="0">
                <a:solidFill>
                  <a:srgbClr val="0D1B3E"/>
                </a:solidFill>
                <a:latin typeface="Calibri" pitchFamily="34" charset="0"/>
                <a:ea typeface="Calibri" pitchFamily="34" charset="-122"/>
                <a:cs typeface="Calibri" pitchFamily="34" charset="-120"/>
              </a:rPr>
              <a:t>Assistant</a:t>
            </a:r>
            <a:endParaRPr lang="en-US" sz="1000" dirty="0"/>
          </a:p>
        </p:txBody>
      </p:sp>
      <p:sp>
        <p:nvSpPr>
          <p:cNvPr id="56" name="Shape 45"/>
          <p:cNvSpPr/>
          <p:nvPr/>
        </p:nvSpPr>
        <p:spPr>
          <a:xfrm>
            <a:off x="6995160" y="3264408"/>
            <a:ext cx="320040" cy="0"/>
          </a:xfrm>
          <a:prstGeom prst="LINE">
            <a:avLst/>
          </a:prstGeom>
          <a:noFill/>
          <a:ln w="25400">
            <a:solidFill>
              <a:srgbClr val="1A56B0"/>
            </a:solidFill>
            <a:prstDash val="solid"/>
          </a:ln>
        </p:spPr>
      </p:sp>
      <p:sp>
        <p:nvSpPr>
          <p:cNvPr id="57" name="Text 46"/>
          <p:cNvSpPr/>
          <p:nvPr/>
        </p:nvSpPr>
        <p:spPr>
          <a:xfrm>
            <a:off x="7223760" y="3163824"/>
            <a:ext cx="182880" cy="201168"/>
          </a:xfrm>
          <a:prstGeom prst="rect">
            <a:avLst/>
          </a:prstGeom>
          <a:noFill/>
          <a:ln/>
        </p:spPr>
        <p:txBody>
          <a:bodyPr wrap="square" lIns="0" tIns="0" rIns="0" bIns="0" rtlCol="0" anchor="ctr"/>
          <a:lstStyle/>
          <a:p>
            <a:pPr algn="ctr" indent="0" marL="0">
              <a:buNone/>
            </a:pPr>
            <a:r>
              <a:rPr lang="en-US" sz="1000" dirty="0">
                <a:solidFill>
                  <a:srgbClr val="1A56B0"/>
                </a:solidFill>
                <a:latin typeface="Calibri" pitchFamily="34" charset="0"/>
                <a:ea typeface="Calibri" pitchFamily="34" charset="-122"/>
                <a:cs typeface="Calibri" pitchFamily="34" charset="-120"/>
              </a:rPr>
              <a:t>▶</a:t>
            </a:r>
            <a:endParaRPr lang="en-US" sz="1000" dirty="0"/>
          </a:p>
        </p:txBody>
      </p:sp>
      <p:sp>
        <p:nvSpPr>
          <p:cNvPr id="58" name="Shape 47"/>
          <p:cNvSpPr/>
          <p:nvPr/>
        </p:nvSpPr>
        <p:spPr>
          <a:xfrm>
            <a:off x="7132320" y="2578608"/>
            <a:ext cx="1600200" cy="1371600"/>
          </a:xfrm>
          <a:prstGeom prst="roundRect">
            <a:avLst>
              <a:gd name="adj" fmla="val 6667"/>
            </a:avLst>
          </a:prstGeom>
          <a:solidFill>
            <a:srgbClr val="F1F5F9"/>
          </a:solidFill>
          <a:ln w="19050">
            <a:solidFill>
              <a:srgbClr val="D6E4F7"/>
            </a:solidFill>
            <a:prstDash val="solid"/>
          </a:ln>
          <a:effectLst>
            <a:outerShdw sx="100000" sy="100000" kx="0" ky="0" algn="bl" rotWithShape="0" blurRad="50800" dist="25400" dir="2700000">
              <a:srgbClr val="000000">
                <a:alpha val="10000"/>
              </a:srgbClr>
            </a:outerShdw>
          </a:effectLst>
        </p:spPr>
      </p:sp>
      <p:pic>
        <p:nvPicPr>
          <p:cNvPr id="59" name="Image 9" descr="preencoded.png">    </p:cNvPr>
          <p:cNvPicPr>
            <a:picLocks noChangeAspect="1"/>
          </p:cNvPicPr>
          <p:nvPr/>
        </p:nvPicPr>
        <p:blipFill>
          <a:blip r:embed="rId10"/>
          <a:stretch>
            <a:fillRect/>
          </a:stretch>
        </p:blipFill>
        <p:spPr>
          <a:xfrm>
            <a:off x="7708392" y="2651760"/>
            <a:ext cx="457200" cy="457200"/>
          </a:xfrm>
          <a:prstGeom prst="rect">
            <a:avLst/>
          </a:prstGeom>
        </p:spPr>
      </p:pic>
      <p:sp>
        <p:nvSpPr>
          <p:cNvPr id="60" name="Shape 48"/>
          <p:cNvSpPr/>
          <p:nvPr/>
        </p:nvSpPr>
        <p:spPr>
          <a:xfrm>
            <a:off x="7662672" y="2624328"/>
            <a:ext cx="548640" cy="548640"/>
          </a:xfrm>
          <a:prstGeom prst="OVAL">
            <a:avLst/>
          </a:prstGeom>
          <a:solidFill>
            <a:srgbClr val="0D8A6E">
              <a:alpha val="20000"/>
            </a:srgbClr>
          </a:solidFill>
          <a:ln w="12700">
            <a:solidFill>
              <a:srgbClr val="0D8A6E"/>
            </a:solidFill>
            <a:prstDash val="solid"/>
          </a:ln>
        </p:spPr>
      </p:sp>
      <p:sp>
        <p:nvSpPr>
          <p:cNvPr id="61" name="Text 49"/>
          <p:cNvSpPr/>
          <p:nvPr/>
        </p:nvSpPr>
        <p:spPr>
          <a:xfrm>
            <a:off x="7178040" y="3127248"/>
            <a:ext cx="1508760" cy="685800"/>
          </a:xfrm>
          <a:prstGeom prst="rect">
            <a:avLst/>
          </a:prstGeom>
          <a:noFill/>
          <a:ln/>
        </p:spPr>
        <p:txBody>
          <a:bodyPr wrap="square" lIns="0" tIns="0" rIns="0" bIns="0" rtlCol="0" anchor="t"/>
          <a:lstStyle/>
          <a:p>
            <a:pPr algn="ctr" indent="0" marL="0">
              <a:buNone/>
            </a:pPr>
            <a:r>
              <a:rPr lang="en-US" sz="1000" b="1" dirty="0">
                <a:solidFill>
                  <a:srgbClr val="0D1B3E"/>
                </a:solidFill>
                <a:latin typeface="Calibri" pitchFamily="34" charset="0"/>
                <a:ea typeface="Calibri" pitchFamily="34" charset="-122"/>
                <a:cs typeface="Calibri" pitchFamily="34" charset="-120"/>
              </a:rPr>
              <a:t>Skin Disease</a:t>
            </a:r>
            <a:endParaRPr lang="en-US" sz="1000" dirty="0"/>
          </a:p>
          <a:p>
            <a:pPr algn="ctr" indent="0" marL="0">
              <a:buNone/>
            </a:pPr>
            <a:r>
              <a:rPr lang="en-US" sz="1000" b="1" dirty="0">
                <a:solidFill>
                  <a:srgbClr val="0D1B3E"/>
                </a:solidFill>
                <a:latin typeface="Calibri" pitchFamily="34" charset="0"/>
                <a:ea typeface="Calibri" pitchFamily="34" charset="-122"/>
                <a:cs typeface="Calibri" pitchFamily="34" charset="-120"/>
              </a:rPr>
              <a:t>Prediction</a:t>
            </a:r>
            <a:endParaRPr lang="en-US" sz="1000" dirty="0"/>
          </a:p>
        </p:txBody>
      </p:sp>
      <p:sp>
        <p:nvSpPr>
          <p:cNvPr id="62" name="Shape 50"/>
          <p:cNvSpPr/>
          <p:nvPr/>
        </p:nvSpPr>
        <p:spPr>
          <a:xfrm>
            <a:off x="7932420" y="2359152"/>
            <a:ext cx="0" cy="219456"/>
          </a:xfrm>
          <a:prstGeom prst="LINE">
            <a:avLst/>
          </a:prstGeom>
          <a:noFill/>
          <a:ln w="25400">
            <a:solidFill>
              <a:srgbClr val="1A56B0"/>
            </a:solidFill>
            <a:prstDash val="solid"/>
          </a:ln>
        </p:spPr>
      </p:sp>
      <p:sp>
        <p:nvSpPr>
          <p:cNvPr id="63" name="Text 51"/>
          <p:cNvSpPr/>
          <p:nvPr/>
        </p:nvSpPr>
        <p:spPr>
          <a:xfrm>
            <a:off x="7845552" y="2496312"/>
            <a:ext cx="182880" cy="182880"/>
          </a:xfrm>
          <a:prstGeom prst="rect">
            <a:avLst/>
          </a:prstGeom>
          <a:noFill/>
          <a:ln/>
        </p:spPr>
        <p:txBody>
          <a:bodyPr wrap="square" lIns="0" tIns="0" rIns="0" bIns="0" rtlCol="0" anchor="ctr"/>
          <a:lstStyle/>
          <a:p>
            <a:pPr algn="ctr" indent="0" marL="0">
              <a:buNone/>
            </a:pPr>
            <a:r>
              <a:rPr lang="en-US" sz="1000" dirty="0">
                <a:solidFill>
                  <a:srgbClr val="1A56B0"/>
                </a:solidFill>
                <a:latin typeface="Calibri" pitchFamily="34" charset="0"/>
                <a:ea typeface="Calibri" pitchFamily="34" charset="-122"/>
                <a:cs typeface="Calibri" pitchFamily="34" charset="-120"/>
              </a:rPr>
              <a:t>▼</a:t>
            </a:r>
            <a:endParaRPr lang="en-US" sz="1000" dirty="0"/>
          </a:p>
        </p:txBody>
      </p:sp>
      <p:sp>
        <p:nvSpPr>
          <p:cNvPr id="64" name="Text 52"/>
          <p:cNvSpPr/>
          <p:nvPr/>
        </p:nvSpPr>
        <p:spPr>
          <a:xfrm>
            <a:off x="228600" y="4069080"/>
            <a:ext cx="8686800" cy="274320"/>
          </a:xfrm>
          <a:prstGeom prst="rect">
            <a:avLst/>
          </a:prstGeom>
          <a:noFill/>
          <a:ln/>
        </p:spPr>
        <p:txBody>
          <a:bodyPr wrap="square" lIns="0" tIns="0" rIns="0" bIns="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System Components</a:t>
            </a:r>
            <a:endParaRPr lang="en-US" sz="1100" dirty="0"/>
          </a:p>
        </p:txBody>
      </p:sp>
      <p:sp>
        <p:nvSpPr>
          <p:cNvPr id="65" name="Shape 53"/>
          <p:cNvSpPr/>
          <p:nvPr/>
        </p:nvSpPr>
        <p:spPr>
          <a:xfrm>
            <a:off x="228600" y="4370832"/>
            <a:ext cx="1645920" cy="621792"/>
          </a:xfrm>
          <a:prstGeom prst="roundRect">
            <a:avLst>
              <a:gd name="adj" fmla="val 8824"/>
            </a:avLst>
          </a:prstGeom>
          <a:solidFill>
            <a:srgbClr val="F1F5F9"/>
          </a:solidFill>
          <a:ln w="12700">
            <a:solidFill>
              <a:srgbClr val="D6E4F7"/>
            </a:solidFill>
            <a:prstDash val="solid"/>
          </a:ln>
        </p:spPr>
      </p:sp>
      <p:sp>
        <p:nvSpPr>
          <p:cNvPr id="66" name="Text 54"/>
          <p:cNvSpPr/>
          <p:nvPr/>
        </p:nvSpPr>
        <p:spPr>
          <a:xfrm>
            <a:off x="301752" y="4407408"/>
            <a:ext cx="1499616" cy="219456"/>
          </a:xfrm>
          <a:prstGeom prst="rect">
            <a:avLst/>
          </a:prstGeom>
          <a:noFill/>
          <a:ln/>
        </p:spPr>
        <p:txBody>
          <a:bodyPr wrap="square" lIns="0" tIns="0" rIns="0" bIns="0" rtlCol="0" anchor="ctr"/>
          <a:lstStyle/>
          <a:p>
            <a:pPr indent="0" marL="0">
              <a:buNone/>
            </a:pPr>
            <a:r>
              <a:rPr lang="en-US" sz="950" b="1" dirty="0">
                <a:solidFill>
                  <a:srgbClr val="1A56B0"/>
                </a:solidFill>
                <a:latin typeface="Calibri" pitchFamily="34" charset="0"/>
                <a:ea typeface="Calibri" pitchFamily="34" charset="-122"/>
                <a:cs typeface="Calibri" pitchFamily="34" charset="-120"/>
              </a:rPr>
              <a:t>Models</a:t>
            </a:r>
            <a:endParaRPr lang="en-US" sz="950" dirty="0"/>
          </a:p>
        </p:txBody>
      </p:sp>
      <p:sp>
        <p:nvSpPr>
          <p:cNvPr id="67" name="Text 55"/>
          <p:cNvSpPr/>
          <p:nvPr/>
        </p:nvSpPr>
        <p:spPr>
          <a:xfrm>
            <a:off x="301752" y="4626864"/>
            <a:ext cx="1499616" cy="310896"/>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EfficientNet-B0/B4, ResNet-50, MobileNetV3 (PyTorch + timm)</a:t>
            </a:r>
            <a:endParaRPr lang="en-US" sz="750" dirty="0"/>
          </a:p>
        </p:txBody>
      </p:sp>
      <p:sp>
        <p:nvSpPr>
          <p:cNvPr id="68" name="Shape 56"/>
          <p:cNvSpPr/>
          <p:nvPr/>
        </p:nvSpPr>
        <p:spPr>
          <a:xfrm>
            <a:off x="1984248" y="4370832"/>
            <a:ext cx="1645920" cy="621792"/>
          </a:xfrm>
          <a:prstGeom prst="roundRect">
            <a:avLst>
              <a:gd name="adj" fmla="val 8824"/>
            </a:avLst>
          </a:prstGeom>
          <a:solidFill>
            <a:srgbClr val="F1F5F9"/>
          </a:solidFill>
          <a:ln w="12700">
            <a:solidFill>
              <a:srgbClr val="D6E4F7"/>
            </a:solidFill>
            <a:prstDash val="solid"/>
          </a:ln>
        </p:spPr>
      </p:sp>
      <p:sp>
        <p:nvSpPr>
          <p:cNvPr id="69" name="Text 57"/>
          <p:cNvSpPr/>
          <p:nvPr/>
        </p:nvSpPr>
        <p:spPr>
          <a:xfrm>
            <a:off x="2057400" y="4407408"/>
            <a:ext cx="1499616" cy="219456"/>
          </a:xfrm>
          <a:prstGeom prst="rect">
            <a:avLst/>
          </a:prstGeom>
          <a:noFill/>
          <a:ln/>
        </p:spPr>
        <p:txBody>
          <a:bodyPr wrap="square" lIns="0" tIns="0" rIns="0" bIns="0" rtlCol="0" anchor="ctr"/>
          <a:lstStyle/>
          <a:p>
            <a:pPr indent="0" marL="0">
              <a:buNone/>
            </a:pPr>
            <a:r>
              <a:rPr lang="en-US" sz="950" b="1" dirty="0">
                <a:solidFill>
                  <a:srgbClr val="1A56B0"/>
                </a:solidFill>
                <a:latin typeface="Calibri" pitchFamily="34" charset="0"/>
                <a:ea typeface="Calibri" pitchFamily="34" charset="-122"/>
                <a:cs typeface="Calibri" pitchFamily="34" charset="-120"/>
              </a:rPr>
              <a:t>API</a:t>
            </a:r>
            <a:endParaRPr lang="en-US" sz="950" dirty="0"/>
          </a:p>
        </p:txBody>
      </p:sp>
      <p:sp>
        <p:nvSpPr>
          <p:cNvPr id="70" name="Text 58"/>
          <p:cNvSpPr/>
          <p:nvPr/>
        </p:nvSpPr>
        <p:spPr>
          <a:xfrm>
            <a:off x="2057400" y="4626864"/>
            <a:ext cx="1499616" cy="310896"/>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FastAPI + Uvicorn — REST endpoints</a:t>
            </a:r>
            <a:endParaRPr lang="en-US" sz="750" dirty="0"/>
          </a:p>
        </p:txBody>
      </p:sp>
      <p:sp>
        <p:nvSpPr>
          <p:cNvPr id="71" name="Shape 59"/>
          <p:cNvSpPr/>
          <p:nvPr/>
        </p:nvSpPr>
        <p:spPr>
          <a:xfrm>
            <a:off x="3739896" y="4370832"/>
            <a:ext cx="1645920" cy="621792"/>
          </a:xfrm>
          <a:prstGeom prst="roundRect">
            <a:avLst>
              <a:gd name="adj" fmla="val 8824"/>
            </a:avLst>
          </a:prstGeom>
          <a:solidFill>
            <a:srgbClr val="F1F5F9"/>
          </a:solidFill>
          <a:ln w="12700">
            <a:solidFill>
              <a:srgbClr val="D6E4F7"/>
            </a:solidFill>
            <a:prstDash val="solid"/>
          </a:ln>
        </p:spPr>
      </p:sp>
      <p:sp>
        <p:nvSpPr>
          <p:cNvPr id="72" name="Text 60"/>
          <p:cNvSpPr/>
          <p:nvPr/>
        </p:nvSpPr>
        <p:spPr>
          <a:xfrm>
            <a:off x="3813048" y="4407408"/>
            <a:ext cx="1499616" cy="219456"/>
          </a:xfrm>
          <a:prstGeom prst="rect">
            <a:avLst/>
          </a:prstGeom>
          <a:noFill/>
          <a:ln/>
        </p:spPr>
        <p:txBody>
          <a:bodyPr wrap="square" lIns="0" tIns="0" rIns="0" bIns="0" rtlCol="0" anchor="ctr"/>
          <a:lstStyle/>
          <a:p>
            <a:pPr indent="0" marL="0">
              <a:buNone/>
            </a:pPr>
            <a:r>
              <a:rPr lang="en-US" sz="950" b="1" dirty="0">
                <a:solidFill>
                  <a:srgbClr val="1A56B0"/>
                </a:solidFill>
                <a:latin typeface="Calibri" pitchFamily="34" charset="0"/>
                <a:ea typeface="Calibri" pitchFamily="34" charset="-122"/>
                <a:cs typeface="Calibri" pitchFamily="34" charset="-120"/>
              </a:rPr>
              <a:t>Preprocessing</a:t>
            </a:r>
            <a:endParaRPr lang="en-US" sz="950" dirty="0"/>
          </a:p>
        </p:txBody>
      </p:sp>
      <p:sp>
        <p:nvSpPr>
          <p:cNvPr id="73" name="Text 61"/>
          <p:cNvSpPr/>
          <p:nvPr/>
        </p:nvSpPr>
        <p:spPr>
          <a:xfrm>
            <a:off x="3813048" y="4626864"/>
            <a:ext cx="1499616" cy="310896"/>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Albumentations + PIL — resize &amp; normalize</a:t>
            </a:r>
            <a:endParaRPr lang="en-US" sz="750" dirty="0"/>
          </a:p>
        </p:txBody>
      </p:sp>
      <p:sp>
        <p:nvSpPr>
          <p:cNvPr id="74" name="Shape 62"/>
          <p:cNvSpPr/>
          <p:nvPr/>
        </p:nvSpPr>
        <p:spPr>
          <a:xfrm>
            <a:off x="5495544" y="4370832"/>
            <a:ext cx="1645920" cy="621792"/>
          </a:xfrm>
          <a:prstGeom prst="roundRect">
            <a:avLst>
              <a:gd name="adj" fmla="val 8824"/>
            </a:avLst>
          </a:prstGeom>
          <a:solidFill>
            <a:srgbClr val="F1F5F9"/>
          </a:solidFill>
          <a:ln w="12700">
            <a:solidFill>
              <a:srgbClr val="D6E4F7"/>
            </a:solidFill>
            <a:prstDash val="solid"/>
          </a:ln>
        </p:spPr>
      </p:sp>
      <p:sp>
        <p:nvSpPr>
          <p:cNvPr id="75" name="Text 63"/>
          <p:cNvSpPr/>
          <p:nvPr/>
        </p:nvSpPr>
        <p:spPr>
          <a:xfrm>
            <a:off x="5568696" y="4407408"/>
            <a:ext cx="1499616" cy="219456"/>
          </a:xfrm>
          <a:prstGeom prst="rect">
            <a:avLst/>
          </a:prstGeom>
          <a:noFill/>
          <a:ln/>
        </p:spPr>
        <p:txBody>
          <a:bodyPr wrap="square" lIns="0" tIns="0" rIns="0" bIns="0" rtlCol="0" anchor="ctr"/>
          <a:lstStyle/>
          <a:p>
            <a:pPr indent="0" marL="0">
              <a:buNone/>
            </a:pPr>
            <a:r>
              <a:rPr lang="en-US" sz="950" b="1" dirty="0">
                <a:solidFill>
                  <a:srgbClr val="1A56B0"/>
                </a:solidFill>
                <a:latin typeface="Calibri" pitchFamily="34" charset="0"/>
                <a:ea typeface="Calibri" pitchFamily="34" charset="-122"/>
                <a:cs typeface="Calibri" pitchFamily="34" charset="-120"/>
              </a:rPr>
              <a:t>Frontend</a:t>
            </a:r>
            <a:endParaRPr lang="en-US" sz="950" dirty="0"/>
          </a:p>
        </p:txBody>
      </p:sp>
      <p:sp>
        <p:nvSpPr>
          <p:cNvPr id="76" name="Text 64"/>
          <p:cNvSpPr/>
          <p:nvPr/>
        </p:nvSpPr>
        <p:spPr>
          <a:xfrm>
            <a:off x="5568696" y="4626864"/>
            <a:ext cx="1499616" cy="310896"/>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HTML / CSS / JavaScript — responsive web interface</a:t>
            </a:r>
            <a:endParaRPr lang="en-US" sz="750" dirty="0"/>
          </a:p>
        </p:txBody>
      </p:sp>
      <p:sp>
        <p:nvSpPr>
          <p:cNvPr id="77" name="Shape 65"/>
          <p:cNvSpPr/>
          <p:nvPr/>
        </p:nvSpPr>
        <p:spPr>
          <a:xfrm>
            <a:off x="7251192" y="4370832"/>
            <a:ext cx="1645920" cy="621792"/>
          </a:xfrm>
          <a:prstGeom prst="roundRect">
            <a:avLst>
              <a:gd name="adj" fmla="val 8824"/>
            </a:avLst>
          </a:prstGeom>
          <a:solidFill>
            <a:srgbClr val="F1F5F9"/>
          </a:solidFill>
          <a:ln w="12700">
            <a:solidFill>
              <a:srgbClr val="D6E4F7"/>
            </a:solidFill>
            <a:prstDash val="solid"/>
          </a:ln>
        </p:spPr>
      </p:sp>
      <p:sp>
        <p:nvSpPr>
          <p:cNvPr id="78" name="Text 66"/>
          <p:cNvSpPr/>
          <p:nvPr/>
        </p:nvSpPr>
        <p:spPr>
          <a:xfrm>
            <a:off x="7324344" y="4407408"/>
            <a:ext cx="1499616" cy="219456"/>
          </a:xfrm>
          <a:prstGeom prst="rect">
            <a:avLst/>
          </a:prstGeom>
          <a:noFill/>
          <a:ln/>
        </p:spPr>
        <p:txBody>
          <a:bodyPr wrap="square" lIns="0" tIns="0" rIns="0" bIns="0" rtlCol="0" anchor="ctr"/>
          <a:lstStyle/>
          <a:p>
            <a:pPr indent="0" marL="0">
              <a:buNone/>
            </a:pPr>
            <a:r>
              <a:rPr lang="en-US" sz="950" b="1" dirty="0">
                <a:solidFill>
                  <a:srgbClr val="1A56B0"/>
                </a:solidFill>
                <a:latin typeface="Calibri" pitchFamily="34" charset="0"/>
                <a:ea typeface="Calibri" pitchFamily="34" charset="-122"/>
                <a:cs typeface="Calibri" pitchFamily="34" charset="-120"/>
              </a:rPr>
              <a:t>Auth</a:t>
            </a:r>
            <a:endParaRPr lang="en-US" sz="950" dirty="0"/>
          </a:p>
        </p:txBody>
      </p:sp>
      <p:sp>
        <p:nvSpPr>
          <p:cNvPr id="79" name="Text 67"/>
          <p:cNvSpPr/>
          <p:nvPr/>
        </p:nvSpPr>
        <p:spPr>
          <a:xfrm>
            <a:off x="7324344" y="4626864"/>
            <a:ext cx="1499616" cy="310896"/>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Browser localStorage (prototype)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3E"/>
          </a:solidFill>
          <a:ln w="12700">
            <a:solidFill>
              <a:srgbClr val="0D1B3E"/>
            </a:solidFill>
            <a:prstDash val="solid"/>
          </a:ln>
        </p:spPr>
      </p:sp>
      <p:sp>
        <p:nvSpPr>
          <p:cNvPr id="3" name="Text 1"/>
          <p:cNvSpPr/>
          <p:nvPr/>
        </p:nvSpPr>
        <p:spPr>
          <a:xfrm>
            <a:off x="274320" y="45720"/>
            <a:ext cx="8595360"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Model Architectures</a:t>
            </a:r>
            <a:endParaRPr lang="en-US" sz="2200" dirty="0"/>
          </a:p>
        </p:txBody>
      </p:sp>
      <p:sp>
        <p:nvSpPr>
          <p:cNvPr id="4" name="Text 2"/>
          <p:cNvSpPr/>
          <p:nvPr/>
        </p:nvSpPr>
        <p:spPr>
          <a:xfrm>
            <a:off x="274320" y="548640"/>
            <a:ext cx="8595360" cy="274320"/>
          </a:xfrm>
          <a:prstGeom prst="rect">
            <a:avLst/>
          </a:prstGeom>
          <a:noFill/>
          <a:ln/>
        </p:spPr>
        <p:txBody>
          <a:bodyPr wrap="square" lIns="0" tIns="0" rIns="0" bIns="0" rtlCol="0" anchor="ctr"/>
          <a:lstStyle/>
          <a:p>
            <a:pPr algn="l" indent="0" marL="0">
              <a:buNone/>
            </a:pPr>
            <a:r>
              <a:rPr lang="en-US" sz="1100" dirty="0">
                <a:solidFill>
                  <a:srgbClr val="B0C4DE"/>
                </a:solidFill>
                <a:latin typeface="Calibri" pitchFamily="34" charset="0"/>
                <a:ea typeface="Calibri" pitchFamily="34" charset="-122"/>
                <a:cs typeface="Calibri" pitchFamily="34" charset="-120"/>
              </a:rPr>
              <a:t>Four Deep Learning Models with Transfer Learning from ImageNet</a:t>
            </a:r>
            <a:endParaRPr lang="en-US" sz="1100" dirty="0"/>
          </a:p>
        </p:txBody>
      </p:sp>
      <p:sp>
        <p:nvSpPr>
          <p:cNvPr id="5" name="Shape 3"/>
          <p:cNvSpPr/>
          <p:nvPr/>
        </p:nvSpPr>
        <p:spPr>
          <a:xfrm>
            <a:off x="0" y="868680"/>
            <a:ext cx="9144000" cy="36576"/>
          </a:xfrm>
          <a:prstGeom prst="rect">
            <a:avLst/>
          </a:prstGeom>
          <a:solidFill>
            <a:srgbClr val="1A56B0"/>
          </a:solidFill>
          <a:ln w="12700">
            <a:solidFill>
              <a:srgbClr val="1A56B0"/>
            </a:solidFill>
            <a:prstDash val="solid"/>
          </a:ln>
        </p:spPr>
      </p:sp>
      <p:sp>
        <p:nvSpPr>
          <p:cNvPr id="6" name="Shape 4"/>
          <p:cNvSpPr/>
          <p:nvPr/>
        </p:nvSpPr>
        <p:spPr>
          <a:xfrm>
            <a:off x="228600" y="987552"/>
            <a:ext cx="2011680" cy="2606040"/>
          </a:xfrm>
          <a:prstGeom prst="roundRect">
            <a:avLst>
              <a:gd name="adj" fmla="val 4545"/>
            </a:avLst>
          </a:prstGeom>
          <a:solidFill>
            <a:srgbClr val="FFFFFF"/>
          </a:solidFill>
          <a:ln w="12700">
            <a:solidFill>
              <a:srgbClr val="D6E4F7"/>
            </a:solidFill>
            <a:prstDash val="solid"/>
          </a:ln>
          <a:effectLst>
            <a:outerShdw sx="100000" sy="100000" kx="0" ky="0" algn="bl" rotWithShape="0" blurRad="63500" dist="25400" dir="2700000">
              <a:srgbClr val="000000">
                <a:alpha val="12000"/>
              </a:srgbClr>
            </a:outerShdw>
          </a:effectLst>
        </p:spPr>
      </p:sp>
      <p:sp>
        <p:nvSpPr>
          <p:cNvPr id="7" name="Shape 5"/>
          <p:cNvSpPr/>
          <p:nvPr/>
        </p:nvSpPr>
        <p:spPr>
          <a:xfrm>
            <a:off x="228600" y="987552"/>
            <a:ext cx="2011680" cy="502920"/>
          </a:xfrm>
          <a:prstGeom prst="roundRect">
            <a:avLst>
              <a:gd name="adj" fmla="val 18182"/>
            </a:avLst>
          </a:prstGeom>
          <a:solidFill>
            <a:srgbClr val="1A56B0"/>
          </a:solidFill>
          <a:ln w="12700">
            <a:solidFill>
              <a:srgbClr val="1A56B0"/>
            </a:solidFill>
            <a:prstDash val="solid"/>
          </a:ln>
        </p:spPr>
      </p:sp>
      <p:sp>
        <p:nvSpPr>
          <p:cNvPr id="8" name="Shape 6"/>
          <p:cNvSpPr/>
          <p:nvPr/>
        </p:nvSpPr>
        <p:spPr>
          <a:xfrm>
            <a:off x="228600" y="1280160"/>
            <a:ext cx="2011680" cy="210312"/>
          </a:xfrm>
          <a:prstGeom prst="rect">
            <a:avLst/>
          </a:prstGeom>
          <a:solidFill>
            <a:srgbClr val="1A56B0"/>
          </a:solidFill>
          <a:ln w="12700">
            <a:solidFill>
              <a:srgbClr val="1A56B0"/>
            </a:solidFill>
            <a:prstDash val="solid"/>
          </a:ln>
        </p:spPr>
      </p:sp>
      <p:sp>
        <p:nvSpPr>
          <p:cNvPr id="9" name="Text 7"/>
          <p:cNvSpPr/>
          <p:nvPr/>
        </p:nvSpPr>
        <p:spPr>
          <a:xfrm>
            <a:off x="274320" y="1005840"/>
            <a:ext cx="1920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EfficientNet-B0</a:t>
            </a:r>
            <a:endParaRPr lang="en-US" sz="1000" dirty="0"/>
          </a:p>
        </p:txBody>
      </p:sp>
      <p:sp>
        <p:nvSpPr>
          <p:cNvPr id="10" name="Text 8"/>
          <p:cNvSpPr/>
          <p:nvPr/>
        </p:nvSpPr>
        <p:spPr>
          <a:xfrm>
            <a:off x="320040" y="1554480"/>
            <a:ext cx="1828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Parameters</a:t>
            </a:r>
            <a:endParaRPr lang="en-US" sz="850" dirty="0"/>
          </a:p>
        </p:txBody>
      </p:sp>
      <p:sp>
        <p:nvSpPr>
          <p:cNvPr id="11" name="Text 9"/>
          <p:cNvSpPr/>
          <p:nvPr/>
        </p:nvSpPr>
        <p:spPr>
          <a:xfrm>
            <a:off x="320040" y="1737360"/>
            <a:ext cx="1828800" cy="274320"/>
          </a:xfrm>
          <a:prstGeom prst="rect">
            <a:avLst/>
          </a:prstGeom>
          <a:noFill/>
          <a:ln/>
        </p:spPr>
        <p:txBody>
          <a:bodyPr wrap="square" lIns="0" tIns="0" rIns="0" bIns="0" rtlCol="0" anchor="ctr"/>
          <a:lstStyle/>
          <a:p>
            <a:pPr indent="0" marL="0">
              <a:buNone/>
            </a:pPr>
            <a:r>
              <a:rPr lang="en-US" sz="1600" b="1" dirty="0">
                <a:solidFill>
                  <a:srgbClr val="1A56B0"/>
                </a:solidFill>
                <a:latin typeface="Calibri" pitchFamily="34" charset="0"/>
                <a:ea typeface="Calibri" pitchFamily="34" charset="-122"/>
                <a:cs typeface="Calibri" pitchFamily="34" charset="-120"/>
              </a:rPr>
              <a:t>5.3M</a:t>
            </a:r>
            <a:endParaRPr lang="en-US" sz="1600" dirty="0"/>
          </a:p>
        </p:txBody>
      </p:sp>
      <p:sp>
        <p:nvSpPr>
          <p:cNvPr id="12" name="Text 10"/>
          <p:cNvSpPr/>
          <p:nvPr/>
        </p:nvSpPr>
        <p:spPr>
          <a:xfrm>
            <a:off x="320040" y="2029968"/>
            <a:ext cx="1828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Best AUC-ROC</a:t>
            </a:r>
            <a:endParaRPr lang="en-US" sz="850" dirty="0"/>
          </a:p>
        </p:txBody>
      </p:sp>
      <p:sp>
        <p:nvSpPr>
          <p:cNvPr id="13" name="Text 11"/>
          <p:cNvSpPr/>
          <p:nvPr/>
        </p:nvSpPr>
        <p:spPr>
          <a:xfrm>
            <a:off x="320040" y="2212848"/>
            <a:ext cx="1828800" cy="274320"/>
          </a:xfrm>
          <a:prstGeom prst="rect">
            <a:avLst/>
          </a:prstGeom>
          <a:noFill/>
          <a:ln/>
        </p:spPr>
        <p:txBody>
          <a:bodyPr wrap="square" lIns="0" tIns="0" rIns="0" bIns="0" rtlCol="0" anchor="ctr"/>
          <a:lstStyle/>
          <a:p>
            <a:pPr indent="0" marL="0">
              <a:buNone/>
            </a:pPr>
            <a:r>
              <a:rPr lang="en-US" sz="1600" b="1" dirty="0">
                <a:solidFill>
                  <a:srgbClr val="1A56B0"/>
                </a:solidFill>
                <a:latin typeface="Calibri" pitchFamily="34" charset="0"/>
                <a:ea typeface="Calibri" pitchFamily="34" charset="-122"/>
                <a:cs typeface="Calibri" pitchFamily="34" charset="-120"/>
              </a:rPr>
              <a:t>97.05%</a:t>
            </a:r>
            <a:endParaRPr lang="en-US" sz="1600" dirty="0"/>
          </a:p>
        </p:txBody>
      </p:sp>
      <p:sp>
        <p:nvSpPr>
          <p:cNvPr id="14" name="Text 12"/>
          <p:cNvSpPr/>
          <p:nvPr/>
        </p:nvSpPr>
        <p:spPr>
          <a:xfrm>
            <a:off x="320040" y="2505456"/>
            <a:ext cx="1828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Best Accuracy</a:t>
            </a:r>
            <a:endParaRPr lang="en-US" sz="850" dirty="0"/>
          </a:p>
        </p:txBody>
      </p:sp>
      <p:sp>
        <p:nvSpPr>
          <p:cNvPr id="15" name="Text 13"/>
          <p:cNvSpPr/>
          <p:nvPr/>
        </p:nvSpPr>
        <p:spPr>
          <a:xfrm>
            <a:off x="320040" y="2688336"/>
            <a:ext cx="1828800" cy="274320"/>
          </a:xfrm>
          <a:prstGeom prst="rect">
            <a:avLst/>
          </a:prstGeom>
          <a:noFill/>
          <a:ln/>
        </p:spPr>
        <p:txBody>
          <a:bodyPr wrap="square" lIns="0" tIns="0" rIns="0" bIns="0" rtlCol="0" anchor="ctr"/>
          <a:lstStyle/>
          <a:p>
            <a:pPr indent="0" marL="0">
              <a:buNone/>
            </a:pPr>
            <a:r>
              <a:rPr lang="en-US" sz="1600" b="1" dirty="0">
                <a:solidFill>
                  <a:srgbClr val="1A56B0"/>
                </a:solidFill>
                <a:latin typeface="Calibri" pitchFamily="34" charset="0"/>
                <a:ea typeface="Calibri" pitchFamily="34" charset="-122"/>
                <a:cs typeface="Calibri" pitchFamily="34" charset="-120"/>
              </a:rPr>
              <a:t>88.86%</a:t>
            </a:r>
            <a:endParaRPr lang="en-US" sz="1600" dirty="0"/>
          </a:p>
        </p:txBody>
      </p:sp>
      <p:sp>
        <p:nvSpPr>
          <p:cNvPr id="16" name="Shape 14"/>
          <p:cNvSpPr/>
          <p:nvPr/>
        </p:nvSpPr>
        <p:spPr>
          <a:xfrm>
            <a:off x="2423160" y="987552"/>
            <a:ext cx="2011680" cy="2606040"/>
          </a:xfrm>
          <a:prstGeom prst="roundRect">
            <a:avLst>
              <a:gd name="adj" fmla="val 4545"/>
            </a:avLst>
          </a:prstGeom>
          <a:solidFill>
            <a:srgbClr val="FFFFFF"/>
          </a:solidFill>
          <a:ln w="12700">
            <a:solidFill>
              <a:srgbClr val="D6E4F7"/>
            </a:solidFill>
            <a:prstDash val="solid"/>
          </a:ln>
          <a:effectLst>
            <a:outerShdw sx="100000" sy="100000" kx="0" ky="0" algn="bl" rotWithShape="0" blurRad="63500" dist="25400" dir="2700000">
              <a:srgbClr val="000000">
                <a:alpha val="12000"/>
              </a:srgbClr>
            </a:outerShdw>
          </a:effectLst>
        </p:spPr>
      </p:sp>
      <p:sp>
        <p:nvSpPr>
          <p:cNvPr id="17" name="Shape 15"/>
          <p:cNvSpPr/>
          <p:nvPr/>
        </p:nvSpPr>
        <p:spPr>
          <a:xfrm>
            <a:off x="2423160" y="987552"/>
            <a:ext cx="2011680" cy="502920"/>
          </a:xfrm>
          <a:prstGeom prst="roundRect">
            <a:avLst>
              <a:gd name="adj" fmla="val 18182"/>
            </a:avLst>
          </a:prstGeom>
          <a:solidFill>
            <a:srgbClr val="0D8A6E"/>
          </a:solidFill>
          <a:ln w="12700">
            <a:solidFill>
              <a:srgbClr val="0D8A6E"/>
            </a:solidFill>
            <a:prstDash val="solid"/>
          </a:ln>
        </p:spPr>
      </p:sp>
      <p:sp>
        <p:nvSpPr>
          <p:cNvPr id="18" name="Shape 16"/>
          <p:cNvSpPr/>
          <p:nvPr/>
        </p:nvSpPr>
        <p:spPr>
          <a:xfrm>
            <a:off x="2423160" y="1280160"/>
            <a:ext cx="2011680" cy="210312"/>
          </a:xfrm>
          <a:prstGeom prst="rect">
            <a:avLst/>
          </a:prstGeom>
          <a:solidFill>
            <a:srgbClr val="0D8A6E"/>
          </a:solidFill>
          <a:ln w="12700">
            <a:solidFill>
              <a:srgbClr val="0D8A6E"/>
            </a:solidFill>
            <a:prstDash val="solid"/>
          </a:ln>
        </p:spPr>
      </p:sp>
      <p:sp>
        <p:nvSpPr>
          <p:cNvPr id="19" name="Text 17"/>
          <p:cNvSpPr/>
          <p:nvPr/>
        </p:nvSpPr>
        <p:spPr>
          <a:xfrm>
            <a:off x="2468880" y="1005840"/>
            <a:ext cx="1920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EfficientNet-B4</a:t>
            </a:r>
            <a:endParaRPr lang="en-US" sz="1000" dirty="0"/>
          </a:p>
        </p:txBody>
      </p:sp>
      <p:sp>
        <p:nvSpPr>
          <p:cNvPr id="20" name="Text 18"/>
          <p:cNvSpPr/>
          <p:nvPr/>
        </p:nvSpPr>
        <p:spPr>
          <a:xfrm>
            <a:off x="2514600" y="1554480"/>
            <a:ext cx="1828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Parameters</a:t>
            </a:r>
            <a:endParaRPr lang="en-US" sz="850" dirty="0"/>
          </a:p>
        </p:txBody>
      </p:sp>
      <p:sp>
        <p:nvSpPr>
          <p:cNvPr id="21" name="Text 19"/>
          <p:cNvSpPr/>
          <p:nvPr/>
        </p:nvSpPr>
        <p:spPr>
          <a:xfrm>
            <a:off x="2514600" y="1737360"/>
            <a:ext cx="1828800" cy="274320"/>
          </a:xfrm>
          <a:prstGeom prst="rect">
            <a:avLst/>
          </a:prstGeom>
          <a:noFill/>
          <a:ln/>
        </p:spPr>
        <p:txBody>
          <a:bodyPr wrap="square" lIns="0" tIns="0" rIns="0" bIns="0" rtlCol="0" anchor="ctr"/>
          <a:lstStyle/>
          <a:p>
            <a:pPr indent="0" marL="0">
              <a:buNone/>
            </a:pPr>
            <a:r>
              <a:rPr lang="en-US" sz="1600" b="1" dirty="0">
                <a:solidFill>
                  <a:srgbClr val="0D8A6E"/>
                </a:solidFill>
                <a:latin typeface="Calibri" pitchFamily="34" charset="0"/>
                <a:ea typeface="Calibri" pitchFamily="34" charset="-122"/>
                <a:cs typeface="Calibri" pitchFamily="34" charset="-120"/>
              </a:rPr>
              <a:t>19M</a:t>
            </a:r>
            <a:endParaRPr lang="en-US" sz="1600" dirty="0"/>
          </a:p>
        </p:txBody>
      </p:sp>
      <p:sp>
        <p:nvSpPr>
          <p:cNvPr id="22" name="Text 20"/>
          <p:cNvSpPr/>
          <p:nvPr/>
        </p:nvSpPr>
        <p:spPr>
          <a:xfrm>
            <a:off x="2514600" y="2029968"/>
            <a:ext cx="1828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Best AUC-ROC</a:t>
            </a:r>
            <a:endParaRPr lang="en-US" sz="850" dirty="0"/>
          </a:p>
        </p:txBody>
      </p:sp>
      <p:sp>
        <p:nvSpPr>
          <p:cNvPr id="23" name="Text 21"/>
          <p:cNvSpPr/>
          <p:nvPr/>
        </p:nvSpPr>
        <p:spPr>
          <a:xfrm>
            <a:off x="2514600" y="2212848"/>
            <a:ext cx="1828800" cy="274320"/>
          </a:xfrm>
          <a:prstGeom prst="rect">
            <a:avLst/>
          </a:prstGeom>
          <a:noFill/>
          <a:ln/>
        </p:spPr>
        <p:txBody>
          <a:bodyPr wrap="square" lIns="0" tIns="0" rIns="0" bIns="0" rtlCol="0" anchor="ctr"/>
          <a:lstStyle/>
          <a:p>
            <a:pPr indent="0" marL="0">
              <a:buNone/>
            </a:pPr>
            <a:r>
              <a:rPr lang="en-US" sz="1600" b="1" dirty="0">
                <a:solidFill>
                  <a:srgbClr val="0D8A6E"/>
                </a:solidFill>
                <a:latin typeface="Calibri" pitchFamily="34" charset="0"/>
                <a:ea typeface="Calibri" pitchFamily="34" charset="-122"/>
                <a:cs typeface="Calibri" pitchFamily="34" charset="-120"/>
              </a:rPr>
              <a:t>95.65%</a:t>
            </a:r>
            <a:endParaRPr lang="en-US" sz="1600" dirty="0"/>
          </a:p>
        </p:txBody>
      </p:sp>
      <p:sp>
        <p:nvSpPr>
          <p:cNvPr id="24" name="Text 22"/>
          <p:cNvSpPr/>
          <p:nvPr/>
        </p:nvSpPr>
        <p:spPr>
          <a:xfrm>
            <a:off x="2514600" y="2505456"/>
            <a:ext cx="1828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Best Accuracy</a:t>
            </a:r>
            <a:endParaRPr lang="en-US" sz="850" dirty="0"/>
          </a:p>
        </p:txBody>
      </p:sp>
      <p:sp>
        <p:nvSpPr>
          <p:cNvPr id="25" name="Text 23"/>
          <p:cNvSpPr/>
          <p:nvPr/>
        </p:nvSpPr>
        <p:spPr>
          <a:xfrm>
            <a:off x="2514600" y="2688336"/>
            <a:ext cx="1828800" cy="274320"/>
          </a:xfrm>
          <a:prstGeom prst="rect">
            <a:avLst/>
          </a:prstGeom>
          <a:noFill/>
          <a:ln/>
        </p:spPr>
        <p:txBody>
          <a:bodyPr wrap="square" lIns="0" tIns="0" rIns="0" bIns="0" rtlCol="0" anchor="ctr"/>
          <a:lstStyle/>
          <a:p>
            <a:pPr indent="0" marL="0">
              <a:buNone/>
            </a:pPr>
            <a:r>
              <a:rPr lang="en-US" sz="1600" b="1" dirty="0">
                <a:solidFill>
                  <a:srgbClr val="0D8A6E"/>
                </a:solidFill>
                <a:latin typeface="Calibri" pitchFamily="34" charset="0"/>
                <a:ea typeface="Calibri" pitchFamily="34" charset="-122"/>
                <a:cs typeface="Calibri" pitchFamily="34" charset="-120"/>
              </a:rPr>
              <a:t>74.18%</a:t>
            </a:r>
            <a:endParaRPr lang="en-US" sz="1600" dirty="0"/>
          </a:p>
        </p:txBody>
      </p:sp>
      <p:sp>
        <p:nvSpPr>
          <p:cNvPr id="26" name="Shape 24"/>
          <p:cNvSpPr/>
          <p:nvPr/>
        </p:nvSpPr>
        <p:spPr>
          <a:xfrm>
            <a:off x="4617720" y="987552"/>
            <a:ext cx="2011680" cy="2606040"/>
          </a:xfrm>
          <a:prstGeom prst="roundRect">
            <a:avLst>
              <a:gd name="adj" fmla="val 4545"/>
            </a:avLst>
          </a:prstGeom>
          <a:solidFill>
            <a:srgbClr val="FFFFFF"/>
          </a:solidFill>
          <a:ln w="12700">
            <a:solidFill>
              <a:srgbClr val="D6E4F7"/>
            </a:solidFill>
            <a:prstDash val="solid"/>
          </a:ln>
          <a:effectLst>
            <a:outerShdw sx="100000" sy="100000" kx="0" ky="0" algn="bl" rotWithShape="0" blurRad="63500" dist="25400" dir="2700000">
              <a:srgbClr val="000000">
                <a:alpha val="12000"/>
              </a:srgbClr>
            </a:outerShdw>
          </a:effectLst>
        </p:spPr>
      </p:sp>
      <p:sp>
        <p:nvSpPr>
          <p:cNvPr id="27" name="Shape 25"/>
          <p:cNvSpPr/>
          <p:nvPr/>
        </p:nvSpPr>
        <p:spPr>
          <a:xfrm>
            <a:off x="4617720" y="987552"/>
            <a:ext cx="2011680" cy="502920"/>
          </a:xfrm>
          <a:prstGeom prst="roundRect">
            <a:avLst>
              <a:gd name="adj" fmla="val 18182"/>
            </a:avLst>
          </a:prstGeom>
          <a:solidFill>
            <a:srgbClr val="D97706"/>
          </a:solidFill>
          <a:ln w="12700">
            <a:solidFill>
              <a:srgbClr val="D97706"/>
            </a:solidFill>
            <a:prstDash val="solid"/>
          </a:ln>
        </p:spPr>
      </p:sp>
      <p:sp>
        <p:nvSpPr>
          <p:cNvPr id="28" name="Shape 26"/>
          <p:cNvSpPr/>
          <p:nvPr/>
        </p:nvSpPr>
        <p:spPr>
          <a:xfrm>
            <a:off x="4617720" y="1280160"/>
            <a:ext cx="2011680" cy="210312"/>
          </a:xfrm>
          <a:prstGeom prst="rect">
            <a:avLst/>
          </a:prstGeom>
          <a:solidFill>
            <a:srgbClr val="D97706"/>
          </a:solidFill>
          <a:ln w="12700">
            <a:solidFill>
              <a:srgbClr val="D97706"/>
            </a:solidFill>
            <a:prstDash val="solid"/>
          </a:ln>
        </p:spPr>
      </p:sp>
      <p:sp>
        <p:nvSpPr>
          <p:cNvPr id="29" name="Text 27"/>
          <p:cNvSpPr/>
          <p:nvPr/>
        </p:nvSpPr>
        <p:spPr>
          <a:xfrm>
            <a:off x="4663440" y="1005840"/>
            <a:ext cx="1920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ResNet-50</a:t>
            </a:r>
            <a:endParaRPr lang="en-US" sz="1000" dirty="0"/>
          </a:p>
        </p:txBody>
      </p:sp>
      <p:sp>
        <p:nvSpPr>
          <p:cNvPr id="30" name="Text 28"/>
          <p:cNvSpPr/>
          <p:nvPr/>
        </p:nvSpPr>
        <p:spPr>
          <a:xfrm>
            <a:off x="4709160" y="1554480"/>
            <a:ext cx="1828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Parameters</a:t>
            </a:r>
            <a:endParaRPr lang="en-US" sz="850" dirty="0"/>
          </a:p>
        </p:txBody>
      </p:sp>
      <p:sp>
        <p:nvSpPr>
          <p:cNvPr id="31" name="Text 29"/>
          <p:cNvSpPr/>
          <p:nvPr/>
        </p:nvSpPr>
        <p:spPr>
          <a:xfrm>
            <a:off x="4709160" y="1737360"/>
            <a:ext cx="1828800" cy="274320"/>
          </a:xfrm>
          <a:prstGeom prst="rect">
            <a:avLst/>
          </a:prstGeom>
          <a:noFill/>
          <a:ln/>
        </p:spPr>
        <p:txBody>
          <a:bodyPr wrap="square" lIns="0" tIns="0" rIns="0" bIns="0" rtlCol="0" anchor="ctr"/>
          <a:lstStyle/>
          <a:p>
            <a:pPr indent="0" marL="0">
              <a:buNone/>
            </a:pPr>
            <a:r>
              <a:rPr lang="en-US" sz="1600" b="1" dirty="0">
                <a:solidFill>
                  <a:srgbClr val="D97706"/>
                </a:solidFill>
                <a:latin typeface="Calibri" pitchFamily="34" charset="0"/>
                <a:ea typeface="Calibri" pitchFamily="34" charset="-122"/>
                <a:cs typeface="Calibri" pitchFamily="34" charset="-120"/>
              </a:rPr>
              <a:t>25M</a:t>
            </a:r>
            <a:endParaRPr lang="en-US" sz="1600" dirty="0"/>
          </a:p>
        </p:txBody>
      </p:sp>
      <p:sp>
        <p:nvSpPr>
          <p:cNvPr id="32" name="Text 30"/>
          <p:cNvSpPr/>
          <p:nvPr/>
        </p:nvSpPr>
        <p:spPr>
          <a:xfrm>
            <a:off x="4709160" y="2029968"/>
            <a:ext cx="1828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Best AUC-ROC</a:t>
            </a:r>
            <a:endParaRPr lang="en-US" sz="850" dirty="0"/>
          </a:p>
        </p:txBody>
      </p:sp>
      <p:sp>
        <p:nvSpPr>
          <p:cNvPr id="33" name="Text 31"/>
          <p:cNvSpPr/>
          <p:nvPr/>
        </p:nvSpPr>
        <p:spPr>
          <a:xfrm>
            <a:off x="4709160" y="2212848"/>
            <a:ext cx="1828800" cy="274320"/>
          </a:xfrm>
          <a:prstGeom prst="rect">
            <a:avLst/>
          </a:prstGeom>
          <a:noFill/>
          <a:ln/>
        </p:spPr>
        <p:txBody>
          <a:bodyPr wrap="square" lIns="0" tIns="0" rIns="0" bIns="0" rtlCol="0" anchor="ctr"/>
          <a:lstStyle/>
          <a:p>
            <a:pPr indent="0" marL="0">
              <a:buNone/>
            </a:pPr>
            <a:r>
              <a:rPr lang="en-US" sz="1600" b="1" dirty="0">
                <a:solidFill>
                  <a:srgbClr val="D97706"/>
                </a:solidFill>
                <a:latin typeface="Calibri" pitchFamily="34" charset="0"/>
                <a:ea typeface="Calibri" pitchFamily="34" charset="-122"/>
                <a:cs typeface="Calibri" pitchFamily="34" charset="-120"/>
              </a:rPr>
              <a:t>97.00%</a:t>
            </a:r>
            <a:endParaRPr lang="en-US" sz="1600" dirty="0"/>
          </a:p>
        </p:txBody>
      </p:sp>
      <p:sp>
        <p:nvSpPr>
          <p:cNvPr id="34" name="Text 32"/>
          <p:cNvSpPr/>
          <p:nvPr/>
        </p:nvSpPr>
        <p:spPr>
          <a:xfrm>
            <a:off x="4709160" y="2505456"/>
            <a:ext cx="1828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Best Accuracy</a:t>
            </a:r>
            <a:endParaRPr lang="en-US" sz="850" dirty="0"/>
          </a:p>
        </p:txBody>
      </p:sp>
      <p:sp>
        <p:nvSpPr>
          <p:cNvPr id="35" name="Text 33"/>
          <p:cNvSpPr/>
          <p:nvPr/>
        </p:nvSpPr>
        <p:spPr>
          <a:xfrm>
            <a:off x="4709160" y="2688336"/>
            <a:ext cx="1828800" cy="274320"/>
          </a:xfrm>
          <a:prstGeom prst="rect">
            <a:avLst/>
          </a:prstGeom>
          <a:noFill/>
          <a:ln/>
        </p:spPr>
        <p:txBody>
          <a:bodyPr wrap="square" lIns="0" tIns="0" rIns="0" bIns="0" rtlCol="0" anchor="ctr"/>
          <a:lstStyle/>
          <a:p>
            <a:pPr indent="0" marL="0">
              <a:buNone/>
            </a:pPr>
            <a:r>
              <a:rPr lang="en-US" sz="1600" b="1" dirty="0">
                <a:solidFill>
                  <a:srgbClr val="D97706"/>
                </a:solidFill>
                <a:latin typeface="Calibri" pitchFamily="34" charset="0"/>
                <a:ea typeface="Calibri" pitchFamily="34" charset="-122"/>
                <a:cs typeface="Calibri" pitchFamily="34" charset="-120"/>
              </a:rPr>
              <a:t>77.84%</a:t>
            </a:r>
            <a:endParaRPr lang="en-US" sz="1600" dirty="0"/>
          </a:p>
        </p:txBody>
      </p:sp>
      <p:sp>
        <p:nvSpPr>
          <p:cNvPr id="36" name="Shape 34"/>
          <p:cNvSpPr/>
          <p:nvPr/>
        </p:nvSpPr>
        <p:spPr>
          <a:xfrm>
            <a:off x="6812280" y="987552"/>
            <a:ext cx="2011680" cy="2606040"/>
          </a:xfrm>
          <a:prstGeom prst="roundRect">
            <a:avLst>
              <a:gd name="adj" fmla="val 4545"/>
            </a:avLst>
          </a:prstGeom>
          <a:solidFill>
            <a:srgbClr val="FFFFFF"/>
          </a:solidFill>
          <a:ln w="25400">
            <a:solidFill>
              <a:srgbClr val="E85D26"/>
            </a:solidFill>
            <a:prstDash val="solid"/>
          </a:ln>
          <a:effectLst>
            <a:outerShdw sx="100000" sy="100000" kx="0" ky="0" algn="bl" rotWithShape="0" blurRad="63500" dist="25400" dir="2700000">
              <a:srgbClr val="000000">
                <a:alpha val="12000"/>
              </a:srgbClr>
            </a:outerShdw>
          </a:effectLst>
        </p:spPr>
      </p:sp>
      <p:sp>
        <p:nvSpPr>
          <p:cNvPr id="37" name="Shape 35"/>
          <p:cNvSpPr/>
          <p:nvPr/>
        </p:nvSpPr>
        <p:spPr>
          <a:xfrm>
            <a:off x="6812280" y="987552"/>
            <a:ext cx="2011680" cy="502920"/>
          </a:xfrm>
          <a:prstGeom prst="roundRect">
            <a:avLst>
              <a:gd name="adj" fmla="val 18182"/>
            </a:avLst>
          </a:prstGeom>
          <a:solidFill>
            <a:srgbClr val="E85D26"/>
          </a:solidFill>
          <a:ln w="12700">
            <a:solidFill>
              <a:srgbClr val="E85D26"/>
            </a:solidFill>
            <a:prstDash val="solid"/>
          </a:ln>
        </p:spPr>
      </p:sp>
      <p:sp>
        <p:nvSpPr>
          <p:cNvPr id="38" name="Shape 36"/>
          <p:cNvSpPr/>
          <p:nvPr/>
        </p:nvSpPr>
        <p:spPr>
          <a:xfrm>
            <a:off x="6812280" y="1280160"/>
            <a:ext cx="2011680" cy="210312"/>
          </a:xfrm>
          <a:prstGeom prst="rect">
            <a:avLst/>
          </a:prstGeom>
          <a:solidFill>
            <a:srgbClr val="E85D26"/>
          </a:solidFill>
          <a:ln w="12700">
            <a:solidFill>
              <a:srgbClr val="E85D26"/>
            </a:solidFill>
            <a:prstDash val="solid"/>
          </a:ln>
        </p:spPr>
      </p:sp>
      <p:sp>
        <p:nvSpPr>
          <p:cNvPr id="39" name="Text 37"/>
          <p:cNvSpPr/>
          <p:nvPr/>
        </p:nvSpPr>
        <p:spPr>
          <a:xfrm>
            <a:off x="6858000" y="1005840"/>
            <a:ext cx="192024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MobileNetV3-Large ★</a:t>
            </a:r>
            <a:endParaRPr lang="en-US" sz="1000" dirty="0"/>
          </a:p>
        </p:txBody>
      </p:sp>
      <p:sp>
        <p:nvSpPr>
          <p:cNvPr id="40" name="Text 38"/>
          <p:cNvSpPr/>
          <p:nvPr/>
        </p:nvSpPr>
        <p:spPr>
          <a:xfrm>
            <a:off x="6903720" y="1554480"/>
            <a:ext cx="1828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Parameters</a:t>
            </a:r>
            <a:endParaRPr lang="en-US" sz="850" dirty="0"/>
          </a:p>
        </p:txBody>
      </p:sp>
      <p:sp>
        <p:nvSpPr>
          <p:cNvPr id="41" name="Text 39"/>
          <p:cNvSpPr/>
          <p:nvPr/>
        </p:nvSpPr>
        <p:spPr>
          <a:xfrm>
            <a:off x="6903720" y="1737360"/>
            <a:ext cx="1828800" cy="274320"/>
          </a:xfrm>
          <a:prstGeom prst="rect">
            <a:avLst/>
          </a:prstGeom>
          <a:noFill/>
          <a:ln/>
        </p:spPr>
        <p:txBody>
          <a:bodyPr wrap="square" lIns="0" tIns="0" rIns="0" bIns="0" rtlCol="0" anchor="ctr"/>
          <a:lstStyle/>
          <a:p>
            <a:pPr indent="0" marL="0">
              <a:buNone/>
            </a:pPr>
            <a:r>
              <a:rPr lang="en-US" sz="1600" b="1" dirty="0">
                <a:solidFill>
                  <a:srgbClr val="E85D26"/>
                </a:solidFill>
                <a:latin typeface="Calibri" pitchFamily="34" charset="0"/>
                <a:ea typeface="Calibri" pitchFamily="34" charset="-122"/>
                <a:cs typeface="Calibri" pitchFamily="34" charset="-120"/>
              </a:rPr>
              <a:t>5.4M</a:t>
            </a:r>
            <a:endParaRPr lang="en-US" sz="1600" dirty="0"/>
          </a:p>
        </p:txBody>
      </p:sp>
      <p:sp>
        <p:nvSpPr>
          <p:cNvPr id="42" name="Text 40"/>
          <p:cNvSpPr/>
          <p:nvPr/>
        </p:nvSpPr>
        <p:spPr>
          <a:xfrm>
            <a:off x="6903720" y="2029968"/>
            <a:ext cx="1828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Best AUC-ROC</a:t>
            </a:r>
            <a:endParaRPr lang="en-US" sz="850" dirty="0"/>
          </a:p>
        </p:txBody>
      </p:sp>
      <p:sp>
        <p:nvSpPr>
          <p:cNvPr id="43" name="Text 41"/>
          <p:cNvSpPr/>
          <p:nvPr/>
        </p:nvSpPr>
        <p:spPr>
          <a:xfrm>
            <a:off x="6903720" y="2212848"/>
            <a:ext cx="1828800" cy="274320"/>
          </a:xfrm>
          <a:prstGeom prst="rect">
            <a:avLst/>
          </a:prstGeom>
          <a:noFill/>
          <a:ln/>
        </p:spPr>
        <p:txBody>
          <a:bodyPr wrap="square" lIns="0" tIns="0" rIns="0" bIns="0" rtlCol="0" anchor="ctr"/>
          <a:lstStyle/>
          <a:p>
            <a:pPr indent="0" marL="0">
              <a:buNone/>
            </a:pPr>
            <a:r>
              <a:rPr lang="en-US" sz="1600" b="1" dirty="0">
                <a:solidFill>
                  <a:srgbClr val="E85D26"/>
                </a:solidFill>
                <a:latin typeface="Calibri" pitchFamily="34" charset="0"/>
                <a:ea typeface="Calibri" pitchFamily="34" charset="-122"/>
                <a:cs typeface="Calibri" pitchFamily="34" charset="-120"/>
              </a:rPr>
              <a:t>97.57%</a:t>
            </a:r>
            <a:endParaRPr lang="en-US" sz="1600" dirty="0"/>
          </a:p>
        </p:txBody>
      </p:sp>
      <p:sp>
        <p:nvSpPr>
          <p:cNvPr id="44" name="Text 42"/>
          <p:cNvSpPr/>
          <p:nvPr/>
        </p:nvSpPr>
        <p:spPr>
          <a:xfrm>
            <a:off x="6903720" y="2505456"/>
            <a:ext cx="1828800" cy="201168"/>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Best Accuracy</a:t>
            </a:r>
            <a:endParaRPr lang="en-US" sz="850" dirty="0"/>
          </a:p>
        </p:txBody>
      </p:sp>
      <p:sp>
        <p:nvSpPr>
          <p:cNvPr id="45" name="Text 43"/>
          <p:cNvSpPr/>
          <p:nvPr/>
        </p:nvSpPr>
        <p:spPr>
          <a:xfrm>
            <a:off x="6903720" y="2688336"/>
            <a:ext cx="1828800" cy="274320"/>
          </a:xfrm>
          <a:prstGeom prst="rect">
            <a:avLst/>
          </a:prstGeom>
          <a:noFill/>
          <a:ln/>
        </p:spPr>
        <p:txBody>
          <a:bodyPr wrap="square" lIns="0" tIns="0" rIns="0" bIns="0" rtlCol="0" anchor="ctr"/>
          <a:lstStyle/>
          <a:p>
            <a:pPr indent="0" marL="0">
              <a:buNone/>
            </a:pPr>
            <a:r>
              <a:rPr lang="en-US" sz="1600" b="1" dirty="0">
                <a:solidFill>
                  <a:srgbClr val="E85D26"/>
                </a:solidFill>
                <a:latin typeface="Calibri" pitchFamily="34" charset="0"/>
                <a:ea typeface="Calibri" pitchFamily="34" charset="-122"/>
                <a:cs typeface="Calibri" pitchFamily="34" charset="-120"/>
              </a:rPr>
              <a:t>84.35%</a:t>
            </a:r>
            <a:endParaRPr lang="en-US" sz="1600" dirty="0"/>
          </a:p>
        </p:txBody>
      </p:sp>
      <p:sp>
        <p:nvSpPr>
          <p:cNvPr id="46" name="Text 44"/>
          <p:cNvSpPr/>
          <p:nvPr/>
        </p:nvSpPr>
        <p:spPr>
          <a:xfrm>
            <a:off x="6903720" y="3017520"/>
            <a:ext cx="1828800" cy="274320"/>
          </a:xfrm>
          <a:prstGeom prst="rect">
            <a:avLst/>
          </a:prstGeom>
          <a:noFill/>
          <a:ln/>
        </p:spPr>
        <p:txBody>
          <a:bodyPr wrap="square" lIns="0" tIns="0" rIns="0" bIns="0" rtlCol="0" anchor="ctr"/>
          <a:lstStyle/>
          <a:p>
            <a:pPr algn="ctr" indent="0" marL="0">
              <a:buNone/>
            </a:pPr>
            <a:r>
              <a:rPr lang="en-US" sz="900" b="1" dirty="0">
                <a:solidFill>
                  <a:srgbClr val="E85D26"/>
                </a:solidFill>
                <a:latin typeface="Calibri" pitchFamily="34" charset="0"/>
                <a:ea typeface="Calibri" pitchFamily="34" charset="-122"/>
                <a:cs typeface="Calibri" pitchFamily="34" charset="-120"/>
              </a:rPr>
              <a:t>BEST MODEL</a:t>
            </a:r>
            <a:endParaRPr lang="en-US" sz="900" dirty="0"/>
          </a:p>
        </p:txBody>
      </p:sp>
      <p:sp>
        <p:nvSpPr>
          <p:cNvPr id="47" name="Text 45"/>
          <p:cNvSpPr/>
          <p:nvPr/>
        </p:nvSpPr>
        <p:spPr>
          <a:xfrm>
            <a:off x="228600" y="3730752"/>
            <a:ext cx="8686800" cy="274320"/>
          </a:xfrm>
          <a:prstGeom prst="rect">
            <a:avLst/>
          </a:prstGeom>
          <a:noFill/>
          <a:ln/>
        </p:spPr>
        <p:txBody>
          <a:bodyPr wrap="square" lIns="0" tIns="0" rIns="0" bIns="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Two-Phase Fine-Tuning Strategy</a:t>
            </a:r>
            <a:endParaRPr lang="en-US" sz="1100" dirty="0"/>
          </a:p>
        </p:txBody>
      </p:sp>
      <p:sp>
        <p:nvSpPr>
          <p:cNvPr id="48" name="Shape 46"/>
          <p:cNvSpPr/>
          <p:nvPr/>
        </p:nvSpPr>
        <p:spPr>
          <a:xfrm>
            <a:off x="228600" y="4069080"/>
            <a:ext cx="2788920" cy="914400"/>
          </a:xfrm>
          <a:prstGeom prst="roundRect">
            <a:avLst>
              <a:gd name="adj" fmla="val 8000"/>
            </a:avLst>
          </a:prstGeom>
          <a:solidFill>
            <a:srgbClr val="F1F5F9"/>
          </a:solidFill>
          <a:ln w="12700">
            <a:solidFill>
              <a:srgbClr val="D6E4F7"/>
            </a:solidFill>
            <a:prstDash val="solid"/>
          </a:ln>
        </p:spPr>
      </p:sp>
      <p:sp>
        <p:nvSpPr>
          <p:cNvPr id="49" name="Text 47"/>
          <p:cNvSpPr/>
          <p:nvPr/>
        </p:nvSpPr>
        <p:spPr>
          <a:xfrm>
            <a:off x="320040" y="4133088"/>
            <a:ext cx="1097280" cy="256032"/>
          </a:xfrm>
          <a:prstGeom prst="rect">
            <a:avLst/>
          </a:prstGeom>
          <a:noFill/>
          <a:ln/>
        </p:spPr>
        <p:txBody>
          <a:bodyPr wrap="square" lIns="0" tIns="0" rIns="0" bIns="0" rtlCol="0" anchor="ctr"/>
          <a:lstStyle/>
          <a:p>
            <a:pPr indent="0" marL="0">
              <a:buNone/>
            </a:pPr>
            <a:r>
              <a:rPr lang="en-US" sz="1000" b="1" dirty="0">
                <a:solidFill>
                  <a:srgbClr val="1A56B0"/>
                </a:solidFill>
                <a:latin typeface="Calibri" pitchFamily="34" charset="0"/>
                <a:ea typeface="Calibri" pitchFamily="34" charset="-122"/>
                <a:cs typeface="Calibri" pitchFamily="34" charset="-120"/>
              </a:rPr>
              <a:t>Phase 1</a:t>
            </a:r>
            <a:endParaRPr lang="en-US" sz="1000" dirty="0"/>
          </a:p>
        </p:txBody>
      </p:sp>
      <p:sp>
        <p:nvSpPr>
          <p:cNvPr id="50" name="Text 48"/>
          <p:cNvSpPr/>
          <p:nvPr/>
        </p:nvSpPr>
        <p:spPr>
          <a:xfrm>
            <a:off x="1371600" y="4133088"/>
            <a:ext cx="1508760"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Epochs 1–5</a:t>
            </a:r>
            <a:endParaRPr lang="en-US" sz="900" dirty="0"/>
          </a:p>
        </p:txBody>
      </p:sp>
      <p:sp>
        <p:nvSpPr>
          <p:cNvPr id="51" name="Text 49"/>
          <p:cNvSpPr/>
          <p:nvPr/>
        </p:nvSpPr>
        <p:spPr>
          <a:xfrm>
            <a:off x="320040" y="4407408"/>
            <a:ext cx="2606040" cy="530352"/>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Backbone frozen · Classifier head only trains · LR = 1e-3 (AdamW) · Prevents early destruction of pretrained weights</a:t>
            </a:r>
            <a:endParaRPr lang="en-US" sz="850" dirty="0"/>
          </a:p>
        </p:txBody>
      </p:sp>
      <p:sp>
        <p:nvSpPr>
          <p:cNvPr id="52" name="Shape 50"/>
          <p:cNvSpPr/>
          <p:nvPr/>
        </p:nvSpPr>
        <p:spPr>
          <a:xfrm>
            <a:off x="3172968" y="4069080"/>
            <a:ext cx="2788920" cy="914400"/>
          </a:xfrm>
          <a:prstGeom prst="roundRect">
            <a:avLst>
              <a:gd name="adj" fmla="val 8000"/>
            </a:avLst>
          </a:prstGeom>
          <a:solidFill>
            <a:srgbClr val="F1F5F9"/>
          </a:solidFill>
          <a:ln w="12700">
            <a:solidFill>
              <a:srgbClr val="D6E4F7"/>
            </a:solidFill>
            <a:prstDash val="solid"/>
          </a:ln>
        </p:spPr>
      </p:sp>
      <p:sp>
        <p:nvSpPr>
          <p:cNvPr id="53" name="Text 51"/>
          <p:cNvSpPr/>
          <p:nvPr/>
        </p:nvSpPr>
        <p:spPr>
          <a:xfrm>
            <a:off x="3264408" y="4133088"/>
            <a:ext cx="1097280" cy="256032"/>
          </a:xfrm>
          <a:prstGeom prst="rect">
            <a:avLst/>
          </a:prstGeom>
          <a:noFill/>
          <a:ln/>
        </p:spPr>
        <p:txBody>
          <a:bodyPr wrap="square" lIns="0" tIns="0" rIns="0" bIns="0" rtlCol="0" anchor="ctr"/>
          <a:lstStyle/>
          <a:p>
            <a:pPr indent="0" marL="0">
              <a:buNone/>
            </a:pPr>
            <a:r>
              <a:rPr lang="en-US" sz="1000" b="1" dirty="0">
                <a:solidFill>
                  <a:srgbClr val="0D8A6E"/>
                </a:solidFill>
                <a:latin typeface="Calibri" pitchFamily="34" charset="0"/>
                <a:ea typeface="Calibri" pitchFamily="34" charset="-122"/>
                <a:cs typeface="Calibri" pitchFamily="34" charset="-120"/>
              </a:rPr>
              <a:t>Phase 2</a:t>
            </a:r>
            <a:endParaRPr lang="en-US" sz="1000" dirty="0"/>
          </a:p>
        </p:txBody>
      </p:sp>
      <p:sp>
        <p:nvSpPr>
          <p:cNvPr id="54" name="Text 52"/>
          <p:cNvSpPr/>
          <p:nvPr/>
        </p:nvSpPr>
        <p:spPr>
          <a:xfrm>
            <a:off x="4315968" y="4133088"/>
            <a:ext cx="1508760"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Epochs 6–30</a:t>
            </a:r>
            <a:endParaRPr lang="en-US" sz="900" dirty="0"/>
          </a:p>
        </p:txBody>
      </p:sp>
      <p:sp>
        <p:nvSpPr>
          <p:cNvPr id="55" name="Text 53"/>
          <p:cNvSpPr/>
          <p:nvPr/>
        </p:nvSpPr>
        <p:spPr>
          <a:xfrm>
            <a:off x="3264408" y="4407408"/>
            <a:ext cx="2606040" cy="530352"/>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Full network unlocked · Backbone LR = 1e-4 · Head LR = 3e-4 · Label smoothing (0.1) · AMP enabled for speed</a:t>
            </a:r>
            <a:endParaRPr lang="en-US" sz="850" dirty="0"/>
          </a:p>
        </p:txBody>
      </p:sp>
      <p:sp>
        <p:nvSpPr>
          <p:cNvPr id="56" name="Shape 54"/>
          <p:cNvSpPr/>
          <p:nvPr/>
        </p:nvSpPr>
        <p:spPr>
          <a:xfrm>
            <a:off x="6117336" y="4069080"/>
            <a:ext cx="2788920" cy="914400"/>
          </a:xfrm>
          <a:prstGeom prst="roundRect">
            <a:avLst>
              <a:gd name="adj" fmla="val 8000"/>
            </a:avLst>
          </a:prstGeom>
          <a:solidFill>
            <a:srgbClr val="F1F5F9"/>
          </a:solidFill>
          <a:ln w="12700">
            <a:solidFill>
              <a:srgbClr val="D6E4F7"/>
            </a:solidFill>
            <a:prstDash val="solid"/>
          </a:ln>
        </p:spPr>
      </p:sp>
      <p:sp>
        <p:nvSpPr>
          <p:cNvPr id="57" name="Text 55"/>
          <p:cNvSpPr/>
          <p:nvPr/>
        </p:nvSpPr>
        <p:spPr>
          <a:xfrm>
            <a:off x="6208776" y="4133088"/>
            <a:ext cx="1097280" cy="256032"/>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Ensemble</a:t>
            </a:r>
            <a:endParaRPr lang="en-US" sz="1000" dirty="0"/>
          </a:p>
        </p:txBody>
      </p:sp>
      <p:sp>
        <p:nvSpPr>
          <p:cNvPr id="58" name="Text 56"/>
          <p:cNvSpPr/>
          <p:nvPr/>
        </p:nvSpPr>
        <p:spPr>
          <a:xfrm>
            <a:off x="7260336" y="4133088"/>
            <a:ext cx="1508760" cy="25603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All 4 Models</a:t>
            </a:r>
            <a:endParaRPr lang="en-US" sz="900" dirty="0"/>
          </a:p>
        </p:txBody>
      </p:sp>
      <p:sp>
        <p:nvSpPr>
          <p:cNvPr id="59" name="Text 57"/>
          <p:cNvSpPr/>
          <p:nvPr/>
        </p:nvSpPr>
        <p:spPr>
          <a:xfrm>
            <a:off x="6208776" y="4407408"/>
            <a:ext cx="2606040" cy="530352"/>
          </a:xfrm>
          <a:prstGeom prst="rect">
            <a:avLst/>
          </a:prstGeom>
          <a:noFill/>
          <a:ln/>
        </p:spPr>
        <p:txBody>
          <a:bodyPr wrap="square" lIns="0" tIns="0" rIns="0" bIns="0" rtlCol="0" anchor="ctr"/>
          <a:lstStyle/>
          <a:p>
            <a:pPr indent="0" marL="0">
              <a:buNone/>
            </a:pPr>
            <a:r>
              <a:rPr lang="en-US" sz="850" dirty="0">
                <a:solidFill>
                  <a:srgbClr val="334155"/>
                </a:solidFill>
                <a:latin typeface="Calibri" pitchFamily="34" charset="0"/>
                <a:ea typeface="Calibri" pitchFamily="34" charset="-122"/>
                <a:cs typeface="Calibri" pitchFamily="34" charset="-120"/>
              </a:rPr>
              <a:t>Soft-voting across all 4 models · Best overall performance · User can select individual or combined predictions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3E"/>
          </a:solidFill>
          <a:ln w="12700">
            <a:solidFill>
              <a:srgbClr val="0D1B3E"/>
            </a:solidFill>
            <a:prstDash val="solid"/>
          </a:ln>
        </p:spPr>
      </p:sp>
      <p:sp>
        <p:nvSpPr>
          <p:cNvPr id="3" name="Text 1"/>
          <p:cNvSpPr/>
          <p:nvPr/>
        </p:nvSpPr>
        <p:spPr>
          <a:xfrm>
            <a:off x="274320" y="45720"/>
            <a:ext cx="8595360"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Performance Results</a:t>
            </a:r>
            <a:endParaRPr lang="en-US" sz="2200" dirty="0"/>
          </a:p>
        </p:txBody>
      </p:sp>
      <p:sp>
        <p:nvSpPr>
          <p:cNvPr id="4" name="Text 2"/>
          <p:cNvSpPr/>
          <p:nvPr/>
        </p:nvSpPr>
        <p:spPr>
          <a:xfrm>
            <a:off x="274320" y="548640"/>
            <a:ext cx="8595360" cy="274320"/>
          </a:xfrm>
          <a:prstGeom prst="rect">
            <a:avLst/>
          </a:prstGeom>
          <a:noFill/>
          <a:ln/>
        </p:spPr>
        <p:txBody>
          <a:bodyPr wrap="square" lIns="0" tIns="0" rIns="0" bIns="0" rtlCol="0" anchor="ctr"/>
          <a:lstStyle/>
          <a:p>
            <a:pPr algn="l" indent="0" marL="0">
              <a:buNone/>
            </a:pPr>
            <a:r>
              <a:rPr lang="en-US" sz="1100" dirty="0">
                <a:solidFill>
                  <a:srgbClr val="B0C4DE"/>
                </a:solidFill>
                <a:latin typeface="Calibri" pitchFamily="34" charset="0"/>
                <a:ea typeface="Calibri" pitchFamily="34" charset="-122"/>
                <a:cs typeface="Calibri" pitchFamily="34" charset="-120"/>
              </a:rPr>
              <a:t>MobileNetV3-Large Achieves Best Overall Performance Across All Metrics</a:t>
            </a:r>
            <a:endParaRPr lang="en-US" sz="1100" dirty="0"/>
          </a:p>
        </p:txBody>
      </p:sp>
      <p:sp>
        <p:nvSpPr>
          <p:cNvPr id="5" name="Shape 3"/>
          <p:cNvSpPr/>
          <p:nvPr/>
        </p:nvSpPr>
        <p:spPr>
          <a:xfrm>
            <a:off x="0" y="868680"/>
            <a:ext cx="9144000" cy="36576"/>
          </a:xfrm>
          <a:prstGeom prst="rect">
            <a:avLst/>
          </a:prstGeom>
          <a:solidFill>
            <a:srgbClr val="1A56B0"/>
          </a:solidFill>
          <a:ln w="12700">
            <a:solidFill>
              <a:srgbClr val="1A56B0"/>
            </a:solidFill>
            <a:prstDash val="solid"/>
          </a:ln>
        </p:spPr>
      </p:sp>
      <p:sp>
        <p:nvSpPr>
          <p:cNvPr id="6" name="Shape 4"/>
          <p:cNvSpPr/>
          <p:nvPr/>
        </p:nvSpPr>
        <p:spPr>
          <a:xfrm>
            <a:off x="228600" y="1005840"/>
            <a:ext cx="2743200" cy="1170432"/>
          </a:xfrm>
          <a:prstGeom prst="roundRect">
            <a:avLst>
              <a:gd name="adj" fmla="val 7813"/>
            </a:avLst>
          </a:prstGeom>
          <a:solidFill>
            <a:srgbClr val="F1F5F9"/>
          </a:solidFill>
          <a:ln w="12700">
            <a:solidFill>
              <a:srgbClr val="D6E4F7"/>
            </a:solidFill>
            <a:prstDash val="solid"/>
          </a:ln>
          <a:effectLst>
            <a:outerShdw sx="100000" sy="100000" kx="0" ky="0" algn="bl" rotWithShape="0" blurRad="63500" dist="25400" dir="2700000">
              <a:srgbClr val="000000">
                <a:alpha val="12000"/>
              </a:srgbClr>
            </a:outerShdw>
          </a:effectLst>
        </p:spPr>
      </p:sp>
      <p:sp>
        <p:nvSpPr>
          <p:cNvPr id="7" name="Text 5"/>
          <p:cNvSpPr/>
          <p:nvPr/>
        </p:nvSpPr>
        <p:spPr>
          <a:xfrm>
            <a:off x="228600" y="1051560"/>
            <a:ext cx="2743200" cy="658368"/>
          </a:xfrm>
          <a:prstGeom prst="rect">
            <a:avLst/>
          </a:prstGeom>
          <a:noFill/>
          <a:ln/>
        </p:spPr>
        <p:txBody>
          <a:bodyPr wrap="square" lIns="0" tIns="0" rIns="0" bIns="0" rtlCol="0" anchor="b"/>
          <a:lstStyle/>
          <a:p>
            <a:pPr algn="ctr" indent="0" marL="0">
              <a:buNone/>
            </a:pPr>
            <a:r>
              <a:rPr lang="en-US" sz="3400" b="1" dirty="0">
                <a:solidFill>
                  <a:srgbClr val="1A56B0"/>
                </a:solidFill>
                <a:latin typeface="Calibri" pitchFamily="34" charset="0"/>
                <a:ea typeface="Calibri" pitchFamily="34" charset="-122"/>
                <a:cs typeface="Calibri" pitchFamily="34" charset="-120"/>
              </a:rPr>
              <a:t>84.35%</a:t>
            </a:r>
            <a:endParaRPr lang="en-US" sz="3400" dirty="0"/>
          </a:p>
        </p:txBody>
      </p:sp>
      <p:sp>
        <p:nvSpPr>
          <p:cNvPr id="8" name="Text 6"/>
          <p:cNvSpPr/>
          <p:nvPr/>
        </p:nvSpPr>
        <p:spPr>
          <a:xfrm>
            <a:off x="274320" y="1737360"/>
            <a:ext cx="2651760" cy="384048"/>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Best Accuracy</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(MobileNetV3-Large)</a:t>
            </a:r>
            <a:endParaRPr lang="en-US" sz="900" dirty="0"/>
          </a:p>
        </p:txBody>
      </p:sp>
      <p:sp>
        <p:nvSpPr>
          <p:cNvPr id="9" name="Shape 7"/>
          <p:cNvSpPr/>
          <p:nvPr/>
        </p:nvSpPr>
        <p:spPr>
          <a:xfrm>
            <a:off x="3172968" y="1005840"/>
            <a:ext cx="2743200" cy="1170432"/>
          </a:xfrm>
          <a:prstGeom prst="roundRect">
            <a:avLst>
              <a:gd name="adj" fmla="val 7813"/>
            </a:avLst>
          </a:prstGeom>
          <a:solidFill>
            <a:srgbClr val="FFF5F0"/>
          </a:solidFill>
          <a:ln w="25400">
            <a:solidFill>
              <a:srgbClr val="E85D26"/>
            </a:solidFill>
            <a:prstDash val="solid"/>
          </a:ln>
          <a:effectLst>
            <a:outerShdw sx="100000" sy="100000" kx="0" ky="0" algn="bl" rotWithShape="0" blurRad="63500" dist="25400" dir="2700000">
              <a:srgbClr val="000000">
                <a:alpha val="12000"/>
              </a:srgbClr>
            </a:outerShdw>
          </a:effectLst>
        </p:spPr>
      </p:sp>
      <p:sp>
        <p:nvSpPr>
          <p:cNvPr id="10" name="Text 8"/>
          <p:cNvSpPr/>
          <p:nvPr/>
        </p:nvSpPr>
        <p:spPr>
          <a:xfrm>
            <a:off x="3172968" y="1051560"/>
            <a:ext cx="2743200" cy="658368"/>
          </a:xfrm>
          <a:prstGeom prst="rect">
            <a:avLst/>
          </a:prstGeom>
          <a:noFill/>
          <a:ln/>
        </p:spPr>
        <p:txBody>
          <a:bodyPr wrap="square" lIns="0" tIns="0" rIns="0" bIns="0" rtlCol="0" anchor="b"/>
          <a:lstStyle/>
          <a:p>
            <a:pPr algn="ctr" indent="0" marL="0">
              <a:buNone/>
            </a:pPr>
            <a:r>
              <a:rPr lang="en-US" sz="3400" b="1" dirty="0">
                <a:solidFill>
                  <a:srgbClr val="E85D26"/>
                </a:solidFill>
                <a:latin typeface="Calibri" pitchFamily="34" charset="0"/>
                <a:ea typeface="Calibri" pitchFamily="34" charset="-122"/>
                <a:cs typeface="Calibri" pitchFamily="34" charset="-120"/>
              </a:rPr>
              <a:t>97.57%</a:t>
            </a:r>
            <a:endParaRPr lang="en-US" sz="3400" dirty="0"/>
          </a:p>
        </p:txBody>
      </p:sp>
      <p:sp>
        <p:nvSpPr>
          <p:cNvPr id="11" name="Text 9"/>
          <p:cNvSpPr/>
          <p:nvPr/>
        </p:nvSpPr>
        <p:spPr>
          <a:xfrm>
            <a:off x="3218688" y="1737360"/>
            <a:ext cx="2651760" cy="384048"/>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Best AUC-ROC</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(MobileNetV3-Large)</a:t>
            </a:r>
            <a:endParaRPr lang="en-US" sz="900" dirty="0"/>
          </a:p>
        </p:txBody>
      </p:sp>
      <p:sp>
        <p:nvSpPr>
          <p:cNvPr id="12" name="Shape 10"/>
          <p:cNvSpPr/>
          <p:nvPr/>
        </p:nvSpPr>
        <p:spPr>
          <a:xfrm>
            <a:off x="6117336" y="1005840"/>
            <a:ext cx="2743200" cy="1170432"/>
          </a:xfrm>
          <a:prstGeom prst="roundRect">
            <a:avLst>
              <a:gd name="adj" fmla="val 7813"/>
            </a:avLst>
          </a:prstGeom>
          <a:solidFill>
            <a:srgbClr val="F1F5F9"/>
          </a:solidFill>
          <a:ln w="12700">
            <a:solidFill>
              <a:srgbClr val="D6E4F7"/>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6117336" y="1051560"/>
            <a:ext cx="2743200" cy="658368"/>
          </a:xfrm>
          <a:prstGeom prst="rect">
            <a:avLst/>
          </a:prstGeom>
          <a:noFill/>
          <a:ln/>
        </p:spPr>
        <p:txBody>
          <a:bodyPr wrap="square" lIns="0" tIns="0" rIns="0" bIns="0" rtlCol="0" anchor="b"/>
          <a:lstStyle/>
          <a:p>
            <a:pPr algn="ctr" indent="0" marL="0">
              <a:buNone/>
            </a:pPr>
            <a:r>
              <a:rPr lang="en-US" sz="3400" b="1" dirty="0">
                <a:solidFill>
                  <a:srgbClr val="0D8A6E"/>
                </a:solidFill>
                <a:latin typeface="Calibri" pitchFamily="34" charset="0"/>
                <a:ea typeface="Calibri" pitchFamily="34" charset="-122"/>
                <a:cs typeface="Calibri" pitchFamily="34" charset="-120"/>
              </a:rPr>
              <a:t>100%</a:t>
            </a:r>
            <a:endParaRPr lang="en-US" sz="3400" dirty="0"/>
          </a:p>
        </p:txBody>
      </p:sp>
      <p:sp>
        <p:nvSpPr>
          <p:cNvPr id="14" name="Text 12"/>
          <p:cNvSpPr/>
          <p:nvPr/>
        </p:nvSpPr>
        <p:spPr>
          <a:xfrm>
            <a:off x="6163056" y="1737360"/>
            <a:ext cx="2651760" cy="384048"/>
          </a:xfrm>
          <a:prstGeom prst="rect">
            <a:avLst/>
          </a:prstGeom>
          <a:noFill/>
          <a:ln/>
        </p:spPr>
        <p:txBody>
          <a:bodyPr wrap="square" lIns="0" tIns="0" rIns="0" bIns="0" rtlCol="0" anchor="t"/>
          <a:lstStyle/>
          <a:p>
            <a:pPr algn="ctr" indent="0" marL="0">
              <a:buNone/>
            </a:pPr>
            <a:r>
              <a:rPr lang="en-US" sz="900" dirty="0">
                <a:solidFill>
                  <a:srgbClr val="64748B"/>
                </a:solidFill>
                <a:latin typeface="Calibri" pitchFamily="34" charset="0"/>
                <a:ea typeface="Calibri" pitchFamily="34" charset="-122"/>
                <a:cs typeface="Calibri" pitchFamily="34" charset="-120"/>
              </a:rPr>
              <a:t>Melanoma AUC</a:t>
            </a:r>
            <a:endParaRPr lang="en-US" sz="900" dirty="0"/>
          </a:p>
          <a:p>
            <a:pPr algn="ctr" indent="0" marL="0">
              <a:buNone/>
            </a:pPr>
            <a:r>
              <a:rPr lang="en-US" sz="900" dirty="0">
                <a:solidFill>
                  <a:srgbClr val="64748B"/>
                </a:solidFill>
                <a:latin typeface="Calibri" pitchFamily="34" charset="0"/>
                <a:ea typeface="Calibri" pitchFamily="34" charset="-122"/>
                <a:cs typeface="Calibri" pitchFamily="34" charset="-120"/>
              </a:rPr>
              <a:t>Highest Risk Detection</a:t>
            </a:r>
            <a:endParaRPr lang="en-US" sz="900" dirty="0"/>
          </a:p>
        </p:txBody>
      </p:sp>
      <p:sp>
        <p:nvSpPr>
          <p:cNvPr id="15" name="Text 13"/>
          <p:cNvSpPr/>
          <p:nvPr/>
        </p:nvSpPr>
        <p:spPr>
          <a:xfrm>
            <a:off x="228600" y="2304288"/>
            <a:ext cx="5029200" cy="274320"/>
          </a:xfrm>
          <a:prstGeom prst="rect">
            <a:avLst/>
          </a:prstGeom>
          <a:noFill/>
          <a:ln/>
        </p:spPr>
        <p:txBody>
          <a:bodyPr wrap="square" lIns="0" tIns="0" rIns="0" bIns="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Model AUC-ROC Comparison</a:t>
            </a:r>
            <a:endParaRPr lang="en-US" sz="1100" dirty="0"/>
          </a:p>
        </p:txBody>
      </p:sp>
      <p:graphicFrame>
        <p:nvGraphicFramePr>
          <p:cNvPr id="16" name="Chart 0" descr=""/>
          <p:cNvGraphicFramePr/>
          <p:nvPr/>
        </p:nvGraphicFramePr>
        <p:xfrm>
          <a:off x="228600" y="2633472"/>
          <a:ext cx="5029200" cy="228600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5440680" y="2304288"/>
            <a:ext cx="3474720" cy="274320"/>
          </a:xfrm>
          <a:prstGeom prst="rect">
            <a:avLst/>
          </a:prstGeom>
          <a:noFill/>
          <a:ln/>
        </p:spPr>
        <p:txBody>
          <a:bodyPr wrap="square" lIns="0" tIns="0" rIns="0" bIns="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Key Per-Class Results</a:t>
            </a:r>
            <a:endParaRPr lang="en-US" sz="1100" dirty="0"/>
          </a:p>
        </p:txBody>
      </p:sp>
      <p:sp>
        <p:nvSpPr>
          <p:cNvPr id="18" name="Shape 15"/>
          <p:cNvSpPr/>
          <p:nvPr/>
        </p:nvSpPr>
        <p:spPr>
          <a:xfrm>
            <a:off x="5440680" y="2633472"/>
            <a:ext cx="3474720" cy="329184"/>
          </a:xfrm>
          <a:prstGeom prst="roundRect">
            <a:avLst>
              <a:gd name="adj" fmla="val 13889"/>
            </a:avLst>
          </a:prstGeom>
          <a:solidFill>
            <a:srgbClr val="F1F5F9"/>
          </a:solidFill>
          <a:ln w="10160">
            <a:solidFill>
              <a:srgbClr val="D6E4F7"/>
            </a:solidFill>
            <a:prstDash val="solid"/>
          </a:ln>
        </p:spPr>
      </p:sp>
      <p:sp>
        <p:nvSpPr>
          <p:cNvPr id="19" name="Text 16"/>
          <p:cNvSpPr/>
          <p:nvPr/>
        </p:nvSpPr>
        <p:spPr>
          <a:xfrm>
            <a:off x="5532120" y="2670048"/>
            <a:ext cx="1737360" cy="237744"/>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Melanoma</a:t>
            </a:r>
            <a:endParaRPr lang="en-US" sz="900" dirty="0"/>
          </a:p>
        </p:txBody>
      </p:sp>
      <p:sp>
        <p:nvSpPr>
          <p:cNvPr id="20" name="Text 17"/>
          <p:cNvSpPr/>
          <p:nvPr/>
        </p:nvSpPr>
        <p:spPr>
          <a:xfrm>
            <a:off x="7223760" y="2670048"/>
            <a:ext cx="822960" cy="237744"/>
          </a:xfrm>
          <a:prstGeom prst="rect">
            <a:avLst/>
          </a:prstGeom>
          <a:noFill/>
          <a:ln/>
        </p:spPr>
        <p:txBody>
          <a:bodyPr wrap="square" lIns="0" tIns="0" rIns="0" bIns="0" rtlCol="0" anchor="ctr"/>
          <a:lstStyle/>
          <a:p>
            <a:pPr algn="ctr" indent="0" marL="0">
              <a:buNone/>
            </a:pPr>
            <a:r>
              <a:rPr lang="en-US" sz="1000" b="1" dirty="0">
                <a:solidFill>
                  <a:srgbClr val="CC2200"/>
                </a:solidFill>
                <a:latin typeface="Calibri" pitchFamily="34" charset="0"/>
                <a:ea typeface="Calibri" pitchFamily="34" charset="-122"/>
                <a:cs typeface="Calibri" pitchFamily="34" charset="-120"/>
              </a:rPr>
              <a:t>100.0%</a:t>
            </a:r>
            <a:endParaRPr lang="en-US" sz="1000" dirty="0"/>
          </a:p>
        </p:txBody>
      </p:sp>
      <p:sp>
        <p:nvSpPr>
          <p:cNvPr id="21" name="Text 18"/>
          <p:cNvSpPr/>
          <p:nvPr/>
        </p:nvSpPr>
        <p:spPr>
          <a:xfrm>
            <a:off x="8001000" y="2670048"/>
            <a:ext cx="868680" cy="237744"/>
          </a:xfrm>
          <a:prstGeom prst="rect">
            <a:avLst/>
          </a:prstGeom>
          <a:noFill/>
          <a:ln/>
        </p:spPr>
        <p:txBody>
          <a:bodyPr wrap="square" lIns="0" tIns="0" rIns="0" bIns="0" rtlCol="0" anchor="ctr"/>
          <a:lstStyle/>
          <a:p>
            <a:pPr algn="r" indent="0" marL="0">
              <a:buNone/>
            </a:pPr>
            <a:r>
              <a:rPr lang="en-US" sz="800" dirty="0">
                <a:solidFill>
                  <a:srgbClr val="CC2200"/>
                </a:solidFill>
                <a:latin typeface="Calibri" pitchFamily="34" charset="0"/>
                <a:ea typeface="Calibri" pitchFamily="34" charset="-122"/>
                <a:cs typeface="Calibri" pitchFamily="34" charset="-120"/>
              </a:rPr>
              <a:t>HIGH RISK</a:t>
            </a:r>
            <a:endParaRPr lang="en-US" sz="800" dirty="0"/>
          </a:p>
        </p:txBody>
      </p:sp>
      <p:sp>
        <p:nvSpPr>
          <p:cNvPr id="22" name="Shape 19"/>
          <p:cNvSpPr/>
          <p:nvPr/>
        </p:nvSpPr>
        <p:spPr>
          <a:xfrm>
            <a:off x="5440680" y="3017520"/>
            <a:ext cx="3474720" cy="329184"/>
          </a:xfrm>
          <a:prstGeom prst="roundRect">
            <a:avLst>
              <a:gd name="adj" fmla="val 13889"/>
            </a:avLst>
          </a:prstGeom>
          <a:solidFill>
            <a:srgbClr val="F1F5F9"/>
          </a:solidFill>
          <a:ln w="10160">
            <a:solidFill>
              <a:srgbClr val="D6E4F7"/>
            </a:solidFill>
            <a:prstDash val="solid"/>
          </a:ln>
        </p:spPr>
      </p:sp>
      <p:sp>
        <p:nvSpPr>
          <p:cNvPr id="23" name="Text 20"/>
          <p:cNvSpPr/>
          <p:nvPr/>
        </p:nvSpPr>
        <p:spPr>
          <a:xfrm>
            <a:off x="5532120" y="3054096"/>
            <a:ext cx="1737360" cy="237744"/>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Basal Cell Carcinoma</a:t>
            </a:r>
            <a:endParaRPr lang="en-US" sz="900" dirty="0"/>
          </a:p>
        </p:txBody>
      </p:sp>
      <p:sp>
        <p:nvSpPr>
          <p:cNvPr id="24" name="Text 21"/>
          <p:cNvSpPr/>
          <p:nvPr/>
        </p:nvSpPr>
        <p:spPr>
          <a:xfrm>
            <a:off x="7223760" y="3054096"/>
            <a:ext cx="822960" cy="237744"/>
          </a:xfrm>
          <a:prstGeom prst="rect">
            <a:avLst/>
          </a:prstGeom>
          <a:noFill/>
          <a:ln/>
        </p:spPr>
        <p:txBody>
          <a:bodyPr wrap="square" lIns="0" tIns="0" rIns="0" bIns="0" rtlCol="0" anchor="ctr"/>
          <a:lstStyle/>
          <a:p>
            <a:pPr algn="ctr" indent="0" marL="0">
              <a:buNone/>
            </a:pPr>
            <a:r>
              <a:rPr lang="en-US" sz="1000" b="1" dirty="0">
                <a:solidFill>
                  <a:srgbClr val="CC2200"/>
                </a:solidFill>
                <a:latin typeface="Calibri" pitchFamily="34" charset="0"/>
                <a:ea typeface="Calibri" pitchFamily="34" charset="-122"/>
                <a:cs typeface="Calibri" pitchFamily="34" charset="-120"/>
              </a:rPr>
              <a:t>99.5%</a:t>
            </a:r>
            <a:endParaRPr lang="en-US" sz="1000" dirty="0"/>
          </a:p>
        </p:txBody>
      </p:sp>
      <p:sp>
        <p:nvSpPr>
          <p:cNvPr id="25" name="Text 22"/>
          <p:cNvSpPr/>
          <p:nvPr/>
        </p:nvSpPr>
        <p:spPr>
          <a:xfrm>
            <a:off x="8001000" y="3054096"/>
            <a:ext cx="868680" cy="237744"/>
          </a:xfrm>
          <a:prstGeom prst="rect">
            <a:avLst/>
          </a:prstGeom>
          <a:noFill/>
          <a:ln/>
        </p:spPr>
        <p:txBody>
          <a:bodyPr wrap="square" lIns="0" tIns="0" rIns="0" bIns="0" rtlCol="0" anchor="ctr"/>
          <a:lstStyle/>
          <a:p>
            <a:pPr algn="r" indent="0" marL="0">
              <a:buNone/>
            </a:pPr>
            <a:r>
              <a:rPr lang="en-US" sz="800" dirty="0">
                <a:solidFill>
                  <a:srgbClr val="CC2200"/>
                </a:solidFill>
                <a:latin typeface="Calibri" pitchFamily="34" charset="0"/>
                <a:ea typeface="Calibri" pitchFamily="34" charset="-122"/>
                <a:cs typeface="Calibri" pitchFamily="34" charset="-120"/>
              </a:rPr>
              <a:t>HIGH RISK</a:t>
            </a:r>
            <a:endParaRPr lang="en-US" sz="800" dirty="0"/>
          </a:p>
        </p:txBody>
      </p:sp>
      <p:sp>
        <p:nvSpPr>
          <p:cNvPr id="26" name="Shape 23"/>
          <p:cNvSpPr/>
          <p:nvPr/>
        </p:nvSpPr>
        <p:spPr>
          <a:xfrm>
            <a:off x="5440680" y="3401568"/>
            <a:ext cx="3474720" cy="329184"/>
          </a:xfrm>
          <a:prstGeom prst="roundRect">
            <a:avLst>
              <a:gd name="adj" fmla="val 13889"/>
            </a:avLst>
          </a:prstGeom>
          <a:solidFill>
            <a:srgbClr val="F1F5F9"/>
          </a:solidFill>
          <a:ln w="10160">
            <a:solidFill>
              <a:srgbClr val="D6E4F7"/>
            </a:solidFill>
            <a:prstDash val="solid"/>
          </a:ln>
        </p:spPr>
      </p:sp>
      <p:sp>
        <p:nvSpPr>
          <p:cNvPr id="27" name="Text 24"/>
          <p:cNvSpPr/>
          <p:nvPr/>
        </p:nvSpPr>
        <p:spPr>
          <a:xfrm>
            <a:off x="5532120" y="3438144"/>
            <a:ext cx="1737360" cy="237744"/>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Melanocytic Nevi</a:t>
            </a:r>
            <a:endParaRPr lang="en-US" sz="900" dirty="0"/>
          </a:p>
        </p:txBody>
      </p:sp>
      <p:sp>
        <p:nvSpPr>
          <p:cNvPr id="28" name="Text 25"/>
          <p:cNvSpPr/>
          <p:nvPr/>
        </p:nvSpPr>
        <p:spPr>
          <a:xfrm>
            <a:off x="7223760" y="3438144"/>
            <a:ext cx="822960" cy="237744"/>
          </a:xfrm>
          <a:prstGeom prst="rect">
            <a:avLst/>
          </a:prstGeom>
          <a:noFill/>
          <a:ln/>
        </p:spPr>
        <p:txBody>
          <a:bodyPr wrap="square" lIns="0" tIns="0" rIns="0" bIns="0" rtlCol="0" anchor="ctr"/>
          <a:lstStyle/>
          <a:p>
            <a:pPr algn="ctr" indent="0" marL="0">
              <a:buNone/>
            </a:pPr>
            <a:r>
              <a:rPr lang="en-US" sz="1000" b="1" dirty="0">
                <a:solidFill>
                  <a:srgbClr val="0D8A6E"/>
                </a:solidFill>
                <a:latin typeface="Calibri" pitchFamily="34" charset="0"/>
                <a:ea typeface="Calibri" pitchFamily="34" charset="-122"/>
                <a:cs typeface="Calibri" pitchFamily="34" charset="-120"/>
              </a:rPr>
              <a:t>99.2%</a:t>
            </a:r>
            <a:endParaRPr lang="en-US" sz="1000" dirty="0"/>
          </a:p>
        </p:txBody>
      </p:sp>
      <p:sp>
        <p:nvSpPr>
          <p:cNvPr id="29" name="Text 26"/>
          <p:cNvSpPr/>
          <p:nvPr/>
        </p:nvSpPr>
        <p:spPr>
          <a:xfrm>
            <a:off x="8001000" y="3438144"/>
            <a:ext cx="868680" cy="237744"/>
          </a:xfrm>
          <a:prstGeom prst="rect">
            <a:avLst/>
          </a:prstGeom>
          <a:noFill/>
          <a:ln/>
        </p:spPr>
        <p:txBody>
          <a:bodyPr wrap="square" lIns="0" tIns="0" rIns="0" bIns="0" rtlCol="0" anchor="ctr"/>
          <a:lstStyle/>
          <a:p>
            <a:pPr algn="r" indent="0" marL="0">
              <a:buNone/>
            </a:pPr>
            <a:r>
              <a:rPr lang="en-US" sz="800" dirty="0">
                <a:solidFill>
                  <a:srgbClr val="0D8A6E"/>
                </a:solidFill>
                <a:latin typeface="Calibri" pitchFamily="34" charset="0"/>
                <a:ea typeface="Calibri" pitchFamily="34" charset="-122"/>
                <a:cs typeface="Calibri" pitchFamily="34" charset="-120"/>
              </a:rPr>
              <a:t>Low</a:t>
            </a:r>
            <a:endParaRPr lang="en-US" sz="800" dirty="0"/>
          </a:p>
        </p:txBody>
      </p:sp>
      <p:sp>
        <p:nvSpPr>
          <p:cNvPr id="30" name="Shape 27"/>
          <p:cNvSpPr/>
          <p:nvPr/>
        </p:nvSpPr>
        <p:spPr>
          <a:xfrm>
            <a:off x="5440680" y="3785616"/>
            <a:ext cx="3474720" cy="329184"/>
          </a:xfrm>
          <a:prstGeom prst="roundRect">
            <a:avLst>
              <a:gd name="adj" fmla="val 13889"/>
            </a:avLst>
          </a:prstGeom>
          <a:solidFill>
            <a:srgbClr val="F1F5F9"/>
          </a:solidFill>
          <a:ln w="10160">
            <a:solidFill>
              <a:srgbClr val="D6E4F7"/>
            </a:solidFill>
            <a:prstDash val="solid"/>
          </a:ln>
        </p:spPr>
      </p:sp>
      <p:sp>
        <p:nvSpPr>
          <p:cNvPr id="31" name="Text 28"/>
          <p:cNvSpPr/>
          <p:nvPr/>
        </p:nvSpPr>
        <p:spPr>
          <a:xfrm>
            <a:off x="5532120" y="3822192"/>
            <a:ext cx="1737360" cy="237744"/>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Benign Keratosis</a:t>
            </a:r>
            <a:endParaRPr lang="en-US" sz="900" dirty="0"/>
          </a:p>
        </p:txBody>
      </p:sp>
      <p:sp>
        <p:nvSpPr>
          <p:cNvPr id="32" name="Text 29"/>
          <p:cNvSpPr/>
          <p:nvPr/>
        </p:nvSpPr>
        <p:spPr>
          <a:xfrm>
            <a:off x="7223760" y="3822192"/>
            <a:ext cx="822960" cy="237744"/>
          </a:xfrm>
          <a:prstGeom prst="rect">
            <a:avLst/>
          </a:prstGeom>
          <a:noFill/>
          <a:ln/>
        </p:spPr>
        <p:txBody>
          <a:bodyPr wrap="square" lIns="0" tIns="0" rIns="0" bIns="0" rtlCol="0" anchor="ctr"/>
          <a:lstStyle/>
          <a:p>
            <a:pPr algn="ctr" indent="0" marL="0">
              <a:buNone/>
            </a:pPr>
            <a:r>
              <a:rPr lang="en-US" sz="1000" b="1" dirty="0">
                <a:solidFill>
                  <a:srgbClr val="0D8A6E"/>
                </a:solidFill>
                <a:latin typeface="Calibri" pitchFamily="34" charset="0"/>
                <a:ea typeface="Calibri" pitchFamily="34" charset="-122"/>
                <a:cs typeface="Calibri" pitchFamily="34" charset="-120"/>
              </a:rPr>
              <a:t>98.1%</a:t>
            </a:r>
            <a:endParaRPr lang="en-US" sz="1000" dirty="0"/>
          </a:p>
        </p:txBody>
      </p:sp>
      <p:sp>
        <p:nvSpPr>
          <p:cNvPr id="33" name="Text 30"/>
          <p:cNvSpPr/>
          <p:nvPr/>
        </p:nvSpPr>
        <p:spPr>
          <a:xfrm>
            <a:off x="8001000" y="3822192"/>
            <a:ext cx="868680" cy="237744"/>
          </a:xfrm>
          <a:prstGeom prst="rect">
            <a:avLst/>
          </a:prstGeom>
          <a:noFill/>
          <a:ln/>
        </p:spPr>
        <p:txBody>
          <a:bodyPr wrap="square" lIns="0" tIns="0" rIns="0" bIns="0" rtlCol="0" anchor="ctr"/>
          <a:lstStyle/>
          <a:p>
            <a:pPr algn="r" indent="0" marL="0">
              <a:buNone/>
            </a:pPr>
            <a:r>
              <a:rPr lang="en-US" sz="800" dirty="0">
                <a:solidFill>
                  <a:srgbClr val="0D8A6E"/>
                </a:solidFill>
                <a:latin typeface="Calibri" pitchFamily="34" charset="0"/>
                <a:ea typeface="Calibri" pitchFamily="34" charset="-122"/>
                <a:cs typeface="Calibri" pitchFamily="34" charset="-120"/>
              </a:rPr>
              <a:t>Low</a:t>
            </a:r>
            <a:endParaRPr lang="en-US" sz="800" dirty="0"/>
          </a:p>
        </p:txBody>
      </p:sp>
      <p:sp>
        <p:nvSpPr>
          <p:cNvPr id="34" name="Shape 31"/>
          <p:cNvSpPr/>
          <p:nvPr/>
        </p:nvSpPr>
        <p:spPr>
          <a:xfrm>
            <a:off x="5440680" y="4169664"/>
            <a:ext cx="3474720" cy="329184"/>
          </a:xfrm>
          <a:prstGeom prst="roundRect">
            <a:avLst>
              <a:gd name="adj" fmla="val 13889"/>
            </a:avLst>
          </a:prstGeom>
          <a:solidFill>
            <a:srgbClr val="F1F5F9"/>
          </a:solidFill>
          <a:ln w="10160">
            <a:solidFill>
              <a:srgbClr val="D6E4F7"/>
            </a:solidFill>
            <a:prstDash val="solid"/>
          </a:ln>
        </p:spPr>
      </p:sp>
      <p:sp>
        <p:nvSpPr>
          <p:cNvPr id="35" name="Text 32"/>
          <p:cNvSpPr/>
          <p:nvPr/>
        </p:nvSpPr>
        <p:spPr>
          <a:xfrm>
            <a:off x="5532120" y="4206240"/>
            <a:ext cx="1737360" cy="237744"/>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Warts / Molluscum</a:t>
            </a:r>
            <a:endParaRPr lang="en-US" sz="900" dirty="0"/>
          </a:p>
        </p:txBody>
      </p:sp>
      <p:sp>
        <p:nvSpPr>
          <p:cNvPr id="36" name="Text 33"/>
          <p:cNvSpPr/>
          <p:nvPr/>
        </p:nvSpPr>
        <p:spPr>
          <a:xfrm>
            <a:off x="7223760" y="4206240"/>
            <a:ext cx="822960" cy="237744"/>
          </a:xfrm>
          <a:prstGeom prst="rect">
            <a:avLst/>
          </a:prstGeom>
          <a:noFill/>
          <a:ln/>
        </p:spPr>
        <p:txBody>
          <a:bodyPr wrap="square" lIns="0" tIns="0" rIns="0" bIns="0" rtlCol="0" anchor="ctr"/>
          <a:lstStyle/>
          <a:p>
            <a:pPr algn="ctr" indent="0" marL="0">
              <a:buNone/>
            </a:pPr>
            <a:r>
              <a:rPr lang="en-US" sz="1000" b="1" dirty="0">
                <a:solidFill>
                  <a:srgbClr val="0D8A6E"/>
                </a:solidFill>
                <a:latin typeface="Calibri" pitchFamily="34" charset="0"/>
                <a:ea typeface="Calibri" pitchFamily="34" charset="-122"/>
                <a:cs typeface="Calibri" pitchFamily="34" charset="-120"/>
              </a:rPr>
              <a:t>97.8%</a:t>
            </a:r>
            <a:endParaRPr lang="en-US" sz="1000" dirty="0"/>
          </a:p>
        </p:txBody>
      </p:sp>
      <p:sp>
        <p:nvSpPr>
          <p:cNvPr id="37" name="Text 34"/>
          <p:cNvSpPr/>
          <p:nvPr/>
        </p:nvSpPr>
        <p:spPr>
          <a:xfrm>
            <a:off x="8001000" y="4206240"/>
            <a:ext cx="868680" cy="237744"/>
          </a:xfrm>
          <a:prstGeom prst="rect">
            <a:avLst/>
          </a:prstGeom>
          <a:noFill/>
          <a:ln/>
        </p:spPr>
        <p:txBody>
          <a:bodyPr wrap="square" lIns="0" tIns="0" rIns="0" bIns="0" rtlCol="0" anchor="ctr"/>
          <a:lstStyle/>
          <a:p>
            <a:pPr algn="r" indent="0" marL="0">
              <a:buNone/>
            </a:pPr>
            <a:r>
              <a:rPr lang="en-US" sz="800" dirty="0">
                <a:solidFill>
                  <a:srgbClr val="0D8A6E"/>
                </a:solidFill>
                <a:latin typeface="Calibri" pitchFamily="34" charset="0"/>
                <a:ea typeface="Calibri" pitchFamily="34" charset="-122"/>
                <a:cs typeface="Calibri" pitchFamily="34" charset="-120"/>
              </a:rPr>
              <a:t>Low</a:t>
            </a:r>
            <a:endParaRPr lang="en-US" sz="800" dirty="0"/>
          </a:p>
        </p:txBody>
      </p:sp>
      <p:sp>
        <p:nvSpPr>
          <p:cNvPr id="38" name="Shape 35"/>
          <p:cNvSpPr/>
          <p:nvPr/>
        </p:nvSpPr>
        <p:spPr>
          <a:xfrm>
            <a:off x="5440680" y="4553712"/>
            <a:ext cx="3474720" cy="329184"/>
          </a:xfrm>
          <a:prstGeom prst="roundRect">
            <a:avLst>
              <a:gd name="adj" fmla="val 13889"/>
            </a:avLst>
          </a:prstGeom>
          <a:solidFill>
            <a:srgbClr val="F1F5F9"/>
          </a:solidFill>
          <a:ln w="10160">
            <a:solidFill>
              <a:srgbClr val="D6E4F7"/>
            </a:solidFill>
            <a:prstDash val="solid"/>
          </a:ln>
        </p:spPr>
      </p:sp>
      <p:sp>
        <p:nvSpPr>
          <p:cNvPr id="39" name="Text 36"/>
          <p:cNvSpPr/>
          <p:nvPr/>
        </p:nvSpPr>
        <p:spPr>
          <a:xfrm>
            <a:off x="5532120" y="4590288"/>
            <a:ext cx="1737360" cy="237744"/>
          </a:xfrm>
          <a:prstGeom prst="rect">
            <a:avLst/>
          </a:prstGeom>
          <a:noFill/>
          <a:ln/>
        </p:spPr>
        <p:txBody>
          <a:bodyPr wrap="square" lIns="0" tIns="0" rIns="0" bIns="0" rtlCol="0" anchor="ctr"/>
          <a:lstStyle/>
          <a:p>
            <a:pPr indent="0" marL="0">
              <a:buNone/>
            </a:pPr>
            <a:r>
              <a:rPr lang="en-US" sz="900" dirty="0">
                <a:solidFill>
                  <a:srgbClr val="334155"/>
                </a:solidFill>
                <a:latin typeface="Calibri" pitchFamily="34" charset="0"/>
                <a:ea typeface="Calibri" pitchFamily="34" charset="-122"/>
                <a:cs typeface="Calibri" pitchFamily="34" charset="-120"/>
              </a:rPr>
              <a:t>Atopic Dermatitis</a:t>
            </a:r>
            <a:endParaRPr lang="en-US" sz="900" dirty="0"/>
          </a:p>
        </p:txBody>
      </p:sp>
      <p:sp>
        <p:nvSpPr>
          <p:cNvPr id="40" name="Text 37"/>
          <p:cNvSpPr/>
          <p:nvPr/>
        </p:nvSpPr>
        <p:spPr>
          <a:xfrm>
            <a:off x="7223760" y="4590288"/>
            <a:ext cx="822960" cy="237744"/>
          </a:xfrm>
          <a:prstGeom prst="rect">
            <a:avLst/>
          </a:prstGeom>
          <a:noFill/>
          <a:ln/>
        </p:spPr>
        <p:txBody>
          <a:bodyPr wrap="square" lIns="0" tIns="0" rIns="0" bIns="0" rtlCol="0" anchor="ctr"/>
          <a:lstStyle/>
          <a:p>
            <a:pPr algn="ctr" indent="0" marL="0">
              <a:buNone/>
            </a:pPr>
            <a:r>
              <a:rPr lang="en-US" sz="1000" b="1" dirty="0">
                <a:solidFill>
                  <a:srgbClr val="D97706"/>
                </a:solidFill>
                <a:latin typeface="Calibri" pitchFamily="34" charset="0"/>
                <a:ea typeface="Calibri" pitchFamily="34" charset="-122"/>
                <a:cs typeface="Calibri" pitchFamily="34" charset="-120"/>
              </a:rPr>
              <a:t>91.2%</a:t>
            </a:r>
            <a:endParaRPr lang="en-US" sz="1000" dirty="0"/>
          </a:p>
        </p:txBody>
      </p:sp>
      <p:sp>
        <p:nvSpPr>
          <p:cNvPr id="41" name="Text 38"/>
          <p:cNvSpPr/>
          <p:nvPr/>
        </p:nvSpPr>
        <p:spPr>
          <a:xfrm>
            <a:off x="8001000" y="4590288"/>
            <a:ext cx="868680" cy="237744"/>
          </a:xfrm>
          <a:prstGeom prst="rect">
            <a:avLst/>
          </a:prstGeom>
          <a:noFill/>
          <a:ln/>
        </p:spPr>
        <p:txBody>
          <a:bodyPr wrap="square" lIns="0" tIns="0" rIns="0" bIns="0" rtlCol="0" anchor="ctr"/>
          <a:lstStyle/>
          <a:p>
            <a:pPr algn="r" indent="0" marL="0">
              <a:buNone/>
            </a:pPr>
            <a:r>
              <a:rPr lang="en-US" sz="800" dirty="0">
                <a:solidFill>
                  <a:srgbClr val="D97706"/>
                </a:solidFill>
                <a:latin typeface="Calibri" pitchFamily="34" charset="0"/>
                <a:ea typeface="Calibri" pitchFamily="34" charset="-122"/>
                <a:cs typeface="Calibri" pitchFamily="34" charset="-120"/>
              </a:rPr>
              <a:t>Moderate</a:t>
            </a:r>
            <a:endParaRPr lang="en-US" sz="800" dirty="0"/>
          </a:p>
        </p:txBody>
      </p:sp>
      <p:sp>
        <p:nvSpPr>
          <p:cNvPr id="42" name="Text 39"/>
          <p:cNvSpPr/>
          <p:nvPr/>
        </p:nvSpPr>
        <p:spPr>
          <a:xfrm>
            <a:off x="228600" y="4828032"/>
            <a:ext cx="8686800" cy="228600"/>
          </a:xfrm>
          <a:prstGeom prst="rect">
            <a:avLst/>
          </a:prstGeom>
          <a:noFill/>
          <a:ln/>
        </p:spPr>
        <p:txBody>
          <a:bodyPr wrap="square" lIns="0" tIns="0" rIns="0" bIns="0" rtlCol="0" anchor="ctr"/>
          <a:lstStyle/>
          <a:p>
            <a:pPr algn="ctr" indent="0" marL="0">
              <a:buNone/>
            </a:pPr>
            <a:r>
              <a:rPr lang="en-US" sz="950" b="1" dirty="0">
                <a:solidFill>
                  <a:srgbClr val="0D8A6E"/>
                </a:solidFill>
                <a:latin typeface="Calibri" pitchFamily="34" charset="0"/>
                <a:ea typeface="Calibri" pitchFamily="34" charset="-122"/>
                <a:cs typeface="Calibri" pitchFamily="34" charset="-120"/>
              </a:rPr>
              <a:t>★  All 4 models achieved AUC above 95% · 99.5% BCC AUC</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3E"/>
          </a:solidFill>
          <a:ln w="12700">
            <a:solidFill>
              <a:srgbClr val="0D1B3E"/>
            </a:solidFill>
            <a:prstDash val="solid"/>
          </a:ln>
        </p:spPr>
      </p:sp>
      <p:sp>
        <p:nvSpPr>
          <p:cNvPr id="3" name="Text 1"/>
          <p:cNvSpPr/>
          <p:nvPr/>
        </p:nvSpPr>
        <p:spPr>
          <a:xfrm>
            <a:off x="274320" y="45720"/>
            <a:ext cx="8595360"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Core Features &amp; Web Application</a:t>
            </a:r>
            <a:endParaRPr lang="en-US" sz="2200" dirty="0"/>
          </a:p>
        </p:txBody>
      </p:sp>
      <p:sp>
        <p:nvSpPr>
          <p:cNvPr id="4" name="Text 2"/>
          <p:cNvSpPr/>
          <p:nvPr/>
        </p:nvSpPr>
        <p:spPr>
          <a:xfrm>
            <a:off x="274320" y="548640"/>
            <a:ext cx="8595360" cy="274320"/>
          </a:xfrm>
          <a:prstGeom prst="rect">
            <a:avLst/>
          </a:prstGeom>
          <a:noFill/>
          <a:ln/>
        </p:spPr>
        <p:txBody>
          <a:bodyPr wrap="square" lIns="0" tIns="0" rIns="0" bIns="0" rtlCol="0" anchor="ctr"/>
          <a:lstStyle/>
          <a:p>
            <a:pPr algn="l" indent="0" marL="0">
              <a:buNone/>
            </a:pPr>
            <a:r>
              <a:rPr lang="en-US" sz="1100" dirty="0">
                <a:solidFill>
                  <a:srgbClr val="B0C4DE"/>
                </a:solidFill>
                <a:latin typeface="Calibri" pitchFamily="34" charset="0"/>
                <a:ea typeface="Calibri" pitchFamily="34" charset="-122"/>
                <a:cs typeface="Calibri" pitchFamily="34" charset="-120"/>
              </a:rPr>
              <a:t>DermaAI Platform — Real-Time Clinical Decision Support</a:t>
            </a:r>
            <a:endParaRPr lang="en-US" sz="1100" dirty="0"/>
          </a:p>
        </p:txBody>
      </p:sp>
      <p:sp>
        <p:nvSpPr>
          <p:cNvPr id="5" name="Shape 3"/>
          <p:cNvSpPr/>
          <p:nvPr/>
        </p:nvSpPr>
        <p:spPr>
          <a:xfrm>
            <a:off x="0" y="868680"/>
            <a:ext cx="9144000" cy="36576"/>
          </a:xfrm>
          <a:prstGeom prst="rect">
            <a:avLst/>
          </a:prstGeom>
          <a:solidFill>
            <a:srgbClr val="1A56B0"/>
          </a:solidFill>
          <a:ln w="12700">
            <a:solidFill>
              <a:srgbClr val="1A56B0"/>
            </a:solidFill>
            <a:prstDash val="solid"/>
          </a:ln>
        </p:spPr>
      </p:sp>
      <p:sp>
        <p:nvSpPr>
          <p:cNvPr id="6" name="Shape 4"/>
          <p:cNvSpPr/>
          <p:nvPr/>
        </p:nvSpPr>
        <p:spPr>
          <a:xfrm>
            <a:off x="201168" y="1005840"/>
            <a:ext cx="2834640" cy="1737360"/>
          </a:xfrm>
          <a:prstGeom prst="roundRect">
            <a:avLst>
              <a:gd name="adj" fmla="val 5263"/>
            </a:avLst>
          </a:prstGeom>
          <a:solidFill>
            <a:srgbClr val="FFFFFF"/>
          </a:solidFill>
          <a:ln w="15240">
            <a:solidFill>
              <a:srgbClr val="D6E4F7"/>
            </a:solidFill>
            <a:prstDash val="solid"/>
          </a:ln>
          <a:effectLst>
            <a:outerShdw sx="100000" sy="100000" kx="0" ky="0" algn="bl" rotWithShape="0" blurRad="63500" dist="25400" dir="2700000">
              <a:srgbClr val="000000">
                <a:alpha val="10000"/>
              </a:srgbClr>
            </a:outerShdw>
          </a:effectLst>
        </p:spPr>
      </p:sp>
      <p:sp>
        <p:nvSpPr>
          <p:cNvPr id="7" name="Shape 5"/>
          <p:cNvSpPr/>
          <p:nvPr/>
        </p:nvSpPr>
        <p:spPr>
          <a:xfrm>
            <a:off x="310896" y="1133856"/>
            <a:ext cx="502920" cy="502920"/>
          </a:xfrm>
          <a:prstGeom prst="OVAL">
            <a:avLst/>
          </a:prstGeom>
          <a:solidFill>
            <a:srgbClr val="1A56B0">
              <a:alpha val="15000"/>
            </a:srgbClr>
          </a:solidFill>
          <a:ln w="12700">
            <a:solidFill>
              <a:srgbClr val="1A56B0"/>
            </a:solidFill>
            <a:prstDash val="solid"/>
          </a:ln>
        </p:spPr>
      </p:sp>
      <p:pic>
        <p:nvPicPr>
          <p:cNvPr id="8" name="Image 0" descr="preencoded.png">    </p:cNvPr>
          <p:cNvPicPr>
            <a:picLocks noChangeAspect="1"/>
          </p:cNvPicPr>
          <p:nvPr/>
        </p:nvPicPr>
        <p:blipFill>
          <a:blip r:embed="rId1"/>
          <a:stretch>
            <a:fillRect/>
          </a:stretch>
        </p:blipFill>
        <p:spPr>
          <a:xfrm>
            <a:off x="352044" y="1161288"/>
            <a:ext cx="420624" cy="420624"/>
          </a:xfrm>
          <a:prstGeom prst="rect">
            <a:avLst/>
          </a:prstGeom>
        </p:spPr>
      </p:pic>
      <p:sp>
        <p:nvSpPr>
          <p:cNvPr id="9" name="Text 6"/>
          <p:cNvSpPr/>
          <p:nvPr/>
        </p:nvSpPr>
        <p:spPr>
          <a:xfrm>
            <a:off x="914400" y="1152144"/>
            <a:ext cx="2029968" cy="365760"/>
          </a:xfrm>
          <a:prstGeom prst="rect">
            <a:avLst/>
          </a:prstGeom>
          <a:noFill/>
          <a:ln/>
        </p:spPr>
        <p:txBody>
          <a:bodyPr wrap="square" lIns="0" tIns="0" rIns="0" bIns="0" rtlCol="0" anchor="ctr"/>
          <a:lstStyle/>
          <a:p>
            <a:pPr algn="l" indent="0" marL="0">
              <a:buNone/>
            </a:pPr>
            <a:r>
              <a:rPr lang="en-US" sz="1050" b="1" dirty="0">
                <a:solidFill>
                  <a:srgbClr val="0D1B3E"/>
                </a:solidFill>
                <a:latin typeface="Calibri" pitchFamily="34" charset="0"/>
                <a:ea typeface="Calibri" pitchFamily="34" charset="-122"/>
                <a:cs typeface="Calibri" pitchFamily="34" charset="-120"/>
              </a:rPr>
              <a:t>AI Disease Detection</a:t>
            </a:r>
            <a:endParaRPr lang="en-US" sz="1050" dirty="0"/>
          </a:p>
        </p:txBody>
      </p:sp>
      <p:sp>
        <p:nvSpPr>
          <p:cNvPr id="10" name="Text 7"/>
          <p:cNvSpPr/>
          <p:nvPr/>
        </p:nvSpPr>
        <p:spPr>
          <a:xfrm>
            <a:off x="310896" y="1691640"/>
            <a:ext cx="2633472" cy="960120"/>
          </a:xfrm>
          <a:prstGeom prst="rect">
            <a:avLst/>
          </a:prstGeom>
          <a:noFill/>
          <a:ln/>
        </p:spPr>
        <p:txBody>
          <a:bodyPr wrap="square" lIns="0" tIns="0" rIns="0" bIns="0" rtlCol="0" anchor="t"/>
          <a:lstStyle/>
          <a:p>
            <a:pPr algn="l" indent="0" marL="0">
              <a:buNone/>
            </a:pPr>
            <a:r>
              <a:rPr lang="en-US" sz="900" dirty="0">
                <a:solidFill>
                  <a:srgbClr val="334155"/>
                </a:solidFill>
                <a:latin typeface="Calibri" pitchFamily="34" charset="0"/>
                <a:ea typeface="Calibri" pitchFamily="34" charset="-122"/>
                <a:cs typeface="Calibri" pitchFamily="34" charset="-120"/>
              </a:rPr>
              <a:t>Real-time image analysis using 4 trained deep learning models with confidence scoring</a:t>
            </a:r>
            <a:endParaRPr lang="en-US" sz="900" dirty="0"/>
          </a:p>
        </p:txBody>
      </p:sp>
      <p:sp>
        <p:nvSpPr>
          <p:cNvPr id="11" name="Shape 8"/>
          <p:cNvSpPr/>
          <p:nvPr/>
        </p:nvSpPr>
        <p:spPr>
          <a:xfrm>
            <a:off x="3182112" y="1005840"/>
            <a:ext cx="2834640" cy="1737360"/>
          </a:xfrm>
          <a:prstGeom prst="roundRect">
            <a:avLst>
              <a:gd name="adj" fmla="val 5263"/>
            </a:avLst>
          </a:prstGeom>
          <a:solidFill>
            <a:srgbClr val="FFFFFF"/>
          </a:solidFill>
          <a:ln w="15240">
            <a:solidFill>
              <a:srgbClr val="D6E4F7"/>
            </a:solidFill>
            <a:prstDash val="solid"/>
          </a:ln>
          <a:effectLst>
            <a:outerShdw sx="100000" sy="100000" kx="0" ky="0" algn="bl" rotWithShape="0" blurRad="63500" dist="25400" dir="2700000">
              <a:srgbClr val="000000">
                <a:alpha val="10000"/>
              </a:srgbClr>
            </a:outerShdw>
          </a:effectLst>
        </p:spPr>
      </p:sp>
      <p:sp>
        <p:nvSpPr>
          <p:cNvPr id="12" name="Shape 9"/>
          <p:cNvSpPr/>
          <p:nvPr/>
        </p:nvSpPr>
        <p:spPr>
          <a:xfrm>
            <a:off x="3291840" y="1133856"/>
            <a:ext cx="502920" cy="502920"/>
          </a:xfrm>
          <a:prstGeom prst="OVAL">
            <a:avLst/>
          </a:prstGeom>
          <a:solidFill>
            <a:srgbClr val="0D8A6E">
              <a:alpha val="15000"/>
            </a:srgbClr>
          </a:solidFill>
          <a:ln w="12700">
            <a:solidFill>
              <a:srgbClr val="0D8A6E"/>
            </a:solidFill>
            <a:prstDash val="solid"/>
          </a:ln>
        </p:spPr>
      </p:sp>
      <p:pic>
        <p:nvPicPr>
          <p:cNvPr id="13" name="Image 1" descr="preencoded.png">    </p:cNvPr>
          <p:cNvPicPr>
            <a:picLocks noChangeAspect="1"/>
          </p:cNvPicPr>
          <p:nvPr/>
        </p:nvPicPr>
        <p:blipFill>
          <a:blip r:embed="rId2"/>
          <a:stretch>
            <a:fillRect/>
          </a:stretch>
        </p:blipFill>
        <p:spPr>
          <a:xfrm>
            <a:off x="3332988" y="1161288"/>
            <a:ext cx="420624" cy="420624"/>
          </a:xfrm>
          <a:prstGeom prst="rect">
            <a:avLst/>
          </a:prstGeom>
        </p:spPr>
      </p:pic>
      <p:sp>
        <p:nvSpPr>
          <p:cNvPr id="14" name="Text 10"/>
          <p:cNvSpPr/>
          <p:nvPr/>
        </p:nvSpPr>
        <p:spPr>
          <a:xfrm>
            <a:off x="3895344" y="1152144"/>
            <a:ext cx="2029968" cy="365760"/>
          </a:xfrm>
          <a:prstGeom prst="rect">
            <a:avLst/>
          </a:prstGeom>
          <a:noFill/>
          <a:ln/>
        </p:spPr>
        <p:txBody>
          <a:bodyPr wrap="square" lIns="0" tIns="0" rIns="0" bIns="0" rtlCol="0" anchor="ctr"/>
          <a:lstStyle/>
          <a:p>
            <a:pPr algn="l" indent="0" marL="0">
              <a:buNone/>
            </a:pPr>
            <a:r>
              <a:rPr lang="en-US" sz="1050" b="1" dirty="0">
                <a:solidFill>
                  <a:srgbClr val="0D1B3E"/>
                </a:solidFill>
                <a:latin typeface="Calibri" pitchFamily="34" charset="0"/>
                <a:ea typeface="Calibri" pitchFamily="34" charset="-122"/>
                <a:cs typeface="Calibri" pitchFamily="34" charset="-120"/>
              </a:rPr>
              <a:t>Multi-Model Ensemble</a:t>
            </a:r>
            <a:endParaRPr lang="en-US" sz="1050" dirty="0"/>
          </a:p>
        </p:txBody>
      </p:sp>
      <p:sp>
        <p:nvSpPr>
          <p:cNvPr id="15" name="Text 11"/>
          <p:cNvSpPr/>
          <p:nvPr/>
        </p:nvSpPr>
        <p:spPr>
          <a:xfrm>
            <a:off x="3291840" y="1691640"/>
            <a:ext cx="2633472" cy="960120"/>
          </a:xfrm>
          <a:prstGeom prst="rect">
            <a:avLst/>
          </a:prstGeom>
          <a:noFill/>
          <a:ln/>
        </p:spPr>
        <p:txBody>
          <a:bodyPr wrap="square" lIns="0" tIns="0" rIns="0" bIns="0" rtlCol="0" anchor="t"/>
          <a:lstStyle/>
          <a:p>
            <a:pPr algn="l" indent="0" marL="0">
              <a:buNone/>
            </a:pPr>
            <a:r>
              <a:rPr lang="en-US" sz="900" dirty="0">
                <a:solidFill>
                  <a:srgbClr val="334155"/>
                </a:solidFill>
                <a:latin typeface="Calibri" pitchFamily="34" charset="0"/>
                <a:ea typeface="Calibri" pitchFamily="34" charset="-122"/>
                <a:cs typeface="Calibri" pitchFamily="34" charset="-120"/>
              </a:rPr>
              <a:t>Combines EfficientNet-B0/B4, ResNet-50, MobileNetV3 predictions via soft voting</a:t>
            </a:r>
            <a:endParaRPr lang="en-US" sz="900" dirty="0"/>
          </a:p>
        </p:txBody>
      </p:sp>
      <p:sp>
        <p:nvSpPr>
          <p:cNvPr id="16" name="Shape 12"/>
          <p:cNvSpPr/>
          <p:nvPr/>
        </p:nvSpPr>
        <p:spPr>
          <a:xfrm>
            <a:off x="6163056" y="1005840"/>
            <a:ext cx="2834640" cy="1737360"/>
          </a:xfrm>
          <a:prstGeom prst="roundRect">
            <a:avLst>
              <a:gd name="adj" fmla="val 5263"/>
            </a:avLst>
          </a:prstGeom>
          <a:solidFill>
            <a:srgbClr val="FFFFFF"/>
          </a:solidFill>
          <a:ln w="15240">
            <a:solidFill>
              <a:srgbClr val="D6E4F7"/>
            </a:solidFill>
            <a:prstDash val="solid"/>
          </a:ln>
          <a:effectLst>
            <a:outerShdw sx="100000" sy="100000" kx="0" ky="0" algn="bl" rotWithShape="0" blurRad="63500" dist="25400" dir="2700000">
              <a:srgbClr val="000000">
                <a:alpha val="10000"/>
              </a:srgbClr>
            </a:outerShdw>
          </a:effectLst>
        </p:spPr>
      </p:sp>
      <p:sp>
        <p:nvSpPr>
          <p:cNvPr id="17" name="Shape 13"/>
          <p:cNvSpPr/>
          <p:nvPr/>
        </p:nvSpPr>
        <p:spPr>
          <a:xfrm>
            <a:off x="6272784" y="1133856"/>
            <a:ext cx="502920" cy="502920"/>
          </a:xfrm>
          <a:prstGeom prst="OVAL">
            <a:avLst/>
          </a:prstGeom>
          <a:solidFill>
            <a:srgbClr val="D97706">
              <a:alpha val="15000"/>
            </a:srgbClr>
          </a:solidFill>
          <a:ln w="12700">
            <a:solidFill>
              <a:srgbClr val="D97706"/>
            </a:solidFill>
            <a:prstDash val="solid"/>
          </a:ln>
        </p:spPr>
      </p:sp>
      <p:pic>
        <p:nvPicPr>
          <p:cNvPr id="18" name="Image 2" descr="preencoded.png">    </p:cNvPr>
          <p:cNvPicPr>
            <a:picLocks noChangeAspect="1"/>
          </p:cNvPicPr>
          <p:nvPr/>
        </p:nvPicPr>
        <p:blipFill>
          <a:blip r:embed="rId3"/>
          <a:stretch>
            <a:fillRect/>
          </a:stretch>
        </p:blipFill>
        <p:spPr>
          <a:xfrm>
            <a:off x="6313932" y="1161288"/>
            <a:ext cx="420624" cy="420624"/>
          </a:xfrm>
          <a:prstGeom prst="rect">
            <a:avLst/>
          </a:prstGeom>
        </p:spPr>
      </p:pic>
      <p:sp>
        <p:nvSpPr>
          <p:cNvPr id="19" name="Text 14"/>
          <p:cNvSpPr/>
          <p:nvPr/>
        </p:nvSpPr>
        <p:spPr>
          <a:xfrm>
            <a:off x="6876288" y="1152144"/>
            <a:ext cx="2029968" cy="365760"/>
          </a:xfrm>
          <a:prstGeom prst="rect">
            <a:avLst/>
          </a:prstGeom>
          <a:noFill/>
          <a:ln/>
        </p:spPr>
        <p:txBody>
          <a:bodyPr wrap="square" lIns="0" tIns="0" rIns="0" bIns="0" rtlCol="0" anchor="ctr"/>
          <a:lstStyle/>
          <a:p>
            <a:pPr algn="l" indent="0" marL="0">
              <a:buNone/>
            </a:pPr>
            <a:r>
              <a:rPr lang="en-US" sz="1050" b="1" dirty="0">
                <a:solidFill>
                  <a:srgbClr val="0D1B3E"/>
                </a:solidFill>
                <a:latin typeface="Calibri" pitchFamily="34" charset="0"/>
                <a:ea typeface="Calibri" pitchFamily="34" charset="-122"/>
                <a:cs typeface="Calibri" pitchFamily="34" charset="-120"/>
              </a:rPr>
              <a:t>Top-3 Predictions</a:t>
            </a:r>
            <a:endParaRPr lang="en-US" sz="1050" dirty="0"/>
          </a:p>
        </p:txBody>
      </p:sp>
      <p:sp>
        <p:nvSpPr>
          <p:cNvPr id="20" name="Text 15"/>
          <p:cNvSpPr/>
          <p:nvPr/>
        </p:nvSpPr>
        <p:spPr>
          <a:xfrm>
            <a:off x="6272784" y="1691640"/>
            <a:ext cx="2633472" cy="960120"/>
          </a:xfrm>
          <a:prstGeom prst="rect">
            <a:avLst/>
          </a:prstGeom>
          <a:noFill/>
          <a:ln/>
        </p:spPr>
        <p:txBody>
          <a:bodyPr wrap="square" lIns="0" tIns="0" rIns="0" bIns="0" rtlCol="0" anchor="t"/>
          <a:lstStyle/>
          <a:p>
            <a:pPr algn="l" indent="0" marL="0">
              <a:buNone/>
            </a:pPr>
            <a:r>
              <a:rPr lang="en-US" sz="900" dirty="0">
                <a:solidFill>
                  <a:srgbClr val="334155"/>
                </a:solidFill>
                <a:latin typeface="Calibri" pitchFamily="34" charset="0"/>
                <a:ea typeface="Calibri" pitchFamily="34" charset="-122"/>
                <a:cs typeface="Calibri" pitchFamily="34" charset="-120"/>
              </a:rPr>
              <a:t>Returns top 3 most likely diagnoses with confidence scores and clinical disclaimers</a:t>
            </a:r>
            <a:endParaRPr lang="en-US" sz="900" dirty="0"/>
          </a:p>
        </p:txBody>
      </p:sp>
      <p:sp>
        <p:nvSpPr>
          <p:cNvPr id="21" name="Shape 16"/>
          <p:cNvSpPr/>
          <p:nvPr/>
        </p:nvSpPr>
        <p:spPr>
          <a:xfrm>
            <a:off x="201168" y="2926080"/>
            <a:ext cx="2834640" cy="1737360"/>
          </a:xfrm>
          <a:prstGeom prst="roundRect">
            <a:avLst>
              <a:gd name="adj" fmla="val 5263"/>
            </a:avLst>
          </a:prstGeom>
          <a:solidFill>
            <a:srgbClr val="FFFFFF"/>
          </a:solidFill>
          <a:ln w="15240">
            <a:solidFill>
              <a:srgbClr val="D6E4F7"/>
            </a:solidFill>
            <a:prstDash val="solid"/>
          </a:ln>
          <a:effectLst>
            <a:outerShdw sx="100000" sy="100000" kx="0" ky="0" algn="bl" rotWithShape="0" blurRad="63500" dist="25400" dir="2700000">
              <a:srgbClr val="000000">
                <a:alpha val="10000"/>
              </a:srgbClr>
            </a:outerShdw>
          </a:effectLst>
        </p:spPr>
      </p:sp>
      <p:sp>
        <p:nvSpPr>
          <p:cNvPr id="22" name="Shape 17"/>
          <p:cNvSpPr/>
          <p:nvPr/>
        </p:nvSpPr>
        <p:spPr>
          <a:xfrm>
            <a:off x="310896" y="3054096"/>
            <a:ext cx="502920" cy="502920"/>
          </a:xfrm>
          <a:prstGeom prst="OVAL">
            <a:avLst/>
          </a:prstGeom>
          <a:solidFill>
            <a:srgbClr val="E85D26">
              <a:alpha val="15000"/>
            </a:srgbClr>
          </a:solidFill>
          <a:ln w="12700">
            <a:solidFill>
              <a:srgbClr val="E85D26"/>
            </a:solidFill>
            <a:prstDash val="solid"/>
          </a:ln>
        </p:spPr>
      </p:sp>
      <p:pic>
        <p:nvPicPr>
          <p:cNvPr id="23" name="Image 3" descr="preencoded.png">    </p:cNvPr>
          <p:cNvPicPr>
            <a:picLocks noChangeAspect="1"/>
          </p:cNvPicPr>
          <p:nvPr/>
        </p:nvPicPr>
        <p:blipFill>
          <a:blip r:embed="rId4"/>
          <a:stretch>
            <a:fillRect/>
          </a:stretch>
        </p:blipFill>
        <p:spPr>
          <a:xfrm>
            <a:off x="352044" y="3081528"/>
            <a:ext cx="420624" cy="420624"/>
          </a:xfrm>
          <a:prstGeom prst="rect">
            <a:avLst/>
          </a:prstGeom>
        </p:spPr>
      </p:pic>
      <p:sp>
        <p:nvSpPr>
          <p:cNvPr id="24" name="Text 18"/>
          <p:cNvSpPr/>
          <p:nvPr/>
        </p:nvSpPr>
        <p:spPr>
          <a:xfrm>
            <a:off x="914400" y="3072384"/>
            <a:ext cx="2029968" cy="365760"/>
          </a:xfrm>
          <a:prstGeom prst="rect">
            <a:avLst/>
          </a:prstGeom>
          <a:noFill/>
          <a:ln/>
        </p:spPr>
        <p:txBody>
          <a:bodyPr wrap="square" lIns="0" tIns="0" rIns="0" bIns="0" rtlCol="0" anchor="ctr"/>
          <a:lstStyle/>
          <a:p>
            <a:pPr algn="l" indent="0" marL="0">
              <a:buNone/>
            </a:pPr>
            <a:r>
              <a:rPr lang="en-US" sz="1050" b="1" dirty="0">
                <a:solidFill>
                  <a:srgbClr val="0D1B3E"/>
                </a:solidFill>
                <a:latin typeface="Calibri" pitchFamily="34" charset="0"/>
                <a:ea typeface="Calibri" pitchFamily="34" charset="-122"/>
                <a:cs typeface="Calibri" pitchFamily="34" charset="-120"/>
              </a:rPr>
              <a:t>AI Dermatology Chat</a:t>
            </a:r>
            <a:endParaRPr lang="en-US" sz="1050" dirty="0"/>
          </a:p>
        </p:txBody>
      </p:sp>
      <p:sp>
        <p:nvSpPr>
          <p:cNvPr id="25" name="Text 19"/>
          <p:cNvSpPr/>
          <p:nvPr/>
        </p:nvSpPr>
        <p:spPr>
          <a:xfrm>
            <a:off x="310896" y="3611880"/>
            <a:ext cx="2633472" cy="960120"/>
          </a:xfrm>
          <a:prstGeom prst="rect">
            <a:avLst/>
          </a:prstGeom>
          <a:noFill/>
          <a:ln/>
        </p:spPr>
        <p:txBody>
          <a:bodyPr wrap="square" lIns="0" tIns="0" rIns="0" bIns="0" rtlCol="0" anchor="t"/>
          <a:lstStyle/>
          <a:p>
            <a:pPr algn="l" indent="0" marL="0">
              <a:buNone/>
            </a:pPr>
            <a:r>
              <a:rPr lang="en-US" sz="900" dirty="0">
                <a:solidFill>
                  <a:srgbClr val="334155"/>
                </a:solidFill>
                <a:latin typeface="Calibri" pitchFamily="34" charset="0"/>
                <a:ea typeface="Calibri" pitchFamily="34" charset="-122"/>
                <a:cs typeface="Calibri" pitchFamily="34" charset="-120"/>
              </a:rPr>
              <a:t>Interactive assistant for disease guidance, symptoms &amp; treatment info (Urdu &amp; English)</a:t>
            </a:r>
            <a:endParaRPr lang="en-US" sz="900" dirty="0"/>
          </a:p>
        </p:txBody>
      </p:sp>
      <p:sp>
        <p:nvSpPr>
          <p:cNvPr id="26" name="Shape 20"/>
          <p:cNvSpPr/>
          <p:nvPr/>
        </p:nvSpPr>
        <p:spPr>
          <a:xfrm>
            <a:off x="3182112" y="2926080"/>
            <a:ext cx="2834640" cy="1737360"/>
          </a:xfrm>
          <a:prstGeom prst="roundRect">
            <a:avLst>
              <a:gd name="adj" fmla="val 5263"/>
            </a:avLst>
          </a:prstGeom>
          <a:solidFill>
            <a:srgbClr val="FFFFFF"/>
          </a:solidFill>
          <a:ln w="15240">
            <a:solidFill>
              <a:srgbClr val="D6E4F7"/>
            </a:solidFill>
            <a:prstDash val="solid"/>
          </a:ln>
          <a:effectLst>
            <a:outerShdw sx="100000" sy="100000" kx="0" ky="0" algn="bl" rotWithShape="0" blurRad="63500" dist="25400" dir="2700000">
              <a:srgbClr val="000000">
                <a:alpha val="10000"/>
              </a:srgbClr>
            </a:outerShdw>
          </a:effectLst>
        </p:spPr>
      </p:sp>
      <p:sp>
        <p:nvSpPr>
          <p:cNvPr id="27" name="Shape 21"/>
          <p:cNvSpPr/>
          <p:nvPr/>
        </p:nvSpPr>
        <p:spPr>
          <a:xfrm>
            <a:off x="3291840" y="3054096"/>
            <a:ext cx="502920" cy="502920"/>
          </a:xfrm>
          <a:prstGeom prst="OVAL">
            <a:avLst/>
          </a:prstGeom>
          <a:solidFill>
            <a:srgbClr val="0D8A6E">
              <a:alpha val="15000"/>
            </a:srgbClr>
          </a:solidFill>
          <a:ln w="12700">
            <a:solidFill>
              <a:srgbClr val="0D8A6E"/>
            </a:solidFill>
            <a:prstDash val="solid"/>
          </a:ln>
        </p:spPr>
      </p:sp>
      <p:pic>
        <p:nvPicPr>
          <p:cNvPr id="28" name="Image 4" descr="preencoded.png">    </p:cNvPr>
          <p:cNvPicPr>
            <a:picLocks noChangeAspect="1"/>
          </p:cNvPicPr>
          <p:nvPr/>
        </p:nvPicPr>
        <p:blipFill>
          <a:blip r:embed="rId5"/>
          <a:stretch>
            <a:fillRect/>
          </a:stretch>
        </p:blipFill>
        <p:spPr>
          <a:xfrm>
            <a:off x="3332988" y="3081528"/>
            <a:ext cx="420624" cy="420624"/>
          </a:xfrm>
          <a:prstGeom prst="rect">
            <a:avLst/>
          </a:prstGeom>
        </p:spPr>
      </p:pic>
      <p:sp>
        <p:nvSpPr>
          <p:cNvPr id="29" name="Text 22"/>
          <p:cNvSpPr/>
          <p:nvPr/>
        </p:nvSpPr>
        <p:spPr>
          <a:xfrm>
            <a:off x="3895344" y="3072384"/>
            <a:ext cx="2029968" cy="365760"/>
          </a:xfrm>
          <a:prstGeom prst="rect">
            <a:avLst/>
          </a:prstGeom>
          <a:noFill/>
          <a:ln/>
        </p:spPr>
        <p:txBody>
          <a:bodyPr wrap="square" lIns="0" tIns="0" rIns="0" bIns="0" rtlCol="0" anchor="ctr"/>
          <a:lstStyle/>
          <a:p>
            <a:pPr algn="l" indent="0" marL="0">
              <a:buNone/>
            </a:pPr>
            <a:r>
              <a:rPr lang="en-US" sz="1050" b="1" dirty="0">
                <a:solidFill>
                  <a:srgbClr val="0D1B3E"/>
                </a:solidFill>
                <a:latin typeface="Calibri" pitchFamily="34" charset="0"/>
                <a:ea typeface="Calibri" pitchFamily="34" charset="-122"/>
                <a:cs typeface="Calibri" pitchFamily="34" charset="-120"/>
              </a:rPr>
              <a:t>Clinical Risk Assessment</a:t>
            </a:r>
            <a:endParaRPr lang="en-US" sz="1050" dirty="0"/>
          </a:p>
        </p:txBody>
      </p:sp>
      <p:sp>
        <p:nvSpPr>
          <p:cNvPr id="30" name="Text 23"/>
          <p:cNvSpPr/>
          <p:nvPr/>
        </p:nvSpPr>
        <p:spPr>
          <a:xfrm>
            <a:off x="3291840" y="3611880"/>
            <a:ext cx="2633472" cy="960120"/>
          </a:xfrm>
          <a:prstGeom prst="rect">
            <a:avLst/>
          </a:prstGeom>
          <a:noFill/>
          <a:ln/>
        </p:spPr>
        <p:txBody>
          <a:bodyPr wrap="square" lIns="0" tIns="0" rIns="0" bIns="0" rtlCol="0" anchor="t"/>
          <a:lstStyle/>
          <a:p>
            <a:pPr algn="l" indent="0" marL="0">
              <a:buNone/>
            </a:pPr>
            <a:r>
              <a:rPr lang="en-US" sz="900" dirty="0">
                <a:solidFill>
                  <a:srgbClr val="334155"/>
                </a:solidFill>
                <a:latin typeface="Calibri" pitchFamily="34" charset="0"/>
                <a:ea typeface="Calibri" pitchFamily="34" charset="-122"/>
                <a:cs typeface="Calibri" pitchFamily="34" charset="-120"/>
              </a:rPr>
              <a:t>Disease severity reporting — high risk conditions (Melanoma, BCC) are flagged</a:t>
            </a:r>
            <a:endParaRPr lang="en-US" sz="900" dirty="0"/>
          </a:p>
        </p:txBody>
      </p:sp>
      <p:sp>
        <p:nvSpPr>
          <p:cNvPr id="31" name="Shape 24"/>
          <p:cNvSpPr/>
          <p:nvPr/>
        </p:nvSpPr>
        <p:spPr>
          <a:xfrm>
            <a:off x="6163056" y="2926080"/>
            <a:ext cx="2834640" cy="1737360"/>
          </a:xfrm>
          <a:prstGeom prst="roundRect">
            <a:avLst>
              <a:gd name="adj" fmla="val 5263"/>
            </a:avLst>
          </a:prstGeom>
          <a:solidFill>
            <a:srgbClr val="FFFFFF"/>
          </a:solidFill>
          <a:ln w="15240">
            <a:solidFill>
              <a:srgbClr val="D6E4F7"/>
            </a:solidFill>
            <a:prstDash val="solid"/>
          </a:ln>
          <a:effectLst>
            <a:outerShdw sx="100000" sy="100000" kx="0" ky="0" algn="bl" rotWithShape="0" blurRad="63500" dist="25400" dir="2700000">
              <a:srgbClr val="000000">
                <a:alpha val="10000"/>
              </a:srgbClr>
            </a:outerShdw>
          </a:effectLst>
        </p:spPr>
      </p:sp>
      <p:sp>
        <p:nvSpPr>
          <p:cNvPr id="32" name="Shape 25"/>
          <p:cNvSpPr/>
          <p:nvPr/>
        </p:nvSpPr>
        <p:spPr>
          <a:xfrm>
            <a:off x="6272784" y="3054096"/>
            <a:ext cx="502920" cy="502920"/>
          </a:xfrm>
          <a:prstGeom prst="OVAL">
            <a:avLst/>
          </a:prstGeom>
          <a:solidFill>
            <a:srgbClr val="1A56B0">
              <a:alpha val="15000"/>
            </a:srgbClr>
          </a:solidFill>
          <a:ln w="12700">
            <a:solidFill>
              <a:srgbClr val="1A56B0"/>
            </a:solidFill>
            <a:prstDash val="solid"/>
          </a:ln>
        </p:spPr>
      </p:sp>
      <p:pic>
        <p:nvPicPr>
          <p:cNvPr id="33" name="Image 5" descr="preencoded.png">    </p:cNvPr>
          <p:cNvPicPr>
            <a:picLocks noChangeAspect="1"/>
          </p:cNvPicPr>
          <p:nvPr/>
        </p:nvPicPr>
        <p:blipFill>
          <a:blip r:embed="rId6"/>
          <a:stretch>
            <a:fillRect/>
          </a:stretch>
        </p:blipFill>
        <p:spPr>
          <a:xfrm>
            <a:off x="6313932" y="3081528"/>
            <a:ext cx="420624" cy="420624"/>
          </a:xfrm>
          <a:prstGeom prst="rect">
            <a:avLst/>
          </a:prstGeom>
        </p:spPr>
      </p:pic>
      <p:sp>
        <p:nvSpPr>
          <p:cNvPr id="34" name="Text 26"/>
          <p:cNvSpPr/>
          <p:nvPr/>
        </p:nvSpPr>
        <p:spPr>
          <a:xfrm>
            <a:off x="6876288" y="3072384"/>
            <a:ext cx="2029968" cy="365760"/>
          </a:xfrm>
          <a:prstGeom prst="rect">
            <a:avLst/>
          </a:prstGeom>
          <a:noFill/>
          <a:ln/>
        </p:spPr>
        <p:txBody>
          <a:bodyPr wrap="square" lIns="0" tIns="0" rIns="0" bIns="0" rtlCol="0" anchor="ctr"/>
          <a:lstStyle/>
          <a:p>
            <a:pPr algn="l" indent="0" marL="0">
              <a:buNone/>
            </a:pPr>
            <a:r>
              <a:rPr lang="en-US" sz="1050" b="1" dirty="0">
                <a:solidFill>
                  <a:srgbClr val="0D1B3E"/>
                </a:solidFill>
                <a:latin typeface="Calibri" pitchFamily="34" charset="0"/>
                <a:ea typeface="Calibri" pitchFamily="34" charset="-122"/>
                <a:cs typeface="Calibri" pitchFamily="34" charset="-120"/>
              </a:rPr>
              <a:t>Responsive Dashboard</a:t>
            </a:r>
            <a:endParaRPr lang="en-US" sz="1050" dirty="0"/>
          </a:p>
        </p:txBody>
      </p:sp>
      <p:sp>
        <p:nvSpPr>
          <p:cNvPr id="35" name="Text 27"/>
          <p:cNvSpPr/>
          <p:nvPr/>
        </p:nvSpPr>
        <p:spPr>
          <a:xfrm>
            <a:off x="6272784" y="3611880"/>
            <a:ext cx="2633472" cy="960120"/>
          </a:xfrm>
          <a:prstGeom prst="rect">
            <a:avLst/>
          </a:prstGeom>
          <a:noFill/>
          <a:ln/>
        </p:spPr>
        <p:txBody>
          <a:bodyPr wrap="square" lIns="0" tIns="0" rIns="0" bIns="0" rtlCol="0" anchor="t"/>
          <a:lstStyle/>
          <a:p>
            <a:pPr algn="l" indent="0" marL="0">
              <a:buNone/>
            </a:pPr>
            <a:r>
              <a:rPr lang="en-US" sz="900" dirty="0">
                <a:solidFill>
                  <a:srgbClr val="334155"/>
                </a:solidFill>
                <a:latin typeface="Calibri" pitchFamily="34" charset="0"/>
                <a:ea typeface="Calibri" pitchFamily="34" charset="-122"/>
                <a:cs typeface="Calibri" pitchFamily="34" charset="-120"/>
              </a:rPr>
              <a:t>Modern web interface with secure authentication and personalized history</a:t>
            </a:r>
            <a:endParaRPr lang="en-US" sz="900" dirty="0"/>
          </a:p>
        </p:txBody>
      </p:sp>
      <p:sp>
        <p:nvSpPr>
          <p:cNvPr id="36" name="Text 28"/>
          <p:cNvSpPr/>
          <p:nvPr/>
        </p:nvSpPr>
        <p:spPr>
          <a:xfrm>
            <a:off x="201168" y="4800600"/>
            <a:ext cx="8732520" cy="237744"/>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Technologies:  Python  ·  PyTorch  ·  FastAPI  ·  HTML5/CSS3  ·  JavaScript  ·  NumPy  ·  Pandas  ·  ONNX  ·  Streamlit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1B3E"/>
          </a:solidFill>
          <a:ln w="12700">
            <a:solidFill>
              <a:srgbClr val="0D1B3E"/>
            </a:solidFill>
            <a:prstDash val="solid"/>
          </a:ln>
        </p:spPr>
      </p:sp>
      <p:sp>
        <p:nvSpPr>
          <p:cNvPr id="3" name="Text 1"/>
          <p:cNvSpPr/>
          <p:nvPr/>
        </p:nvSpPr>
        <p:spPr>
          <a:xfrm>
            <a:off x="274320" y="45720"/>
            <a:ext cx="8595360" cy="502920"/>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Comparison with Baselines &amp; Discussion</a:t>
            </a:r>
            <a:endParaRPr lang="en-US" sz="2200" dirty="0"/>
          </a:p>
        </p:txBody>
      </p:sp>
      <p:sp>
        <p:nvSpPr>
          <p:cNvPr id="4" name="Text 2"/>
          <p:cNvSpPr/>
          <p:nvPr/>
        </p:nvSpPr>
        <p:spPr>
          <a:xfrm>
            <a:off x="274320" y="548640"/>
            <a:ext cx="8595360" cy="274320"/>
          </a:xfrm>
          <a:prstGeom prst="rect">
            <a:avLst/>
          </a:prstGeom>
          <a:noFill/>
          <a:ln/>
        </p:spPr>
        <p:txBody>
          <a:bodyPr wrap="square" lIns="0" tIns="0" rIns="0" bIns="0" rtlCol="0" anchor="ctr"/>
          <a:lstStyle/>
          <a:p>
            <a:pPr algn="l" indent="0" marL="0">
              <a:buNone/>
            </a:pPr>
            <a:r>
              <a:rPr lang="en-US" sz="1100" dirty="0">
                <a:solidFill>
                  <a:srgbClr val="B0C4DE"/>
                </a:solidFill>
                <a:latin typeface="Calibri" pitchFamily="34" charset="0"/>
                <a:ea typeface="Calibri" pitchFamily="34" charset="-122"/>
                <a:cs typeface="Calibri" pitchFamily="34" charset="-120"/>
              </a:rPr>
              <a:t>Benchmarked Against Recent Published Work (2024–2026)</a:t>
            </a:r>
            <a:endParaRPr lang="en-US" sz="1100" dirty="0"/>
          </a:p>
        </p:txBody>
      </p:sp>
      <p:sp>
        <p:nvSpPr>
          <p:cNvPr id="5" name="Shape 3"/>
          <p:cNvSpPr/>
          <p:nvPr/>
        </p:nvSpPr>
        <p:spPr>
          <a:xfrm>
            <a:off x="0" y="868680"/>
            <a:ext cx="9144000" cy="36576"/>
          </a:xfrm>
          <a:prstGeom prst="rect">
            <a:avLst/>
          </a:prstGeom>
          <a:solidFill>
            <a:srgbClr val="1A56B0"/>
          </a:solidFill>
          <a:ln w="12700">
            <a:solidFill>
              <a:srgbClr val="1A56B0"/>
            </a:solidFill>
            <a:prstDash val="solid"/>
          </a:ln>
        </p:spPr>
      </p:sp>
      <p:sp>
        <p:nvSpPr>
          <p:cNvPr id="6" name="Text 4"/>
          <p:cNvSpPr/>
          <p:nvPr/>
        </p:nvSpPr>
        <p:spPr>
          <a:xfrm>
            <a:off x="228600" y="987552"/>
            <a:ext cx="8686800" cy="274320"/>
          </a:xfrm>
          <a:prstGeom prst="rect">
            <a:avLst/>
          </a:prstGeom>
          <a:noFill/>
          <a:ln/>
        </p:spPr>
        <p:txBody>
          <a:bodyPr wrap="square" lIns="0" tIns="0" rIns="0" bIns="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Comparison with Recent Literature</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28600" y="1325880"/>
          <a:ext cx="8686800" cy="1691640"/>
        </p:xfrm>
        <a:graphic>
          <a:graphicData uri="http://schemas.openxmlformats.org/drawingml/2006/table">
            <a:tbl>
              <a:tblPr/>
              <a:tblGrid>
                <a:gridCol w="1828800"/>
                <a:gridCol w="777240"/>
                <a:gridCol w="2103120"/>
                <a:gridCol w="960120"/>
                <a:gridCol w="30175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Study</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0D1B3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Year</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0D1B3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0D1B3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Classes</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0D1B3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Key Result</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0D1B3E"/>
                    </a:solidFill>
                  </a:tcPr>
                </a:tc>
              </a:tr>
              <a:tr h="274320">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Alazab et al.</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2024</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EfficientNet-B3</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95.4% accuracy (ISIC 2019)</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Ali et al.</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2025</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EfficientNet-B0</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Multi</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96.74% acc, AUC 97.28%</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Mushtaq et al.</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2025</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EfficientNet+ResNet</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Multi</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Fusion benefit shown</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Moubayed et al.</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2026</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EfficientNet-B5</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Top-3 acc 95.96%, F1=0.87</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FFFFFF"/>
                    </a:solidFill>
                  </a:tcPr>
                </a:tc>
              </a:tr>
              <a:tr h="274320">
                <a:tc>
                  <a:txBody>
                    <a:bodyPr/>
                    <a:lstStyle/>
                    <a:p>
                      <a:pPr indent="0" marL="0">
                        <a:buNone/>
                      </a:pPr>
                      <a:r>
                        <a:rPr lang="en-US" sz="950" b="1" dirty="0">
                          <a:solidFill>
                            <a:srgbClr val="1A56B0"/>
                          </a:solidFill>
                          <a:latin typeface="Calibri" pitchFamily="34" charset="0"/>
                          <a:ea typeface="Calibri" pitchFamily="34" charset="-122"/>
                          <a:cs typeface="Calibri" pitchFamily="34" charset="-120"/>
                        </a:rPr>
                        <a:t>This FYP (Ours) ★</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E8F4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2026</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E8F4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MobileNetV3-Large</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E8F4FF"/>
                    </a:solidFill>
                  </a:tcPr>
                </a:tc>
                <a:tc>
                  <a:txBody>
                    <a:bodyPr/>
                    <a:lstStyle/>
                    <a:p>
                      <a:pPr indent="0" marL="0">
                        <a:buNone/>
                      </a:pPr>
                      <a:r>
                        <a:rPr lang="en-US" sz="950" dirty="0">
                          <a:solidFill>
                            <a:srgbClr val="334155"/>
                          </a:solidFill>
                          <a:latin typeface="Calibri" pitchFamily="34" charset="0"/>
                          <a:ea typeface="Calibri" pitchFamily="34" charset="-122"/>
                          <a:cs typeface="Calibri" pitchFamily="34" charset="-120"/>
                        </a:rPr>
                        <a:t>10+1</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E8F4FF"/>
                    </a:solidFill>
                  </a:tcPr>
                </a:tc>
                <a:tc>
                  <a:txBody>
                    <a:bodyPr/>
                    <a:lstStyle/>
                    <a:p>
                      <a:pPr indent="0" marL="0">
                        <a:buNone/>
                      </a:pPr>
                      <a:r>
                        <a:rPr lang="en-US" sz="950" b="1" dirty="0">
                          <a:solidFill>
                            <a:srgbClr val="1A56B0"/>
                          </a:solidFill>
                          <a:latin typeface="Calibri" pitchFamily="34" charset="0"/>
                          <a:ea typeface="Calibri" pitchFamily="34" charset="-122"/>
                          <a:cs typeface="Calibri" pitchFamily="34" charset="-120"/>
                        </a:rPr>
                        <a:t>84.35% acc, AUC 97.57%</a:t>
                      </a:r>
                      <a:endParaRPr lang="en-US" sz="950" dirty="0">
                        <a:latin typeface="Calibri" charset="0"/>
                        <a:ea typeface="Calibri" charset="0"/>
                        <a:cs typeface="Calibri" charset="0"/>
                      </a:endParaRPr>
                    </a:p>
                  </a:txBody>
                  <a:tcPr marL="91440" marR="91440" marT="45720" marB="45720">
                    <a:lnL w="6350" cap="flat" cmpd="sng" algn="ctr">
                      <a:solidFill>
                        <a:srgbClr val="D4DFF0"/>
                      </a:solidFill>
                      <a:prstDash val="solid"/>
                      <a:round/>
                      <a:headEnd type="none" w="med" len="med"/>
                      <a:tailEnd type="none" w="med" len="med"/>
                    </a:lnL>
                    <a:lnR w="6350" cap="flat" cmpd="sng" algn="ctr">
                      <a:solidFill>
                        <a:srgbClr val="D4DFF0"/>
                      </a:solidFill>
                      <a:prstDash val="solid"/>
                      <a:round/>
                      <a:headEnd type="none" w="med" len="med"/>
                      <a:tailEnd type="none" w="med" len="med"/>
                    </a:lnR>
                    <a:lnT w="6350" cap="flat" cmpd="sng" algn="ctr">
                      <a:solidFill>
                        <a:srgbClr val="D4DFF0"/>
                      </a:solidFill>
                      <a:prstDash val="solid"/>
                      <a:round/>
                      <a:headEnd type="none" w="med" len="med"/>
                      <a:tailEnd type="none" w="med" len="med"/>
                    </a:lnT>
                    <a:lnB w="6350" cap="flat" cmpd="sng" algn="ctr">
                      <a:solidFill>
                        <a:srgbClr val="D4DFF0"/>
                      </a:solidFill>
                      <a:prstDash val="solid"/>
                      <a:round/>
                      <a:headEnd type="none" w="med" len="med"/>
                      <a:tailEnd type="none" w="med" len="med"/>
                    </a:lnB>
                    <a:solidFill>
                      <a:srgbClr val="E8F4FF"/>
                    </a:solidFill>
                  </a:tcPr>
                </a:tc>
              </a:tr>
            </a:tbl>
          </a:graphicData>
        </a:graphic>
      </p:graphicFrame>
      <p:sp>
        <p:nvSpPr>
          <p:cNvPr id="8" name="Text 5"/>
          <p:cNvSpPr/>
          <p:nvPr/>
        </p:nvSpPr>
        <p:spPr>
          <a:xfrm>
            <a:off x="228600" y="3127248"/>
            <a:ext cx="4206240" cy="274320"/>
          </a:xfrm>
          <a:prstGeom prst="rect">
            <a:avLst/>
          </a:prstGeom>
          <a:noFill/>
          <a:ln/>
        </p:spPr>
        <p:txBody>
          <a:bodyPr wrap="square" lIns="0" tIns="0" rIns="0" bIns="0" rtlCol="0" anchor="ctr"/>
          <a:lstStyle/>
          <a:p>
            <a:pPr indent="0" marL="0">
              <a:buNone/>
            </a:pPr>
            <a:r>
              <a:rPr lang="en-US" sz="1100" b="1" dirty="0">
                <a:solidFill>
                  <a:srgbClr val="0D8A6E"/>
                </a:solidFill>
                <a:latin typeface="Calibri" pitchFamily="34" charset="0"/>
                <a:ea typeface="Calibri" pitchFamily="34" charset="-122"/>
                <a:cs typeface="Calibri" pitchFamily="34" charset="-120"/>
              </a:rPr>
              <a:t>Strengths</a:t>
            </a:r>
            <a:endParaRPr lang="en-US" sz="1100" dirty="0"/>
          </a:p>
        </p:txBody>
      </p:sp>
      <p:pic>
        <p:nvPicPr>
          <p:cNvPr id="9" name="Image 0" descr="preencoded.png">    </p:cNvPr>
          <p:cNvPicPr>
            <a:picLocks noChangeAspect="1"/>
          </p:cNvPicPr>
          <p:nvPr/>
        </p:nvPicPr>
        <p:blipFill>
          <a:blip r:embed="rId1"/>
          <a:stretch>
            <a:fillRect/>
          </a:stretch>
        </p:blipFill>
        <p:spPr>
          <a:xfrm>
            <a:off x="256032" y="3438144"/>
            <a:ext cx="201168" cy="201168"/>
          </a:xfrm>
          <a:prstGeom prst="rect">
            <a:avLst/>
          </a:prstGeom>
        </p:spPr>
      </p:pic>
      <p:sp>
        <p:nvSpPr>
          <p:cNvPr id="10" name="Text 6"/>
          <p:cNvSpPr/>
          <p:nvPr/>
        </p:nvSpPr>
        <p:spPr>
          <a:xfrm>
            <a:off x="530352" y="3419856"/>
            <a:ext cx="374904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AUC 0.9757 competitive with recent literature</a:t>
            </a:r>
            <a:endParaRPr lang="en-US" sz="950" dirty="0"/>
          </a:p>
        </p:txBody>
      </p:sp>
      <p:pic>
        <p:nvPicPr>
          <p:cNvPr id="11" name="Image 1" descr="preencoded.png">    </p:cNvPr>
          <p:cNvPicPr>
            <a:picLocks noChangeAspect="1"/>
          </p:cNvPicPr>
          <p:nvPr/>
        </p:nvPicPr>
        <p:blipFill>
          <a:blip r:embed="rId2"/>
          <a:stretch>
            <a:fillRect/>
          </a:stretch>
        </p:blipFill>
        <p:spPr>
          <a:xfrm>
            <a:off x="256032" y="3776472"/>
            <a:ext cx="201168" cy="201168"/>
          </a:xfrm>
          <a:prstGeom prst="rect">
            <a:avLst/>
          </a:prstGeom>
        </p:spPr>
      </p:pic>
      <p:sp>
        <p:nvSpPr>
          <p:cNvPr id="12" name="Text 7"/>
          <p:cNvSpPr/>
          <p:nvPr/>
        </p:nvSpPr>
        <p:spPr>
          <a:xfrm>
            <a:off x="530352" y="3758184"/>
            <a:ext cx="374904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Melanoma AUC = 100% — critical for clinical use</a:t>
            </a:r>
            <a:endParaRPr lang="en-US" sz="950" dirty="0"/>
          </a:p>
        </p:txBody>
      </p:sp>
      <p:pic>
        <p:nvPicPr>
          <p:cNvPr id="13" name="Image 2" descr="preencoded.png">    </p:cNvPr>
          <p:cNvPicPr>
            <a:picLocks noChangeAspect="1"/>
          </p:cNvPicPr>
          <p:nvPr/>
        </p:nvPicPr>
        <p:blipFill>
          <a:blip r:embed="rId3"/>
          <a:stretch>
            <a:fillRect/>
          </a:stretch>
        </p:blipFill>
        <p:spPr>
          <a:xfrm>
            <a:off x="256032" y="4114800"/>
            <a:ext cx="201168" cy="201168"/>
          </a:xfrm>
          <a:prstGeom prst="rect">
            <a:avLst/>
          </a:prstGeom>
        </p:spPr>
      </p:pic>
      <p:sp>
        <p:nvSpPr>
          <p:cNvPr id="14" name="Text 8"/>
          <p:cNvSpPr/>
          <p:nvPr/>
        </p:nvSpPr>
        <p:spPr>
          <a:xfrm>
            <a:off x="530352" y="4096512"/>
            <a:ext cx="374904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Multi-model ensemble for robustness</a:t>
            </a:r>
            <a:endParaRPr lang="en-US" sz="950" dirty="0"/>
          </a:p>
        </p:txBody>
      </p:sp>
      <p:pic>
        <p:nvPicPr>
          <p:cNvPr id="15" name="Image 3" descr="preencoded.png">    </p:cNvPr>
          <p:cNvPicPr>
            <a:picLocks noChangeAspect="1"/>
          </p:cNvPicPr>
          <p:nvPr/>
        </p:nvPicPr>
        <p:blipFill>
          <a:blip r:embed="rId4"/>
          <a:stretch>
            <a:fillRect/>
          </a:stretch>
        </p:blipFill>
        <p:spPr>
          <a:xfrm>
            <a:off x="256032" y="4453128"/>
            <a:ext cx="201168" cy="201168"/>
          </a:xfrm>
          <a:prstGeom prst="rect">
            <a:avLst/>
          </a:prstGeom>
        </p:spPr>
      </p:pic>
      <p:sp>
        <p:nvSpPr>
          <p:cNvPr id="16" name="Text 9"/>
          <p:cNvSpPr/>
          <p:nvPr/>
        </p:nvSpPr>
        <p:spPr>
          <a:xfrm>
            <a:off x="530352" y="4434840"/>
            <a:ext cx="374904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Full web platform with real-time predictions</a:t>
            </a:r>
            <a:endParaRPr lang="en-US" sz="950" dirty="0"/>
          </a:p>
        </p:txBody>
      </p:sp>
      <p:pic>
        <p:nvPicPr>
          <p:cNvPr id="17" name="Image 4" descr="preencoded.png">    </p:cNvPr>
          <p:cNvPicPr>
            <a:picLocks noChangeAspect="1"/>
          </p:cNvPicPr>
          <p:nvPr/>
        </p:nvPicPr>
        <p:blipFill>
          <a:blip r:embed="rId5"/>
          <a:stretch>
            <a:fillRect/>
          </a:stretch>
        </p:blipFill>
        <p:spPr>
          <a:xfrm>
            <a:off x="256032" y="4791456"/>
            <a:ext cx="201168" cy="201168"/>
          </a:xfrm>
          <a:prstGeom prst="rect">
            <a:avLst/>
          </a:prstGeom>
        </p:spPr>
      </p:pic>
      <p:sp>
        <p:nvSpPr>
          <p:cNvPr id="18" name="Text 10"/>
          <p:cNvSpPr/>
          <p:nvPr/>
        </p:nvSpPr>
        <p:spPr>
          <a:xfrm>
            <a:off x="530352" y="4773168"/>
            <a:ext cx="374904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Bilingual AI assistant (Urdu + English)</a:t>
            </a:r>
            <a:endParaRPr lang="en-US" sz="950" dirty="0"/>
          </a:p>
        </p:txBody>
      </p:sp>
      <p:sp>
        <p:nvSpPr>
          <p:cNvPr id="19" name="Text 11"/>
          <p:cNvSpPr/>
          <p:nvPr/>
        </p:nvSpPr>
        <p:spPr>
          <a:xfrm>
            <a:off x="4754880" y="3127248"/>
            <a:ext cx="4160520" cy="274320"/>
          </a:xfrm>
          <a:prstGeom prst="rect">
            <a:avLst/>
          </a:prstGeom>
          <a:noFill/>
          <a:ln/>
        </p:spPr>
        <p:txBody>
          <a:bodyPr wrap="square" lIns="0" tIns="0" rIns="0" bIns="0" rtlCol="0" anchor="ctr"/>
          <a:lstStyle/>
          <a:p>
            <a:pPr indent="0" marL="0">
              <a:buNone/>
            </a:pPr>
            <a:r>
              <a:rPr lang="en-US" sz="1100" b="1" dirty="0">
                <a:solidFill>
                  <a:srgbClr val="E85D26"/>
                </a:solidFill>
                <a:latin typeface="Calibri" pitchFamily="34" charset="0"/>
                <a:ea typeface="Calibri" pitchFamily="34" charset="-122"/>
                <a:cs typeface="Calibri" pitchFamily="34" charset="-120"/>
              </a:rPr>
              <a:t>Limitations &amp; Future Work</a:t>
            </a:r>
            <a:endParaRPr lang="en-US" sz="1100" dirty="0"/>
          </a:p>
        </p:txBody>
      </p:sp>
      <p:sp>
        <p:nvSpPr>
          <p:cNvPr id="20" name="Text 12"/>
          <p:cNvSpPr/>
          <p:nvPr/>
        </p:nvSpPr>
        <p:spPr>
          <a:xfrm>
            <a:off x="4754880" y="3438144"/>
            <a:ext cx="228600" cy="256032"/>
          </a:xfrm>
          <a:prstGeom prst="rect">
            <a:avLst/>
          </a:prstGeom>
          <a:noFill/>
          <a:ln/>
        </p:spPr>
        <p:txBody>
          <a:bodyPr wrap="square" lIns="0" tIns="0" rIns="0" bIns="0" rtlCol="0" anchor="ctr"/>
          <a:lstStyle/>
          <a:p>
            <a:pPr indent="0" marL="0">
              <a:buNone/>
            </a:pPr>
            <a:r>
              <a:rPr lang="en-US" sz="1000" dirty="0">
                <a:solidFill>
                  <a:srgbClr val="E85D26"/>
                </a:solidFill>
                <a:latin typeface="Calibri" pitchFamily="34" charset="0"/>
                <a:ea typeface="Calibri" pitchFamily="34" charset="-122"/>
                <a:cs typeface="Calibri" pitchFamily="34" charset="-120"/>
              </a:rPr>
              <a:t>→</a:t>
            </a:r>
            <a:endParaRPr lang="en-US" sz="1000" dirty="0"/>
          </a:p>
        </p:txBody>
      </p:sp>
      <p:sp>
        <p:nvSpPr>
          <p:cNvPr id="21" name="Text 13"/>
          <p:cNvSpPr/>
          <p:nvPr/>
        </p:nvSpPr>
        <p:spPr>
          <a:xfrm>
            <a:off x="5010912" y="3419856"/>
            <a:ext cx="379476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Single validation split — needs external dataset testing</a:t>
            </a:r>
            <a:endParaRPr lang="en-US" sz="950" dirty="0"/>
          </a:p>
        </p:txBody>
      </p:sp>
      <p:sp>
        <p:nvSpPr>
          <p:cNvPr id="22" name="Text 14"/>
          <p:cNvSpPr/>
          <p:nvPr/>
        </p:nvSpPr>
        <p:spPr>
          <a:xfrm>
            <a:off x="4754880" y="3776472"/>
            <a:ext cx="228600" cy="256032"/>
          </a:xfrm>
          <a:prstGeom prst="rect">
            <a:avLst/>
          </a:prstGeom>
          <a:noFill/>
          <a:ln/>
        </p:spPr>
        <p:txBody>
          <a:bodyPr wrap="square" lIns="0" tIns="0" rIns="0" bIns="0" rtlCol="0" anchor="ctr"/>
          <a:lstStyle/>
          <a:p>
            <a:pPr indent="0" marL="0">
              <a:buNone/>
            </a:pPr>
            <a:r>
              <a:rPr lang="en-US" sz="1000" dirty="0">
                <a:solidFill>
                  <a:srgbClr val="E85D26"/>
                </a:solidFill>
                <a:latin typeface="Calibri" pitchFamily="34" charset="0"/>
                <a:ea typeface="Calibri" pitchFamily="34" charset="-122"/>
                <a:cs typeface="Calibri" pitchFamily="34" charset="-120"/>
              </a:rPr>
              <a:t>→</a:t>
            </a:r>
            <a:endParaRPr lang="en-US" sz="1000" dirty="0"/>
          </a:p>
        </p:txBody>
      </p:sp>
      <p:sp>
        <p:nvSpPr>
          <p:cNvPr id="23" name="Text 15"/>
          <p:cNvSpPr/>
          <p:nvPr/>
        </p:nvSpPr>
        <p:spPr>
          <a:xfrm>
            <a:off x="5010912" y="3758184"/>
            <a:ext cx="379476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Fairness not tested for dark skin tones (Fitzpatrick IV-VI)</a:t>
            </a:r>
            <a:endParaRPr lang="en-US" sz="950" dirty="0"/>
          </a:p>
        </p:txBody>
      </p:sp>
      <p:sp>
        <p:nvSpPr>
          <p:cNvPr id="24" name="Text 16"/>
          <p:cNvSpPr/>
          <p:nvPr/>
        </p:nvSpPr>
        <p:spPr>
          <a:xfrm>
            <a:off x="4754880" y="4114800"/>
            <a:ext cx="228600" cy="256032"/>
          </a:xfrm>
          <a:prstGeom prst="rect">
            <a:avLst/>
          </a:prstGeom>
          <a:noFill/>
          <a:ln/>
        </p:spPr>
        <p:txBody>
          <a:bodyPr wrap="square" lIns="0" tIns="0" rIns="0" bIns="0" rtlCol="0" anchor="ctr"/>
          <a:lstStyle/>
          <a:p>
            <a:pPr indent="0" marL="0">
              <a:buNone/>
            </a:pPr>
            <a:r>
              <a:rPr lang="en-US" sz="1000" dirty="0">
                <a:solidFill>
                  <a:srgbClr val="E85D26"/>
                </a:solidFill>
                <a:latin typeface="Calibri" pitchFamily="34" charset="0"/>
                <a:ea typeface="Calibri" pitchFamily="34" charset="-122"/>
                <a:cs typeface="Calibri" pitchFamily="34" charset="-120"/>
              </a:rPr>
              <a:t>→</a:t>
            </a:r>
            <a:endParaRPr lang="en-US" sz="1000" dirty="0"/>
          </a:p>
        </p:txBody>
      </p:sp>
      <p:sp>
        <p:nvSpPr>
          <p:cNvPr id="25" name="Text 17"/>
          <p:cNvSpPr/>
          <p:nvPr/>
        </p:nvSpPr>
        <p:spPr>
          <a:xfrm>
            <a:off x="5010912" y="4096512"/>
            <a:ext cx="379476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Data leakage check (perceptual hash) planned</a:t>
            </a:r>
            <a:endParaRPr lang="en-US" sz="950" dirty="0"/>
          </a:p>
        </p:txBody>
      </p:sp>
      <p:sp>
        <p:nvSpPr>
          <p:cNvPr id="26" name="Text 18"/>
          <p:cNvSpPr/>
          <p:nvPr/>
        </p:nvSpPr>
        <p:spPr>
          <a:xfrm>
            <a:off x="4754880" y="4453128"/>
            <a:ext cx="228600" cy="256032"/>
          </a:xfrm>
          <a:prstGeom prst="rect">
            <a:avLst/>
          </a:prstGeom>
          <a:noFill/>
          <a:ln/>
        </p:spPr>
        <p:txBody>
          <a:bodyPr wrap="square" lIns="0" tIns="0" rIns="0" bIns="0" rtlCol="0" anchor="ctr"/>
          <a:lstStyle/>
          <a:p>
            <a:pPr indent="0" marL="0">
              <a:buNone/>
            </a:pPr>
            <a:r>
              <a:rPr lang="en-US" sz="1000" dirty="0">
                <a:solidFill>
                  <a:srgbClr val="E85D26"/>
                </a:solidFill>
                <a:latin typeface="Calibri" pitchFamily="34" charset="0"/>
                <a:ea typeface="Calibri" pitchFamily="34" charset="-122"/>
                <a:cs typeface="Calibri" pitchFamily="34" charset="-120"/>
              </a:rPr>
              <a:t>→</a:t>
            </a:r>
            <a:endParaRPr lang="en-US" sz="1000" dirty="0"/>
          </a:p>
        </p:txBody>
      </p:sp>
      <p:sp>
        <p:nvSpPr>
          <p:cNvPr id="27" name="Text 19"/>
          <p:cNvSpPr/>
          <p:nvPr/>
        </p:nvSpPr>
        <p:spPr>
          <a:xfrm>
            <a:off x="5010912" y="4434840"/>
            <a:ext cx="379476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Grad-CAM explainability — next version priority</a:t>
            </a:r>
            <a:endParaRPr lang="en-US" sz="950" dirty="0"/>
          </a:p>
        </p:txBody>
      </p:sp>
      <p:sp>
        <p:nvSpPr>
          <p:cNvPr id="28" name="Text 20"/>
          <p:cNvSpPr/>
          <p:nvPr/>
        </p:nvSpPr>
        <p:spPr>
          <a:xfrm>
            <a:off x="4754880" y="4791456"/>
            <a:ext cx="228600" cy="256032"/>
          </a:xfrm>
          <a:prstGeom prst="rect">
            <a:avLst/>
          </a:prstGeom>
          <a:noFill/>
          <a:ln/>
        </p:spPr>
        <p:txBody>
          <a:bodyPr wrap="square" lIns="0" tIns="0" rIns="0" bIns="0" rtlCol="0" anchor="ctr"/>
          <a:lstStyle/>
          <a:p>
            <a:pPr indent="0" marL="0">
              <a:buNone/>
            </a:pPr>
            <a:r>
              <a:rPr lang="en-US" sz="1000" dirty="0">
                <a:solidFill>
                  <a:srgbClr val="E85D26"/>
                </a:solidFill>
                <a:latin typeface="Calibri" pitchFamily="34" charset="0"/>
                <a:ea typeface="Calibri" pitchFamily="34" charset="-122"/>
                <a:cs typeface="Calibri" pitchFamily="34" charset="-120"/>
              </a:rPr>
              <a:t>→</a:t>
            </a:r>
            <a:endParaRPr lang="en-US" sz="1000" dirty="0"/>
          </a:p>
        </p:txBody>
      </p:sp>
      <p:sp>
        <p:nvSpPr>
          <p:cNvPr id="29" name="Text 21"/>
          <p:cNvSpPr/>
          <p:nvPr/>
        </p:nvSpPr>
        <p:spPr>
          <a:xfrm>
            <a:off x="5010912" y="4773168"/>
            <a:ext cx="3794760" cy="256032"/>
          </a:xfrm>
          <a:prstGeom prst="rect">
            <a:avLst/>
          </a:prstGeom>
          <a:noFill/>
          <a:ln/>
        </p:spPr>
        <p:txBody>
          <a:bodyPr wrap="square" lIns="0" tIns="0" rIns="0" bIns="0" rtlCol="0" anchor="ctr"/>
          <a:lstStyle/>
          <a:p>
            <a:pPr indent="0" marL="0">
              <a:buNone/>
            </a:pPr>
            <a:r>
              <a:rPr lang="en-US" sz="950" dirty="0">
                <a:solidFill>
                  <a:srgbClr val="334155"/>
                </a:solidFill>
                <a:latin typeface="Calibri" pitchFamily="34" charset="0"/>
                <a:ea typeface="Calibri" pitchFamily="34" charset="-122"/>
                <a:cs typeface="Calibri" pitchFamily="34" charset="-120"/>
              </a:rPr>
              <a:t>Mobile deployment via ONNX/TFLite — planned</a:t>
            </a:r>
            <a:endParaRPr lang="en-US" sz="950" dirty="0"/>
          </a:p>
        </p:txBody>
      </p:sp>
      <p:sp>
        <p:nvSpPr>
          <p:cNvPr id="30" name="Shape 22"/>
          <p:cNvSpPr/>
          <p:nvPr/>
        </p:nvSpPr>
        <p:spPr>
          <a:xfrm>
            <a:off x="4572000" y="3127248"/>
            <a:ext cx="0" cy="1828800"/>
          </a:xfrm>
          <a:prstGeom prst="LINE">
            <a:avLst/>
          </a:prstGeom>
          <a:noFill/>
          <a:ln w="12700">
            <a:solidFill>
              <a:srgbClr val="D6E4F7"/>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3E"/>
          </a:solidFill>
          <a:ln w="12700">
            <a:solidFill>
              <a:srgbClr val="0D1B3E"/>
            </a:solidFill>
            <a:prstDash val="solid"/>
          </a:ln>
        </p:spPr>
      </p:sp>
      <p:sp>
        <p:nvSpPr>
          <p:cNvPr id="3" name="Text 1"/>
          <p:cNvSpPr/>
          <p:nvPr/>
        </p:nvSpPr>
        <p:spPr>
          <a:xfrm>
            <a:off x="274320" y="73152"/>
            <a:ext cx="64008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Conclusion &amp; Future Work</a:t>
            </a:r>
            <a:endParaRPr lang="en-US" sz="2200" dirty="0"/>
          </a:p>
        </p:txBody>
      </p:sp>
      <p:sp>
        <p:nvSpPr>
          <p:cNvPr id="4" name="Text 2"/>
          <p:cNvSpPr/>
          <p:nvPr/>
        </p:nvSpPr>
        <p:spPr>
          <a:xfrm>
            <a:off x="274320" y="621792"/>
            <a:ext cx="8229600" cy="274320"/>
          </a:xfrm>
          <a:prstGeom prst="rect">
            <a:avLst/>
          </a:prstGeom>
          <a:noFill/>
          <a:ln/>
        </p:spPr>
        <p:txBody>
          <a:bodyPr wrap="square" lIns="0" tIns="0" rIns="0" bIns="0" rtlCol="0" anchor="ctr"/>
          <a:lstStyle/>
          <a:p>
            <a:pPr indent="0" marL="0">
              <a:buNone/>
            </a:pPr>
            <a:r>
              <a:rPr lang="en-US" sz="1100" dirty="0">
                <a:solidFill>
                  <a:srgbClr val="B0C4DE"/>
                </a:solidFill>
                <a:latin typeface="Calibri" pitchFamily="34" charset="0"/>
                <a:ea typeface="Calibri" pitchFamily="34" charset="-122"/>
                <a:cs typeface="Calibri" pitchFamily="34" charset="-120"/>
              </a:rPr>
              <a:t>DermaAI — AI-Powered Skin Disease Detection Platform</a:t>
            </a:r>
            <a:endParaRPr lang="en-US" sz="1100" dirty="0"/>
          </a:p>
        </p:txBody>
      </p:sp>
      <p:sp>
        <p:nvSpPr>
          <p:cNvPr id="5" name="Shape 3"/>
          <p:cNvSpPr/>
          <p:nvPr/>
        </p:nvSpPr>
        <p:spPr>
          <a:xfrm>
            <a:off x="0" y="1005840"/>
            <a:ext cx="9144000" cy="36576"/>
          </a:xfrm>
          <a:prstGeom prst="rect">
            <a:avLst/>
          </a:prstGeom>
          <a:solidFill>
            <a:srgbClr val="1A56B0"/>
          </a:solidFill>
          <a:ln w="12700">
            <a:solidFill>
              <a:srgbClr val="1A56B0"/>
            </a:solidFill>
            <a:prstDash val="solid"/>
          </a:ln>
        </p:spPr>
      </p:sp>
      <p:sp>
        <p:nvSpPr>
          <p:cNvPr id="6" name="Shape 4"/>
          <p:cNvSpPr/>
          <p:nvPr/>
        </p:nvSpPr>
        <p:spPr>
          <a:xfrm>
            <a:off x="201168" y="1115568"/>
            <a:ext cx="1353312" cy="804672"/>
          </a:xfrm>
          <a:prstGeom prst="roundRect">
            <a:avLst>
              <a:gd name="adj" fmla="val 9091"/>
            </a:avLst>
          </a:prstGeom>
          <a:solidFill>
            <a:srgbClr val="F1F5F9"/>
          </a:solidFill>
          <a:ln w="12700">
            <a:solidFill>
              <a:srgbClr val="D6E4F7"/>
            </a:solidFill>
            <a:prstDash val="solid"/>
          </a:ln>
          <a:effectLst>
            <a:outerShdw sx="100000" sy="100000" kx="0" ky="0" algn="bl" rotWithShape="0" blurRad="38100" dist="12700" dir="2700000">
              <a:srgbClr val="000000">
                <a:alpha val="8000"/>
              </a:srgbClr>
            </a:outerShdw>
          </a:effectLst>
        </p:spPr>
      </p:sp>
      <p:sp>
        <p:nvSpPr>
          <p:cNvPr id="7" name="Text 5"/>
          <p:cNvSpPr/>
          <p:nvPr/>
        </p:nvSpPr>
        <p:spPr>
          <a:xfrm>
            <a:off x="201168" y="1152144"/>
            <a:ext cx="1353312" cy="384048"/>
          </a:xfrm>
          <a:prstGeom prst="rect">
            <a:avLst/>
          </a:prstGeom>
          <a:noFill/>
          <a:ln/>
        </p:spPr>
        <p:txBody>
          <a:bodyPr wrap="square" lIns="0" tIns="0" rIns="0" bIns="0" rtlCol="0" anchor="b"/>
          <a:lstStyle/>
          <a:p>
            <a:pPr algn="ctr" indent="0" marL="0">
              <a:buNone/>
            </a:pPr>
            <a:r>
              <a:rPr lang="en-US" sz="1800" b="1" dirty="0">
                <a:solidFill>
                  <a:srgbClr val="1A56B0"/>
                </a:solidFill>
                <a:latin typeface="Calibri" pitchFamily="34" charset="0"/>
                <a:ea typeface="Calibri" pitchFamily="34" charset="-122"/>
                <a:cs typeface="Calibri" pitchFamily="34" charset="-120"/>
              </a:rPr>
              <a:t>97.57%</a:t>
            </a:r>
            <a:endParaRPr lang="en-US" sz="1800" dirty="0"/>
          </a:p>
        </p:txBody>
      </p:sp>
      <p:sp>
        <p:nvSpPr>
          <p:cNvPr id="8" name="Text 6"/>
          <p:cNvSpPr/>
          <p:nvPr/>
        </p:nvSpPr>
        <p:spPr>
          <a:xfrm>
            <a:off x="201168" y="1554480"/>
            <a:ext cx="1353312" cy="329184"/>
          </a:xfrm>
          <a:prstGeom prst="rect">
            <a:avLst/>
          </a:prstGeom>
          <a:noFill/>
          <a:ln/>
        </p:spPr>
        <p:txBody>
          <a:bodyPr wrap="square" lIns="0" tIns="0" rIns="0" bIns="0" rtlCol="0" anchor="t"/>
          <a:lstStyle/>
          <a:p>
            <a:pPr algn="ctr" indent="0" marL="0">
              <a:buNone/>
            </a:pPr>
            <a:r>
              <a:rPr lang="en-US" sz="850" dirty="0">
                <a:solidFill>
                  <a:srgbClr val="64748B"/>
                </a:solidFill>
                <a:latin typeface="Calibri" pitchFamily="34" charset="0"/>
                <a:ea typeface="Calibri" pitchFamily="34" charset="-122"/>
                <a:cs typeface="Calibri" pitchFamily="34" charset="-120"/>
              </a:rPr>
              <a:t>Best AUC-ROC</a:t>
            </a:r>
            <a:endParaRPr lang="en-US" sz="850" dirty="0"/>
          </a:p>
        </p:txBody>
      </p:sp>
      <p:sp>
        <p:nvSpPr>
          <p:cNvPr id="9" name="Shape 7"/>
          <p:cNvSpPr/>
          <p:nvPr/>
        </p:nvSpPr>
        <p:spPr>
          <a:xfrm>
            <a:off x="1664208" y="1115568"/>
            <a:ext cx="1353312" cy="804672"/>
          </a:xfrm>
          <a:prstGeom prst="roundRect">
            <a:avLst>
              <a:gd name="adj" fmla="val 9091"/>
            </a:avLst>
          </a:prstGeom>
          <a:solidFill>
            <a:srgbClr val="F1F5F9"/>
          </a:solidFill>
          <a:ln w="12700">
            <a:solidFill>
              <a:srgbClr val="D6E4F7"/>
            </a:solidFill>
            <a:prstDash val="solid"/>
          </a:ln>
          <a:effectLst>
            <a:outerShdw sx="100000" sy="100000" kx="0" ky="0" algn="bl" rotWithShape="0" blurRad="38100" dist="12700" dir="2700000">
              <a:srgbClr val="000000">
                <a:alpha val="8000"/>
              </a:srgbClr>
            </a:outerShdw>
          </a:effectLst>
        </p:spPr>
      </p:sp>
      <p:sp>
        <p:nvSpPr>
          <p:cNvPr id="10" name="Text 8"/>
          <p:cNvSpPr/>
          <p:nvPr/>
        </p:nvSpPr>
        <p:spPr>
          <a:xfrm>
            <a:off x="1664208" y="1152144"/>
            <a:ext cx="1353312" cy="384048"/>
          </a:xfrm>
          <a:prstGeom prst="rect">
            <a:avLst/>
          </a:prstGeom>
          <a:noFill/>
          <a:ln/>
        </p:spPr>
        <p:txBody>
          <a:bodyPr wrap="square" lIns="0" tIns="0" rIns="0" bIns="0" rtlCol="0" anchor="b"/>
          <a:lstStyle/>
          <a:p>
            <a:pPr algn="ctr" indent="0" marL="0">
              <a:buNone/>
            </a:pPr>
            <a:r>
              <a:rPr lang="en-US" sz="1800" b="1" dirty="0">
                <a:solidFill>
                  <a:srgbClr val="0D8A6E"/>
                </a:solidFill>
                <a:latin typeface="Calibri" pitchFamily="34" charset="0"/>
                <a:ea typeface="Calibri" pitchFamily="34" charset="-122"/>
                <a:cs typeface="Calibri" pitchFamily="34" charset="-120"/>
              </a:rPr>
              <a:t>84.35%</a:t>
            </a:r>
            <a:endParaRPr lang="en-US" sz="1800" dirty="0"/>
          </a:p>
        </p:txBody>
      </p:sp>
      <p:sp>
        <p:nvSpPr>
          <p:cNvPr id="11" name="Text 9"/>
          <p:cNvSpPr/>
          <p:nvPr/>
        </p:nvSpPr>
        <p:spPr>
          <a:xfrm>
            <a:off x="1664208" y="1554480"/>
            <a:ext cx="1353312" cy="329184"/>
          </a:xfrm>
          <a:prstGeom prst="rect">
            <a:avLst/>
          </a:prstGeom>
          <a:noFill/>
          <a:ln/>
        </p:spPr>
        <p:txBody>
          <a:bodyPr wrap="square" lIns="0" tIns="0" rIns="0" bIns="0" rtlCol="0" anchor="t"/>
          <a:lstStyle/>
          <a:p>
            <a:pPr algn="ctr" indent="0" marL="0">
              <a:buNone/>
            </a:pPr>
            <a:r>
              <a:rPr lang="en-US" sz="850" dirty="0">
                <a:solidFill>
                  <a:srgbClr val="64748B"/>
                </a:solidFill>
                <a:latin typeface="Calibri" pitchFamily="34" charset="0"/>
                <a:ea typeface="Calibri" pitchFamily="34" charset="-122"/>
                <a:cs typeface="Calibri" pitchFamily="34" charset="-120"/>
              </a:rPr>
              <a:t>Best Accuracy</a:t>
            </a:r>
            <a:endParaRPr lang="en-US" sz="850" dirty="0"/>
          </a:p>
        </p:txBody>
      </p:sp>
      <p:sp>
        <p:nvSpPr>
          <p:cNvPr id="12" name="Shape 10"/>
          <p:cNvSpPr/>
          <p:nvPr/>
        </p:nvSpPr>
        <p:spPr>
          <a:xfrm>
            <a:off x="3127248" y="1115568"/>
            <a:ext cx="1353312" cy="804672"/>
          </a:xfrm>
          <a:prstGeom prst="roundRect">
            <a:avLst>
              <a:gd name="adj" fmla="val 9091"/>
            </a:avLst>
          </a:prstGeom>
          <a:solidFill>
            <a:srgbClr val="F1F5F9"/>
          </a:solidFill>
          <a:ln w="12700">
            <a:solidFill>
              <a:srgbClr val="D6E4F7"/>
            </a:solidFill>
            <a:prstDash val="solid"/>
          </a:ln>
          <a:effectLst>
            <a:outerShdw sx="100000" sy="100000" kx="0" ky="0" algn="bl" rotWithShape="0" blurRad="38100" dist="12700" dir="2700000">
              <a:srgbClr val="000000">
                <a:alpha val="8000"/>
              </a:srgbClr>
            </a:outerShdw>
          </a:effectLst>
        </p:spPr>
      </p:sp>
      <p:sp>
        <p:nvSpPr>
          <p:cNvPr id="13" name="Text 11"/>
          <p:cNvSpPr/>
          <p:nvPr/>
        </p:nvSpPr>
        <p:spPr>
          <a:xfrm>
            <a:off x="3127248" y="1152144"/>
            <a:ext cx="1353312" cy="384048"/>
          </a:xfrm>
          <a:prstGeom prst="rect">
            <a:avLst/>
          </a:prstGeom>
          <a:noFill/>
          <a:ln/>
        </p:spPr>
        <p:txBody>
          <a:bodyPr wrap="square" lIns="0" tIns="0" rIns="0" bIns="0" rtlCol="0" anchor="b"/>
          <a:lstStyle/>
          <a:p>
            <a:pPr algn="ctr" indent="0" marL="0">
              <a:buNone/>
            </a:pPr>
            <a:r>
              <a:rPr lang="en-US" sz="1800" b="1" dirty="0">
                <a:solidFill>
                  <a:srgbClr val="E85D26"/>
                </a:solidFill>
                <a:latin typeface="Calibri" pitchFamily="34" charset="0"/>
                <a:ea typeface="Calibri" pitchFamily="34" charset="-122"/>
                <a:cs typeface="Calibri" pitchFamily="34" charset="-120"/>
              </a:rPr>
              <a:t>100%</a:t>
            </a:r>
            <a:endParaRPr lang="en-US" sz="1800" dirty="0"/>
          </a:p>
        </p:txBody>
      </p:sp>
      <p:sp>
        <p:nvSpPr>
          <p:cNvPr id="14" name="Text 12"/>
          <p:cNvSpPr/>
          <p:nvPr/>
        </p:nvSpPr>
        <p:spPr>
          <a:xfrm>
            <a:off x="3127248" y="1554480"/>
            <a:ext cx="1353312" cy="329184"/>
          </a:xfrm>
          <a:prstGeom prst="rect">
            <a:avLst/>
          </a:prstGeom>
          <a:noFill/>
          <a:ln/>
        </p:spPr>
        <p:txBody>
          <a:bodyPr wrap="square" lIns="0" tIns="0" rIns="0" bIns="0" rtlCol="0" anchor="t"/>
          <a:lstStyle/>
          <a:p>
            <a:pPr algn="ctr" indent="0" marL="0">
              <a:buNone/>
            </a:pPr>
            <a:r>
              <a:rPr lang="en-US" sz="850" dirty="0">
                <a:solidFill>
                  <a:srgbClr val="64748B"/>
                </a:solidFill>
                <a:latin typeface="Calibri" pitchFamily="34" charset="0"/>
                <a:ea typeface="Calibri" pitchFamily="34" charset="-122"/>
                <a:cs typeface="Calibri" pitchFamily="34" charset="-120"/>
              </a:rPr>
              <a:t>Melanoma AUC</a:t>
            </a:r>
            <a:endParaRPr lang="en-US" sz="850" dirty="0"/>
          </a:p>
        </p:txBody>
      </p:sp>
      <p:sp>
        <p:nvSpPr>
          <p:cNvPr id="15" name="Shape 13"/>
          <p:cNvSpPr/>
          <p:nvPr/>
        </p:nvSpPr>
        <p:spPr>
          <a:xfrm>
            <a:off x="4590288" y="1115568"/>
            <a:ext cx="1353312" cy="804672"/>
          </a:xfrm>
          <a:prstGeom prst="roundRect">
            <a:avLst>
              <a:gd name="adj" fmla="val 9091"/>
            </a:avLst>
          </a:prstGeom>
          <a:solidFill>
            <a:srgbClr val="F1F5F9"/>
          </a:solidFill>
          <a:ln w="12700">
            <a:solidFill>
              <a:srgbClr val="D6E4F7"/>
            </a:solidFill>
            <a:prstDash val="solid"/>
          </a:ln>
          <a:effectLst>
            <a:outerShdw sx="100000" sy="100000" kx="0" ky="0" algn="bl" rotWithShape="0" blurRad="38100" dist="12700" dir="2700000">
              <a:srgbClr val="000000">
                <a:alpha val="8000"/>
              </a:srgbClr>
            </a:outerShdw>
          </a:effectLst>
        </p:spPr>
      </p:sp>
      <p:sp>
        <p:nvSpPr>
          <p:cNvPr id="16" name="Text 14"/>
          <p:cNvSpPr/>
          <p:nvPr/>
        </p:nvSpPr>
        <p:spPr>
          <a:xfrm>
            <a:off x="4590288" y="1152144"/>
            <a:ext cx="1353312" cy="384048"/>
          </a:xfrm>
          <a:prstGeom prst="rect">
            <a:avLst/>
          </a:prstGeom>
          <a:noFill/>
          <a:ln/>
        </p:spPr>
        <p:txBody>
          <a:bodyPr wrap="square" lIns="0" tIns="0" rIns="0" bIns="0" rtlCol="0" anchor="b"/>
          <a:lstStyle/>
          <a:p>
            <a:pPr algn="ctr" indent="0" marL="0">
              <a:buNone/>
            </a:pPr>
            <a:r>
              <a:rPr lang="en-US" sz="1800" b="1" dirty="0">
                <a:solidFill>
                  <a:srgbClr val="D97706"/>
                </a:solidFill>
                <a:latin typeface="Calibri" pitchFamily="34" charset="0"/>
                <a:ea typeface="Calibri" pitchFamily="34" charset="-122"/>
                <a:cs typeface="Calibri" pitchFamily="34" charset="-120"/>
              </a:rPr>
              <a:t>4</a:t>
            </a:r>
            <a:endParaRPr lang="en-US" sz="1800" dirty="0"/>
          </a:p>
        </p:txBody>
      </p:sp>
      <p:sp>
        <p:nvSpPr>
          <p:cNvPr id="17" name="Text 15"/>
          <p:cNvSpPr/>
          <p:nvPr/>
        </p:nvSpPr>
        <p:spPr>
          <a:xfrm>
            <a:off x="4590288" y="1554480"/>
            <a:ext cx="1353312" cy="329184"/>
          </a:xfrm>
          <a:prstGeom prst="rect">
            <a:avLst/>
          </a:prstGeom>
          <a:noFill/>
          <a:ln/>
        </p:spPr>
        <p:txBody>
          <a:bodyPr wrap="square" lIns="0" tIns="0" rIns="0" bIns="0" rtlCol="0" anchor="t"/>
          <a:lstStyle/>
          <a:p>
            <a:pPr algn="ctr" indent="0" marL="0">
              <a:buNone/>
            </a:pPr>
            <a:r>
              <a:rPr lang="en-US" sz="850" dirty="0">
                <a:solidFill>
                  <a:srgbClr val="64748B"/>
                </a:solidFill>
                <a:latin typeface="Calibri" pitchFamily="34" charset="0"/>
                <a:ea typeface="Calibri" pitchFamily="34" charset="-122"/>
                <a:cs typeface="Calibri" pitchFamily="34" charset="-120"/>
              </a:rPr>
              <a:t>AI Models Trained</a:t>
            </a:r>
            <a:endParaRPr lang="en-US" sz="850" dirty="0"/>
          </a:p>
        </p:txBody>
      </p:sp>
      <p:sp>
        <p:nvSpPr>
          <p:cNvPr id="18" name="Shape 16"/>
          <p:cNvSpPr/>
          <p:nvPr/>
        </p:nvSpPr>
        <p:spPr>
          <a:xfrm>
            <a:off x="6053328" y="1115568"/>
            <a:ext cx="1353312" cy="804672"/>
          </a:xfrm>
          <a:prstGeom prst="roundRect">
            <a:avLst>
              <a:gd name="adj" fmla="val 9091"/>
            </a:avLst>
          </a:prstGeom>
          <a:solidFill>
            <a:srgbClr val="F1F5F9"/>
          </a:solidFill>
          <a:ln w="12700">
            <a:solidFill>
              <a:srgbClr val="D6E4F7"/>
            </a:solidFill>
            <a:prstDash val="solid"/>
          </a:ln>
          <a:effectLst>
            <a:outerShdw sx="100000" sy="100000" kx="0" ky="0" algn="bl" rotWithShape="0" blurRad="38100" dist="12700" dir="2700000">
              <a:srgbClr val="000000">
                <a:alpha val="8000"/>
              </a:srgbClr>
            </a:outerShdw>
          </a:effectLst>
        </p:spPr>
      </p:sp>
      <p:sp>
        <p:nvSpPr>
          <p:cNvPr id="19" name="Text 17"/>
          <p:cNvSpPr/>
          <p:nvPr/>
        </p:nvSpPr>
        <p:spPr>
          <a:xfrm>
            <a:off x="6053328" y="1152144"/>
            <a:ext cx="1353312" cy="384048"/>
          </a:xfrm>
          <a:prstGeom prst="rect">
            <a:avLst/>
          </a:prstGeom>
          <a:noFill/>
          <a:ln/>
        </p:spPr>
        <p:txBody>
          <a:bodyPr wrap="square" lIns="0" tIns="0" rIns="0" bIns="0" rtlCol="0" anchor="b"/>
          <a:lstStyle/>
          <a:p>
            <a:pPr algn="ctr" indent="0" marL="0">
              <a:buNone/>
            </a:pPr>
            <a:r>
              <a:rPr lang="en-US" sz="1800" b="1" dirty="0">
                <a:solidFill>
                  <a:srgbClr val="1A56B0"/>
                </a:solidFill>
                <a:latin typeface="Calibri" pitchFamily="34" charset="0"/>
                <a:ea typeface="Calibri" pitchFamily="34" charset="-122"/>
                <a:cs typeface="Calibri" pitchFamily="34" charset="-120"/>
              </a:rPr>
              <a:t>11</a:t>
            </a:r>
            <a:endParaRPr lang="en-US" sz="1800" dirty="0"/>
          </a:p>
        </p:txBody>
      </p:sp>
      <p:sp>
        <p:nvSpPr>
          <p:cNvPr id="20" name="Text 18"/>
          <p:cNvSpPr/>
          <p:nvPr/>
        </p:nvSpPr>
        <p:spPr>
          <a:xfrm>
            <a:off x="6053328" y="1554480"/>
            <a:ext cx="1353312" cy="329184"/>
          </a:xfrm>
          <a:prstGeom prst="rect">
            <a:avLst/>
          </a:prstGeom>
          <a:noFill/>
          <a:ln/>
        </p:spPr>
        <p:txBody>
          <a:bodyPr wrap="square" lIns="0" tIns="0" rIns="0" bIns="0" rtlCol="0" anchor="t"/>
          <a:lstStyle/>
          <a:p>
            <a:pPr algn="ctr" indent="0" marL="0">
              <a:buNone/>
            </a:pPr>
            <a:r>
              <a:rPr lang="en-US" sz="850" dirty="0">
                <a:solidFill>
                  <a:srgbClr val="64748B"/>
                </a:solidFill>
                <a:latin typeface="Calibri" pitchFamily="34" charset="0"/>
                <a:ea typeface="Calibri" pitchFamily="34" charset="-122"/>
                <a:cs typeface="Calibri" pitchFamily="34" charset="-120"/>
              </a:rPr>
              <a:t>Disease Classes</a:t>
            </a:r>
            <a:endParaRPr lang="en-US" sz="850" dirty="0"/>
          </a:p>
        </p:txBody>
      </p:sp>
      <p:sp>
        <p:nvSpPr>
          <p:cNvPr id="21" name="Shape 19"/>
          <p:cNvSpPr/>
          <p:nvPr/>
        </p:nvSpPr>
        <p:spPr>
          <a:xfrm>
            <a:off x="7516368" y="1115568"/>
            <a:ext cx="1353312" cy="804672"/>
          </a:xfrm>
          <a:prstGeom prst="roundRect">
            <a:avLst>
              <a:gd name="adj" fmla="val 9091"/>
            </a:avLst>
          </a:prstGeom>
          <a:solidFill>
            <a:srgbClr val="F1F5F9"/>
          </a:solidFill>
          <a:ln w="12700">
            <a:solidFill>
              <a:srgbClr val="D6E4F7"/>
            </a:solidFill>
            <a:prstDash val="solid"/>
          </a:ln>
          <a:effectLst>
            <a:outerShdw sx="100000" sy="100000" kx="0" ky="0" algn="bl" rotWithShape="0" blurRad="38100" dist="12700" dir="2700000">
              <a:srgbClr val="000000">
                <a:alpha val="8000"/>
              </a:srgbClr>
            </a:outerShdw>
          </a:effectLst>
        </p:spPr>
      </p:sp>
      <p:sp>
        <p:nvSpPr>
          <p:cNvPr id="22" name="Text 20"/>
          <p:cNvSpPr/>
          <p:nvPr/>
        </p:nvSpPr>
        <p:spPr>
          <a:xfrm>
            <a:off x="7516368" y="1152144"/>
            <a:ext cx="1353312" cy="384048"/>
          </a:xfrm>
          <a:prstGeom prst="rect">
            <a:avLst/>
          </a:prstGeom>
          <a:noFill/>
          <a:ln/>
        </p:spPr>
        <p:txBody>
          <a:bodyPr wrap="square" lIns="0" tIns="0" rIns="0" bIns="0" rtlCol="0" anchor="b"/>
          <a:lstStyle/>
          <a:p>
            <a:pPr algn="ctr" indent="0" marL="0">
              <a:buNone/>
            </a:pPr>
            <a:r>
              <a:rPr lang="en-US" sz="1800" b="1" dirty="0">
                <a:solidFill>
                  <a:srgbClr val="0D8A6E"/>
                </a:solidFill>
                <a:latin typeface="Calibri" pitchFamily="34" charset="0"/>
                <a:ea typeface="Calibri" pitchFamily="34" charset="-122"/>
                <a:cs typeface="Calibri" pitchFamily="34" charset="-120"/>
              </a:rPr>
              <a:t>25K+</a:t>
            </a:r>
            <a:endParaRPr lang="en-US" sz="1800" dirty="0"/>
          </a:p>
        </p:txBody>
      </p:sp>
      <p:sp>
        <p:nvSpPr>
          <p:cNvPr id="23" name="Text 21"/>
          <p:cNvSpPr/>
          <p:nvPr/>
        </p:nvSpPr>
        <p:spPr>
          <a:xfrm>
            <a:off x="7516368" y="1554480"/>
            <a:ext cx="1353312" cy="329184"/>
          </a:xfrm>
          <a:prstGeom prst="rect">
            <a:avLst/>
          </a:prstGeom>
          <a:noFill/>
          <a:ln/>
        </p:spPr>
        <p:txBody>
          <a:bodyPr wrap="square" lIns="0" tIns="0" rIns="0" bIns="0" rtlCol="0" anchor="t"/>
          <a:lstStyle/>
          <a:p>
            <a:pPr algn="ctr" indent="0" marL="0">
              <a:buNone/>
            </a:pPr>
            <a:r>
              <a:rPr lang="en-US" sz="850" dirty="0">
                <a:solidFill>
                  <a:srgbClr val="64748B"/>
                </a:solidFill>
                <a:latin typeface="Calibri" pitchFamily="34" charset="0"/>
                <a:ea typeface="Calibri" pitchFamily="34" charset="-122"/>
                <a:cs typeface="Calibri" pitchFamily="34" charset="-120"/>
              </a:rPr>
              <a:t>Training Images</a:t>
            </a:r>
            <a:endParaRPr lang="en-US" sz="850" dirty="0"/>
          </a:p>
        </p:txBody>
      </p:sp>
      <p:sp>
        <p:nvSpPr>
          <p:cNvPr id="24" name="Text 22"/>
          <p:cNvSpPr/>
          <p:nvPr/>
        </p:nvSpPr>
        <p:spPr>
          <a:xfrm>
            <a:off x="228600" y="2029968"/>
            <a:ext cx="8686800" cy="274320"/>
          </a:xfrm>
          <a:prstGeom prst="rect">
            <a:avLst/>
          </a:prstGeom>
          <a:noFill/>
          <a:ln/>
        </p:spPr>
        <p:txBody>
          <a:bodyPr wrap="square" lIns="0" tIns="0" rIns="0" bIns="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Project Summary</a:t>
            </a:r>
            <a:endParaRPr lang="en-US" sz="1100" dirty="0"/>
          </a:p>
        </p:txBody>
      </p:sp>
      <p:sp>
        <p:nvSpPr>
          <p:cNvPr id="25" name="Text 23"/>
          <p:cNvSpPr/>
          <p:nvPr/>
        </p:nvSpPr>
        <p:spPr>
          <a:xfrm>
            <a:off x="228600" y="2340864"/>
            <a:ext cx="8686800" cy="777240"/>
          </a:xfrm>
          <a:prstGeom prst="rect">
            <a:avLst/>
          </a:prstGeom>
          <a:noFill/>
          <a:ln/>
        </p:spPr>
        <p:txBody>
          <a:bodyPr wrap="square" lIns="0" tIns="0" rIns="0" bIns="0" rtlCol="0" anchor="ctr"/>
          <a:lstStyle/>
          <a:p>
            <a:pPr algn="l" indent="0" marL="0">
              <a:buNone/>
            </a:pPr>
            <a:r>
              <a:rPr lang="en-US" sz="1000" dirty="0">
                <a:solidFill>
                  <a:srgbClr val="334155"/>
                </a:solidFill>
                <a:latin typeface="Calibri" pitchFamily="34" charset="0"/>
                <a:ea typeface="Calibri" pitchFamily="34" charset="-122"/>
                <a:cs typeface="Calibri" pitchFamily="34" charset="-120"/>
              </a:rPr>
              <a:t>DermaAI is an AI-powered clinical decision support system built to address the critical shortage of dermatologists in Pakistan and developing countries. Using transfer learning on 25,312 ISIC dermoscopic images, we trained four deep learning models achieving a best AUC-ROC of 97.57% with MobileNetV3-Large. The system delivers Top-3 predictions, ensemble modeling, a bilingual AI chat assistant, and a complete real-time web platform. It is a research prototype and includes clear clinical disclaimers — it is designed to assist, not replace, medical professionals.</a:t>
            </a:r>
            <a:endParaRPr lang="en-US" sz="1000" dirty="0"/>
          </a:p>
        </p:txBody>
      </p:sp>
      <p:sp>
        <p:nvSpPr>
          <p:cNvPr id="26" name="Text 24"/>
          <p:cNvSpPr/>
          <p:nvPr/>
        </p:nvSpPr>
        <p:spPr>
          <a:xfrm>
            <a:off x="228600" y="3200400"/>
            <a:ext cx="8686800" cy="274320"/>
          </a:xfrm>
          <a:prstGeom prst="rect">
            <a:avLst/>
          </a:prstGeom>
          <a:noFill/>
          <a:ln/>
        </p:spPr>
        <p:txBody>
          <a:bodyPr wrap="square" lIns="0" tIns="0" rIns="0" bIns="0" rtlCol="0" anchor="ctr"/>
          <a:lstStyle/>
          <a:p>
            <a:pPr indent="0" marL="0">
              <a:buNone/>
            </a:pPr>
            <a:r>
              <a:rPr lang="en-US" sz="1100" b="1" dirty="0">
                <a:solidFill>
                  <a:srgbClr val="0D1B3E"/>
                </a:solidFill>
                <a:latin typeface="Calibri" pitchFamily="34" charset="0"/>
                <a:ea typeface="Calibri" pitchFamily="34" charset="-122"/>
                <a:cs typeface="Calibri" pitchFamily="34" charset="-120"/>
              </a:rPr>
              <a:t>Future Roadmap</a:t>
            </a:r>
            <a:endParaRPr lang="en-US" sz="1100" dirty="0"/>
          </a:p>
        </p:txBody>
      </p:sp>
      <p:sp>
        <p:nvSpPr>
          <p:cNvPr id="27" name="Shape 25"/>
          <p:cNvSpPr/>
          <p:nvPr/>
        </p:nvSpPr>
        <p:spPr>
          <a:xfrm>
            <a:off x="201168" y="3547872"/>
            <a:ext cx="2029968" cy="1417320"/>
          </a:xfrm>
          <a:prstGeom prst="roundRect">
            <a:avLst>
              <a:gd name="adj" fmla="val 6452"/>
            </a:avLst>
          </a:prstGeom>
          <a:solidFill>
            <a:srgbClr val="FFFFFF"/>
          </a:solidFill>
          <a:ln w="15240">
            <a:solidFill>
              <a:srgbClr val="D6E4F7"/>
            </a:solidFill>
            <a:prstDash val="solid"/>
          </a:ln>
          <a:effectLst>
            <a:outerShdw sx="100000" sy="100000" kx="0" ky="0" algn="bl" rotWithShape="0" blurRad="50800" dist="25400" dir="2700000">
              <a:srgbClr val="000000">
                <a:alpha val="10000"/>
              </a:srgbClr>
            </a:outerShdw>
          </a:effectLst>
        </p:spPr>
      </p:sp>
      <p:pic>
        <p:nvPicPr>
          <p:cNvPr id="28" name="Image 0" descr="preencoded.png">    </p:cNvPr>
          <p:cNvPicPr>
            <a:picLocks noChangeAspect="1"/>
          </p:cNvPicPr>
          <p:nvPr/>
        </p:nvPicPr>
        <p:blipFill>
          <a:blip r:embed="rId1"/>
          <a:stretch>
            <a:fillRect/>
          </a:stretch>
        </p:blipFill>
        <p:spPr>
          <a:xfrm>
            <a:off x="969264" y="3621024"/>
            <a:ext cx="420624" cy="420624"/>
          </a:xfrm>
          <a:prstGeom prst="rect">
            <a:avLst/>
          </a:prstGeom>
        </p:spPr>
      </p:pic>
      <p:sp>
        <p:nvSpPr>
          <p:cNvPr id="29" name="Text 26"/>
          <p:cNvSpPr/>
          <p:nvPr/>
        </p:nvSpPr>
        <p:spPr>
          <a:xfrm>
            <a:off x="292608" y="4059936"/>
            <a:ext cx="1847088" cy="292608"/>
          </a:xfrm>
          <a:prstGeom prst="rect">
            <a:avLst/>
          </a:prstGeom>
          <a:noFill/>
          <a:ln/>
        </p:spPr>
        <p:txBody>
          <a:bodyPr wrap="square" lIns="0" tIns="0" rIns="0" bIns="0" rtlCol="0" anchor="ctr"/>
          <a:lstStyle/>
          <a:p>
            <a:pPr algn="ctr" indent="0" marL="0">
              <a:buNone/>
            </a:pPr>
            <a:r>
              <a:rPr lang="en-US" sz="950" b="1" dirty="0">
                <a:solidFill>
                  <a:srgbClr val="0D1B3E"/>
                </a:solidFill>
                <a:latin typeface="Calibri" pitchFamily="34" charset="0"/>
                <a:ea typeface="Calibri" pitchFamily="34" charset="-122"/>
                <a:cs typeface="Calibri" pitchFamily="34" charset="-120"/>
              </a:rPr>
              <a:t>Grad-CAM Explainability</a:t>
            </a:r>
            <a:endParaRPr lang="en-US" sz="950" dirty="0"/>
          </a:p>
        </p:txBody>
      </p:sp>
      <p:sp>
        <p:nvSpPr>
          <p:cNvPr id="30" name="Text 27"/>
          <p:cNvSpPr/>
          <p:nvPr/>
        </p:nvSpPr>
        <p:spPr>
          <a:xfrm>
            <a:off x="292608" y="4370832"/>
            <a:ext cx="1847088" cy="530352"/>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Visual heatmaps showing which lesion regions influenced predictions</a:t>
            </a:r>
            <a:endParaRPr lang="en-US" sz="850" dirty="0"/>
          </a:p>
        </p:txBody>
      </p:sp>
      <p:sp>
        <p:nvSpPr>
          <p:cNvPr id="31" name="Shape 28"/>
          <p:cNvSpPr/>
          <p:nvPr/>
        </p:nvSpPr>
        <p:spPr>
          <a:xfrm>
            <a:off x="2395728" y="3547872"/>
            <a:ext cx="2029968" cy="1417320"/>
          </a:xfrm>
          <a:prstGeom prst="roundRect">
            <a:avLst>
              <a:gd name="adj" fmla="val 6452"/>
            </a:avLst>
          </a:prstGeom>
          <a:solidFill>
            <a:srgbClr val="FFFFFF"/>
          </a:solidFill>
          <a:ln w="15240">
            <a:solidFill>
              <a:srgbClr val="D6E4F7"/>
            </a:solidFill>
            <a:prstDash val="solid"/>
          </a:ln>
          <a:effectLst>
            <a:outerShdw sx="100000" sy="100000" kx="0" ky="0" algn="bl" rotWithShape="0" blurRad="50800" dist="25400" dir="2700000">
              <a:srgbClr val="000000">
                <a:alpha val="10000"/>
              </a:srgbClr>
            </a:outerShdw>
          </a:effectLst>
        </p:spPr>
      </p:sp>
      <p:pic>
        <p:nvPicPr>
          <p:cNvPr id="32" name="Image 1" descr="preencoded.png">    </p:cNvPr>
          <p:cNvPicPr>
            <a:picLocks noChangeAspect="1"/>
          </p:cNvPicPr>
          <p:nvPr/>
        </p:nvPicPr>
        <p:blipFill>
          <a:blip r:embed="rId2"/>
          <a:stretch>
            <a:fillRect/>
          </a:stretch>
        </p:blipFill>
        <p:spPr>
          <a:xfrm>
            <a:off x="3163824" y="3621024"/>
            <a:ext cx="420624" cy="420624"/>
          </a:xfrm>
          <a:prstGeom prst="rect">
            <a:avLst/>
          </a:prstGeom>
        </p:spPr>
      </p:pic>
      <p:sp>
        <p:nvSpPr>
          <p:cNvPr id="33" name="Text 29"/>
          <p:cNvSpPr/>
          <p:nvPr/>
        </p:nvSpPr>
        <p:spPr>
          <a:xfrm>
            <a:off x="2487168" y="4059936"/>
            <a:ext cx="1847088" cy="292608"/>
          </a:xfrm>
          <a:prstGeom prst="rect">
            <a:avLst/>
          </a:prstGeom>
          <a:noFill/>
          <a:ln/>
        </p:spPr>
        <p:txBody>
          <a:bodyPr wrap="square" lIns="0" tIns="0" rIns="0" bIns="0" rtlCol="0" anchor="ctr"/>
          <a:lstStyle/>
          <a:p>
            <a:pPr algn="ctr" indent="0" marL="0">
              <a:buNone/>
            </a:pPr>
            <a:r>
              <a:rPr lang="en-US" sz="950" b="1" dirty="0">
                <a:solidFill>
                  <a:srgbClr val="0D1B3E"/>
                </a:solidFill>
                <a:latin typeface="Calibri" pitchFamily="34" charset="0"/>
                <a:ea typeface="Calibri" pitchFamily="34" charset="-122"/>
                <a:cs typeface="Calibri" pitchFamily="34" charset="-120"/>
              </a:rPr>
              <a:t>Mobile App (ONNX/TFLite)</a:t>
            </a:r>
            <a:endParaRPr lang="en-US" sz="950" dirty="0"/>
          </a:p>
        </p:txBody>
      </p:sp>
      <p:sp>
        <p:nvSpPr>
          <p:cNvPr id="34" name="Text 30"/>
          <p:cNvSpPr/>
          <p:nvPr/>
        </p:nvSpPr>
        <p:spPr>
          <a:xfrm>
            <a:off x="2487168" y="4370832"/>
            <a:ext cx="1847088" cy="530352"/>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Real-time offline predictions on smartphones</a:t>
            </a:r>
            <a:endParaRPr lang="en-US" sz="850" dirty="0"/>
          </a:p>
        </p:txBody>
      </p:sp>
      <p:sp>
        <p:nvSpPr>
          <p:cNvPr id="35" name="Shape 31"/>
          <p:cNvSpPr/>
          <p:nvPr/>
        </p:nvSpPr>
        <p:spPr>
          <a:xfrm>
            <a:off x="4590288" y="3547872"/>
            <a:ext cx="2029968" cy="1417320"/>
          </a:xfrm>
          <a:prstGeom prst="roundRect">
            <a:avLst>
              <a:gd name="adj" fmla="val 6452"/>
            </a:avLst>
          </a:prstGeom>
          <a:solidFill>
            <a:srgbClr val="FFFFFF"/>
          </a:solidFill>
          <a:ln w="15240">
            <a:solidFill>
              <a:srgbClr val="D6E4F7"/>
            </a:solidFill>
            <a:prstDash val="solid"/>
          </a:ln>
          <a:effectLst>
            <a:outerShdw sx="100000" sy="100000" kx="0" ky="0" algn="bl" rotWithShape="0" blurRad="50800" dist="25400" dir="2700000">
              <a:srgbClr val="000000">
                <a:alpha val="10000"/>
              </a:srgbClr>
            </a:outerShdw>
          </a:effectLst>
        </p:spPr>
      </p:sp>
      <p:pic>
        <p:nvPicPr>
          <p:cNvPr id="36" name="Image 2" descr="preencoded.png">    </p:cNvPr>
          <p:cNvPicPr>
            <a:picLocks noChangeAspect="1"/>
          </p:cNvPicPr>
          <p:nvPr/>
        </p:nvPicPr>
        <p:blipFill>
          <a:blip r:embed="rId3"/>
          <a:stretch>
            <a:fillRect/>
          </a:stretch>
        </p:blipFill>
        <p:spPr>
          <a:xfrm>
            <a:off x="5358384" y="3621024"/>
            <a:ext cx="420624" cy="420624"/>
          </a:xfrm>
          <a:prstGeom prst="rect">
            <a:avLst/>
          </a:prstGeom>
        </p:spPr>
      </p:pic>
      <p:sp>
        <p:nvSpPr>
          <p:cNvPr id="37" name="Text 32"/>
          <p:cNvSpPr/>
          <p:nvPr/>
        </p:nvSpPr>
        <p:spPr>
          <a:xfrm>
            <a:off x="4681728" y="4059936"/>
            <a:ext cx="1847088" cy="292608"/>
          </a:xfrm>
          <a:prstGeom prst="rect">
            <a:avLst/>
          </a:prstGeom>
          <a:noFill/>
          <a:ln/>
        </p:spPr>
        <p:txBody>
          <a:bodyPr wrap="square" lIns="0" tIns="0" rIns="0" bIns="0" rtlCol="0" anchor="ctr"/>
          <a:lstStyle/>
          <a:p>
            <a:pPr algn="ctr" indent="0" marL="0">
              <a:buNone/>
            </a:pPr>
            <a:r>
              <a:rPr lang="en-US" sz="950" b="1" dirty="0">
                <a:solidFill>
                  <a:srgbClr val="0D1B3E"/>
                </a:solidFill>
                <a:latin typeface="Calibri" pitchFamily="34" charset="0"/>
                <a:ea typeface="Calibri" pitchFamily="34" charset="-122"/>
                <a:cs typeface="Calibri" pitchFamily="34" charset="-120"/>
              </a:rPr>
              <a:t>Clinical Validation</a:t>
            </a:r>
            <a:endParaRPr lang="en-US" sz="950" dirty="0"/>
          </a:p>
        </p:txBody>
      </p:sp>
      <p:sp>
        <p:nvSpPr>
          <p:cNvPr id="38" name="Text 33"/>
          <p:cNvSpPr/>
          <p:nvPr/>
        </p:nvSpPr>
        <p:spPr>
          <a:xfrm>
            <a:off x="4681728" y="4370832"/>
            <a:ext cx="1847088" cy="530352"/>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External dataset testing + fairness across Fitzpatrick skin types IV–VI</a:t>
            </a:r>
            <a:endParaRPr lang="en-US" sz="850" dirty="0"/>
          </a:p>
        </p:txBody>
      </p:sp>
      <p:sp>
        <p:nvSpPr>
          <p:cNvPr id="39" name="Shape 34"/>
          <p:cNvSpPr/>
          <p:nvPr/>
        </p:nvSpPr>
        <p:spPr>
          <a:xfrm>
            <a:off x="6784848" y="3547872"/>
            <a:ext cx="2029968" cy="1417320"/>
          </a:xfrm>
          <a:prstGeom prst="roundRect">
            <a:avLst>
              <a:gd name="adj" fmla="val 6452"/>
            </a:avLst>
          </a:prstGeom>
          <a:solidFill>
            <a:srgbClr val="FFFFFF"/>
          </a:solidFill>
          <a:ln w="15240">
            <a:solidFill>
              <a:srgbClr val="D6E4F7"/>
            </a:solidFill>
            <a:prstDash val="solid"/>
          </a:ln>
          <a:effectLst>
            <a:outerShdw sx="100000" sy="100000" kx="0" ky="0" algn="bl" rotWithShape="0" blurRad="50800" dist="25400" dir="2700000">
              <a:srgbClr val="000000">
                <a:alpha val="10000"/>
              </a:srgbClr>
            </a:outerShdw>
          </a:effectLst>
        </p:spPr>
      </p:sp>
      <p:pic>
        <p:nvPicPr>
          <p:cNvPr id="40" name="Image 3" descr="preencoded.png">    </p:cNvPr>
          <p:cNvPicPr>
            <a:picLocks noChangeAspect="1"/>
          </p:cNvPicPr>
          <p:nvPr/>
        </p:nvPicPr>
        <p:blipFill>
          <a:blip r:embed="rId4"/>
          <a:stretch>
            <a:fillRect/>
          </a:stretch>
        </p:blipFill>
        <p:spPr>
          <a:xfrm>
            <a:off x="7552944" y="3621024"/>
            <a:ext cx="420624" cy="420624"/>
          </a:xfrm>
          <a:prstGeom prst="rect">
            <a:avLst/>
          </a:prstGeom>
        </p:spPr>
      </p:pic>
      <p:sp>
        <p:nvSpPr>
          <p:cNvPr id="41" name="Text 35"/>
          <p:cNvSpPr/>
          <p:nvPr/>
        </p:nvSpPr>
        <p:spPr>
          <a:xfrm>
            <a:off x="6876288" y="4059936"/>
            <a:ext cx="1847088" cy="292608"/>
          </a:xfrm>
          <a:prstGeom prst="rect">
            <a:avLst/>
          </a:prstGeom>
          <a:noFill/>
          <a:ln/>
        </p:spPr>
        <p:txBody>
          <a:bodyPr wrap="square" lIns="0" tIns="0" rIns="0" bIns="0" rtlCol="0" anchor="ctr"/>
          <a:lstStyle/>
          <a:p>
            <a:pPr algn="ctr" indent="0" marL="0">
              <a:buNone/>
            </a:pPr>
            <a:r>
              <a:rPr lang="en-US" sz="950" b="1" dirty="0">
                <a:solidFill>
                  <a:srgbClr val="0D1B3E"/>
                </a:solidFill>
                <a:latin typeface="Calibri" pitchFamily="34" charset="0"/>
                <a:ea typeface="Calibri" pitchFamily="34" charset="-122"/>
                <a:cs typeface="Calibri" pitchFamily="34" charset="-120"/>
              </a:rPr>
              <a:t>Hospital Integration</a:t>
            </a:r>
            <a:endParaRPr lang="en-US" sz="950" dirty="0"/>
          </a:p>
        </p:txBody>
      </p:sp>
      <p:sp>
        <p:nvSpPr>
          <p:cNvPr id="42" name="Text 36"/>
          <p:cNvSpPr/>
          <p:nvPr/>
        </p:nvSpPr>
        <p:spPr>
          <a:xfrm>
            <a:off x="6876288" y="4370832"/>
            <a:ext cx="1847088" cy="530352"/>
          </a:xfrm>
          <a:prstGeom prst="rect">
            <a:avLst/>
          </a:prstGeom>
          <a:noFill/>
          <a:ln/>
        </p:spPr>
        <p:txBody>
          <a:bodyPr wrap="square" lIns="0" tIns="0" rIns="0" bIns="0" rtlCol="0" anchor="ctr"/>
          <a:lstStyle/>
          <a:p>
            <a:pPr algn="ctr" indent="0" marL="0">
              <a:buNone/>
            </a:pPr>
            <a:r>
              <a:rPr lang="en-US" sz="850" dirty="0">
                <a:solidFill>
                  <a:srgbClr val="64748B"/>
                </a:solidFill>
                <a:latin typeface="Calibri" pitchFamily="34" charset="0"/>
                <a:ea typeface="Calibri" pitchFamily="34" charset="-122"/>
                <a:cs typeface="Calibri" pitchFamily="34" charset="-120"/>
              </a:rPr>
              <a:t>Real hospital data partnership and telemedicine support</a:t>
            </a:r>
            <a:endParaRPr lang="en-US" sz="850" dirty="0"/>
          </a:p>
        </p:txBody>
      </p:sp>
      <p:sp>
        <p:nvSpPr>
          <p:cNvPr id="43" name="Text 37"/>
          <p:cNvSpPr/>
          <p:nvPr/>
        </p:nvSpPr>
        <p:spPr>
          <a:xfrm>
            <a:off x="228600" y="4892040"/>
            <a:ext cx="8686800" cy="201168"/>
          </a:xfrm>
          <a:prstGeom prst="rect">
            <a:avLst/>
          </a:prstGeom>
          <a:noFill/>
          <a:ln/>
        </p:spPr>
        <p:txBody>
          <a:bodyPr wrap="square" lIns="0" tIns="0" rIns="0" bIns="0" rtlCol="0" anchor="ctr"/>
          <a:lstStyle/>
          <a:p>
            <a:pPr algn="ctr" indent="0" marL="0">
              <a:buNone/>
            </a:pPr>
            <a:r>
              <a:rPr lang="en-US" sz="900" i="1" dirty="0">
                <a:solidFill>
                  <a:srgbClr val="1A56B0"/>
                </a:solidFill>
                <a:latin typeface="Calibri" pitchFamily="34" charset="0"/>
                <a:ea typeface="Calibri" pitchFamily="34" charset="-122"/>
                <a:cs typeface="Calibri" pitchFamily="34" charset="-120"/>
              </a:rPr>
              <a:t>"Early Detection of Skin Diseases Through Explainable Artificial Intelligence"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DermaAI - AI Clinical Decision Support System</dc:title>
  <dc:subject>PptxGenJS Presentation</dc:subject>
  <dc:creator>PptxGenJS</dc:creator>
  <cp:lastModifiedBy>PptxGenJS</cp:lastModifiedBy>
  <cp:revision>1</cp:revision>
  <dcterms:created xsi:type="dcterms:W3CDTF">2026-06-13T07:24:30Z</dcterms:created>
  <dcterms:modified xsi:type="dcterms:W3CDTF">2026-06-13T07:24:30Z</dcterms:modified>
</cp:coreProperties>
</file>